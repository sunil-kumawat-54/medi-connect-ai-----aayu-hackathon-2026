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Fictional HbA1c (%)</c:v>
                </c:pt>
              </c:strCache>
            </c:strRef>
          </c:tx>
          <c:spPr>
            <a:solidFill>
              <a:srgbClr val="008F8B"/>
            </a:solidFill>
            <a:ln w="30480" cap="flat">
              <a:solidFill>
                <a:srgbClr val="008F8B"/>
              </a:solidFill>
              <a:prstDash val="solid"/>
              <a:round/>
            </a:ln>
            <a:effectLst/>
          </c:spPr>
          <c:invertIfNegative val="0"/>
          <c:dLbls>
            <c:numFmt formatCode="0.0" sourceLinked="0"/>
            <c:txPr>
              <a:bodyPr/>
              <a:lstStyle/>
              <a:p>
                <a:pPr>
                  <a:defRPr b="0" i="0" strike="noStrike" sz="1050" u="none">
                    <a:solidFill>
                      <a:srgbClr val="008F8B"/>
                    </a:solidFill>
                    <a:latin typeface="Arial"/>
                  </a:defRPr>
                </a:pPr>
              </a:p>
            </c:txPr>
            <c:dLblPos val="t"/>
            <c:showLegendKey val="0"/>
            <c:showVal val="1"/>
            <c:showCatName val="0"/>
            <c:showSerName val="0"/>
            <c:showPercent val="0"/>
            <c:showBubbleSize val="0"/>
            <c:showLeaderLines val="0"/>
          </c:dLbls>
          <c:marker>
            <c:symbol val="circle"/>
            <c:size val="6"/>
            <c:spPr>
              <a:solidFill>
                <a:srgbClr val="008F8B"/>
              </a:solidFill>
              <a:ln w="9525" cap="flat">
                <a:solidFill>
                  <a:srgbClr val="008F8B"/>
                </a:solidFill>
                <a:prstDash val="solid"/>
                <a:round/>
              </a:ln>
              <a:effectLst/>
            </c:spPr>
          </c:marker>
          <c:cat>
            <c:multiLvlStrRef>
              <c:f>Sheet1!$A$2:$A$5</c:f>
              <c:multiLvlStrCache>
                <c:ptCount val="4"/>
                <c:lvl>
                  <c:pt idx="0">
                    <c:v>12 Jan</c:v>
                  </c:pt>
                  <c:pt idx="1">
                    <c:v>12 Apr</c:v>
                  </c:pt>
                  <c:pt idx="2">
                    <c:v>12 Jul</c:v>
                  </c:pt>
                  <c:pt idx="3">
                    <c:v>12 Oct</c:v>
                  </c:pt>
                </c:lvl>
              </c:multiLvlStrCache>
            </c:multiLvlStrRef>
          </c:cat>
          <c:val>
            <c:numRef>
              <c:f>Sheet1!$B$2:$B$5</c:f>
              <c:numCache>
                <c:formatCode>General</c:formatCode>
                <c:ptCount val="4"/>
                <c:pt idx="0">
                  <c:v>8</c:v>
                </c:pt>
                <c:pt idx="1">
                  <c:v>7.7</c:v>
                </c:pt>
                <c:pt idx="2">
                  <c:v>7.9</c:v>
                </c:pt>
                <c:pt idx="3">
                  <c:v>7.4</c:v>
                </c:pt>
              </c:numCache>
            </c:numRef>
          </c:val>
          <c:smooth val="0"/>
        </c:ser>
        <c:dLbls>
          <c:numFmt formatCode="0.0" sourceLinked="0"/>
          <c:txPr>
            <a:bodyPr/>
            <a:lstStyle/>
            <a:p>
              <a:pPr>
                <a:defRPr b="0" i="0" strike="noStrike" sz="1050" u="none">
                  <a:solidFill>
                    <a:srgbClr val="008F8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5D9E3"/>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
          <c:min val="7"/>
        </c:scaling>
        <c:delete val="0"/>
        <c:axPos val="l"/>
        <c:majorGridlines>
          <c:spPr>
            <a:ln w="12700" cap="flat">
              <a:solidFill>
                <a:srgbClr val="E3EDF2"/>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HbA1c (%)</a:t>
                </a:r>
              </a:p>
            </c:rich>
          </c:tx>
          <c:layout/>
          <c:overlay val="0"/>
        </c:title>
        <c:numFmt formatCode="General" sourceLinked="0"/>
        <c:majorTickMark val="out"/>
        <c:minorTickMark val="none"/>
        <c:tickLblPos val="nextTo"/>
        <c:spPr>
          <a:ln w="12700" cap="flat">
            <a:solidFill>
              <a:srgbClr val="C5D9E3"/>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MediConnect AI helps clinicians find the relevant evidence while patients retain a durable record. Lead with the report-to-brief concept rather than a broad claim that AI delivers better healthcare. AAYU 2026 is supported by the uploaded official template. T01, AAYU-WF9D and S Square appear in the uploaded project deck, but its own notes call identifiers placeholders; confirmation is required. No official problem-statement document was uploaded. The twelve slides expand the seven template sections and preserve event/organizer branding; this is not a claim of verified submission-format compliance. The illustration is editable native geometry.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tree from causes to consequences. The central failure is fragmented clinical context, not a claim that no health-record platforms exist. Problems are based on the supplied notes and screenshots, not quantified research. Distinguish record-review burden from diagnosis. Bill checking is a proposed supporting feature and should flag questions for billing staff, not characterize a charge as fraudulent.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handwritten main-feature page explicitly prioritizes summarization of existing reports without changing originals. Reconcile the names MediConnect AI and MediAI Exchange as one project. Discuss innovations as the proposed combination of source grounding, medical history and clinician oversight, not as a patented or first-ever capability. Nearby discovery needs a provider directory and location permission. No hospital partnership or supported language is established.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numbered workflow. Consent precedes sharing, and appointment scheduling does not itself grant record access. A draft brief is not a diagnosis. The clinician verifies original evidence and authors clinical notes, prescriptions and treatment changes. Extraction errors enter a holding/correction queue rather than being silently guessed. Newly uploaded records re-enter processing and produce a new summary version. The concise doctor brief described as 60-second in handwritten notes is a design aspiration, not a guaranteed runtime or time saving.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pipeline is a technical proposal, not evidence of working OCR, accuracy or deployed model services. Digital PDF extraction precedes OCR when possible. Store source coordinates, original value/unit and normalization decisions. Dates that cannot be resolved remain uncertain. Clinical gaps and contradictions are possible review items, not definitive clinical red flags. The LLM is given only permission-filtered extracted evidence and instructed not to invent missing data; do not claim this eliminates hallucinations. Clinician review and evidence links are required. Versioned summaries never overwrite uploaded original reports. Sources: supplied technical deck; WHO Ethics and governance of AI for health (2021), https://www.who.int/publications/i/item/9789240029200 .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project deck is the preferred stack source over the screenshot, which lists alternative Java / Gradio options. Do not claim both alternatives are selected. React/Tailwind, Python/FastAPI, PostgreSQL, private storage, Docker and OCR candidates are proposed. An LLM service and identity provider have not been selected. Architecture arrows show logical processing and authorized exchange, not an implemented topology. Application services persist operational records through data repositories; the depicted processing path is simplified. Notifications are event driven and must avoid sensitive message content. Planned FHIR/ABDM adapters require authorization, conformance validation and ecosystem onboarding; no partnership, certification or successful integration is claimed. Read/write policies must be enforced server-side, not just hidden in the UI.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workspace is a native-shape UI mockup, not a screenshot of working software. The only laboratory excerpt is synthetic R02, dated 12 April 2026, HbA1c 7.7%. It matches the selected source on slide 8. Hospital queue entries are synthetic layout examples, not throughput data. Admin analytics contains no invented measured numbers and defaults to aggregate/de-identified operations. Doctor access requires patient authorization plus role and care-context checks; clinician-authored notes are separately versioned. Hospital support staff should not inherit full medical history permissions. Revoke/expire prevents future sharing but cannot undo past viewing or lawful retention. Click patient upload/history/visits and doctor pipeline buttons in Slide Show mode to explore the design.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editable chart has an embedded workbook with four entirely fictional values: 8.0, 7.7, 7.9 and 7.4 percent. It demonstrates chronological review only, not real patient data, measured health improvement or product efficacy. Do not interpret these values as medical advice. The HbA1c axis is explicitly labeled, avoiding the vague overall health graph in the handwritten sketch. Units, test type and comparability must be checked; source laboratory reference ranges remain in the original. The selected 12 April record R02 is mirrored in the doctor mockup on slide 7, reachable by the link. The graph itself is a native editable chart; the source-navigation button is a slide hyperlink, not a live chart-driven medical application.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means a staged prototype can be built, not that real-world clinical safety or deployment readiness has been proven. Risk priorities are qualitative proposals rather than statistically estimated likelihoods. Use a held-out annotated test set, include poor scans and date/unit ambiguity, and assess critical fields separately from aggregate accuracy. Access-control tests should cover cross-patient leakage, consent expiry, revoked grants and role escalation. A pilot requires suitable ethics, legal, privacy, security and clinical governance review. Consider Digital Personal Data Protection obligations and their commencement as applicable at deployment; this slide does not provide legal advice or assert compliance. Software-as-medical-device applicability depends on intended use and requires professional assessment.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benefits are hypotheses to test. No percentage improvements or arbitrary success targets are presented. Benchmark against ordinary record-review workflows, not an artificially weak comparator. Report medians, variation, error categories and clinician correction burden. Critical hallucinations or unauthorized disclosure cannot be justified by good average performance. Follow-up completion depends on access, disease context and patient behavior, so causal claims need a suitable study design. Recruitment, sample size, comparator, endpoints and stopping rules should be defined before a pilot with expert review. Clinical health-outcome effectiveness is not established by the synthetic chart.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hierarchy: official primary documentation informs governance, standards and service comparisons; it does not validate this project. The companion contains all verified links, source limitations and the distinction between India and foreign examples. Public documentation does not establish whether comparable vendors offer an overlapping AI capability; no negative competitor claim is made. Roadmap gates: synthetic-data prototype; review/approval of pilot protocol; controlled user/clinician evaluation; corrective development and retesting; optional approved ABDM/FHIR integrations and broader rollout only after readiness. No delivery dates, partnerships or implementation results were supplied.
REFERENCES:
WHO — Ethics and governance of artificial intelligence for health (2021)
https://www.who.int/publications/i/item/9789240029200
Supports: Authoritative 2021 guidance on ethical challenges, public-benefit principles, human rights and accountable governance for AI in health; supports cautious governance framing for AI-assisted summaries and clinician review.
Limit: Ethical and governance guidance, not product endorsement, clinical-effectiveness evidence, or a specification requiring source-linked summaries or a particular review workflow.
WHO — Recommendations on digital interventions for health system strengthening (2019)
https://www.who.int/publications/i/item/9789241550505
Supports: Evidence-based digital-health guidance assessing benefits, harms, acceptability, feasibility, resource use and equity; explicitly says digital interventions are not substitutes for functioning health systems.
Limit: General 2019 guideline, not validation of MediConnect or proof of improved outcomes; recommendations require contextual assessment.
HL7 — FHIR Overview
https://hl7.org/fhir/overview.html
Supports: Defines FHIR as a standard for exchanging healthcare information electronically; useful technical context for a proposed interoperable records layer.
Limit: An exchange standard does not prove a given system implements FHIR, uses compatible versions/profiles, or guarantees successful interoperability.
ABDM — Frequently Asked Questions (PHR app and ABHA)
https://abdm.gov.in/FAQ
Supports: Official NHA/ABDM FAQ describes the Personal Health Record application; ABDM public material describes the Health Records app for ABHA management, viewing records and consent management.
Limit: Describes the public ABDM ecosystem/app, not universal record availability, completeness, MediConnect access, or a partnership.
ABDM Developer Portal — M3 Health Information User: Health Information Exchange with Consent
https://docs.abdm.gov.in/docs/hiecm/v3/milestones/m3
Supports: Official description of an HIU requesting, receiving and viewing patient records from HIPs in a secure, consent-based manner; supports accurate explanation of HIE consent flow.
Limit: Describes a specific ABDM technical capability, not a guarantee that every provider/record is connected or that consented data will be complete or clinically reconciled.
MeitY — Digital Personal Data Protection Act, 2023 (official Act text)
https://www.meity.gov.in/static/uploads/2024/06/2bf1f0e9f04e6fb4f8fef35e82c42aa5.pdf
Supports: Primary statutory text for the 2023 Act, including the provision that commencement is appointed by Central Government notification, supporting the need to discuss staged rather than blanket commencement.
Limit: The original Act text alone does not establish which provisions have since commenced; read with later Gazette notifications and rules, and seek current Indian legal advice.
MeitY — DPDP Act commencement notification, G.S.R. 843(E), 13 November 2025
https://www.meity.gov.in/static/uploads/2025/11/c56ceae6c383460ca69577428d36828b.pdf
Supports: Official commencement notification sets phased effective dates for provisions of the DPDP Act; at the 13 October 2026 research cut-off, the scheduled one-year and 18-month phases had not yet arrived.
Limit: A commencement notice is not a complete compliance analysis; verify later Gazette changes, the rules and exact provision-level applicability before relying on the timeline.
eSanjeevani — Ministry of Health and Family Welfare
https://esanjeevani.mohfw.gov.in/
Supports: Official service description for India's government telemedicine platform, including remote access to doctors and specialists; suitable comparator for digital consultation access.
Limit: Public site description is not a full feature audit and does not establish the scope of record aggregation, appointment workflows outside the service, or AI capabilities.
MyChart — Epic
https://www.mychart.org/
Supports: Vendor's public product page describes finding/scheduling care, viewing medications and test results, and accessing/sharing health information.
Limit: Vendor overview; specific functions vary by participating health organization and configuration. Not an India-specific service comparison or exhaustive AI audit.
NHS App — NHS account and services
https://www.nhs.uk/nhs-app/account/
Supports: Official NHS page documents checking test results, viewing messages, repeat prescriptions, and booking/managing appointments through the NHS account/App.
Limit: England-focused NHS service; availability of features depends on local services/account setup. Not an India-specific service comparison or exhaustive AI audit.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project is about usable evidence and clinician-led care. Repeat the single core loop and invite discussion about validation, not an unsubstantiated claim that a platform is production-ready. The QR is regenerated from the actual decoded QR in the supplied presentation and points to https://github.com/sunil-kumawat-54/Medi-Connect-AI-----AAYU-hackathon-2026. Its old speaker note named a different destination; the visible/decoded URL is the one retained. Repository accessibility and code maturity are not implied by the QR. Official names/identifiers require confirmation. Use links in Slide Show mode to revisit architecture, workflow or evidence.
Status: No implemented feature or clinical result is established by the uploaded materials. This slide represents proposed design unless otherwise labeled. Original documents are preserved. AI does not independently diagnose or prescribe.
Interaction: footer labels navigate to sections in Slide Show mode. All UI screens are illustrative, not a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1-1.png"/><Relationship Id="rId2" Type="http://schemas.openxmlformats.org/officeDocument/2006/relationships/image" Target="../media/image-1-2.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2-1.png"/><Relationship Id="rId2" Type="http://schemas.openxmlformats.org/officeDocument/2006/relationships/image" Target="../media/image-2-2.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3-1.png"/><Relationship Id="rId2" Type="http://schemas.openxmlformats.org/officeDocument/2006/relationships/image" Target="../media/image-3-2.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4-1.png"/><Relationship Id="rId2" Type="http://schemas.openxmlformats.org/officeDocument/2006/relationships/image" Target="../media/image-4-2.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5-1.png"/><Relationship Id="rId2" Type="http://schemas.openxmlformats.org/officeDocument/2006/relationships/image" Target="../media/image-5-2.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6-1.png"/><Relationship Id="rId2" Type="http://schemas.openxmlformats.org/officeDocument/2006/relationships/image" Target="../media/image-6-2.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5.xml"/><Relationship Id="rId12" Type="http://schemas.openxmlformats.org/officeDocument/2006/relationships/slide" Target="slide8.xml"/><Relationship Id="rId13" Type="http://schemas.openxmlformats.org/officeDocument/2006/relationships/slide" Target="slide4.xml"/><Relationship Id="rId14" Type="http://schemas.openxmlformats.org/officeDocument/2006/relationships/slide" Target="slide5.xml"/><Relationship Id="rId1" Type="http://schemas.openxmlformats.org/officeDocument/2006/relationships/image" Target="../media/image-7-1.png"/><Relationship Id="rId2" Type="http://schemas.openxmlformats.org/officeDocument/2006/relationships/image" Target="../media/image-7-2.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2" Type="http://schemas.openxmlformats.org/officeDocument/2006/relationships/slide" Target="slide7.xml"/><Relationship Id="rId11"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13" Type="http://schemas.openxmlformats.org/officeDocument/2006/relationships/slideLayout" Target="../slideLayouts/slideLayout1.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9-1.png"/><Relationship Id="rId2" Type="http://schemas.openxmlformats.org/officeDocument/2006/relationships/image" Target="../media/image-9-2.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 Type="http://schemas.openxmlformats.org/officeDocument/2006/relationships/image" Target="../media/image-10-1.png"/><Relationship Id="rId2" Type="http://schemas.openxmlformats.org/officeDocument/2006/relationships/image" Target="../media/image-10-2.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hyperlink" Target="https://www.who.int/publications/i/item/9789240029200" TargetMode="External"/><Relationship Id="rId12" Type="http://schemas.openxmlformats.org/officeDocument/2006/relationships/hyperlink" Target="https://hl7.org/fhir/overview.html" TargetMode="External"/><Relationship Id="rId13" Type="http://schemas.openxmlformats.org/officeDocument/2006/relationships/hyperlink" Target="https://abdm.gov.in/FAQ" TargetMode="External"/><Relationship Id="rId14" Type="http://schemas.openxmlformats.org/officeDocument/2006/relationships/hyperlink" Target="https://www.nhs.uk/nhs-app/account/" TargetMode="External"/><Relationship Id="rId15" Type="http://schemas.openxmlformats.org/officeDocument/2006/relationships/hyperlink" Target="https://www.mychart.org/" TargetMode="External"/><Relationship Id="rId16" Type="http://schemas.openxmlformats.org/officeDocument/2006/relationships/hyperlink" Target="https://www.meity.gov.in/static/uploads/2025/11/c56ceae6c383460ca69577428d36828b.pdf" TargetMode="External"/><Relationship Id="rId1" Type="http://schemas.openxmlformats.org/officeDocument/2006/relationships/image" Target="../media/image-11-1.png"/><Relationship Id="rId2" Type="http://schemas.openxmlformats.org/officeDocument/2006/relationships/image" Target="../media/image-11-2.png"/><Relationship Id="rId17" Type="http://schemas.openxmlformats.org/officeDocument/2006/relationships/slideLayout" Target="../slideLayouts/slideLayout1.xml"/><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2" Type="http://schemas.openxmlformats.org/officeDocument/2006/relationships/hyperlink" Target="https://github.com/sunil-kumawat-54/Medi-Connect-AI-----AAYU-hackathon-2026" TargetMode="External"/><Relationship Id="rId1" Type="http://schemas.openxmlformats.org/officeDocument/2006/relationships/image" Target="../media/image-12-1.png"/><Relationship Id="rId2" Type="http://schemas.openxmlformats.org/officeDocument/2006/relationships/image" Target="../media/image-12-2.png"/><Relationship Id="rId11" Type="http://schemas.openxmlformats.org/officeDocument/2006/relationships/image" Target="../media/image-12-3.pn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TITLE</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MediConnect AI</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Also discussed as MediAI Exchange • one consistent, clinician-led coordination concept</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CONCEPT • NOT VALIDATED</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01 / 12</a:t>
            </a:r>
            <a:endParaRPr lang="en-US" sz="950" dirty="0"/>
          </a:p>
        </p:txBody>
      </p:sp>
      <p:sp>
        <p:nvSpPr>
          <p:cNvPr id="22" name="Text 18"/>
          <p:cNvSpPr/>
          <p:nvPr/>
        </p:nvSpPr>
        <p:spPr>
          <a:xfrm>
            <a:off x="457200" y="1463040"/>
            <a:ext cx="5486400" cy="960120"/>
          </a:xfrm>
          <a:prstGeom prst="rect">
            <a:avLst/>
          </a:prstGeom>
          <a:noFill/>
          <a:ln/>
        </p:spPr>
        <p:txBody>
          <a:bodyPr wrap="square" lIns="0" tIns="0" rIns="0" bIns="0" rtlCol="0" anchor="ctr"/>
          <a:lstStyle/>
          <a:p>
            <a:pPr indent="0" marL="0">
              <a:buNone/>
            </a:pPr>
            <a:r>
              <a:rPr lang="en-US" sz="3100" b="1" dirty="0">
                <a:solidFill>
                  <a:srgbClr val="103A59"/>
                </a:solidFill>
                <a:latin typeface="Arial" pitchFamily="34" charset="0"/>
                <a:ea typeface="Arial" pitchFamily="34" charset="-122"/>
                <a:cs typeface="Arial" pitchFamily="34" charset="-120"/>
              </a:rPr>
              <a:t>Evidence-linked records.</a:t>
            </a:r>
            <a:endParaRPr lang="en-US" sz="3100" dirty="0"/>
          </a:p>
          <a:p>
            <a:pPr indent="0" marL="0">
              <a:buNone/>
            </a:pPr>
            <a:r>
              <a:rPr lang="en-US" sz="3100" b="1" dirty="0">
                <a:solidFill>
                  <a:srgbClr val="103A59"/>
                </a:solidFill>
                <a:latin typeface="Arial" pitchFamily="34" charset="0"/>
                <a:ea typeface="Arial" pitchFamily="34" charset="-122"/>
                <a:cs typeface="Arial" pitchFamily="34" charset="-120"/>
              </a:rPr>
              <a:t>Clinician-led care.</a:t>
            </a:r>
            <a:endParaRPr lang="en-US" sz="3100" dirty="0"/>
          </a:p>
        </p:txBody>
      </p:sp>
      <p:sp>
        <p:nvSpPr>
          <p:cNvPr id="23" name="Text 19"/>
          <p:cNvSpPr/>
          <p:nvPr/>
        </p:nvSpPr>
        <p:spPr>
          <a:xfrm>
            <a:off x="475488" y="2606040"/>
            <a:ext cx="5303520" cy="630936"/>
          </a:xfrm>
          <a:prstGeom prst="rect">
            <a:avLst/>
          </a:prstGeom>
          <a:noFill/>
          <a:ln/>
        </p:spPr>
        <p:txBody>
          <a:bodyPr wrap="square" lIns="0" tIns="0" rIns="0" bIns="0" rtlCol="0" anchor="ctr"/>
          <a:lstStyle/>
          <a:p>
            <a:pPr indent="0" marL="0">
              <a:buNone/>
            </a:pPr>
            <a:r>
              <a:rPr lang="en-US" sz="1700" dirty="0">
                <a:solidFill>
                  <a:srgbClr val="5E7281"/>
                </a:solidFill>
                <a:latin typeface="Arial" pitchFamily="34" charset="0"/>
                <a:ea typeface="Arial" pitchFamily="34" charset="-122"/>
                <a:cs typeface="Arial" pitchFamily="34" charset="-120"/>
              </a:rPr>
              <a:t>Organize medical reports into a longitudinal history and a concise, source-linked doctor brief.</a:t>
            </a:r>
            <a:endParaRPr lang="en-US" sz="1700" dirty="0"/>
          </a:p>
        </p:txBody>
      </p:sp>
      <p:sp>
        <p:nvSpPr>
          <p:cNvPr id="24" name="Text 20"/>
          <p:cNvSpPr/>
          <p:nvPr/>
        </p:nvSpPr>
        <p:spPr>
          <a:xfrm>
            <a:off x="502920" y="3474720"/>
            <a:ext cx="1444752" cy="210312"/>
          </a:xfrm>
          <a:prstGeom prst="rect">
            <a:avLst/>
          </a:prstGeom>
          <a:noFill/>
          <a:ln/>
        </p:spPr>
        <p:txBody>
          <a:bodyPr wrap="square" lIns="0" tIns="0" rIns="0" bIns="0" rtlCol="0" anchor="ctr"/>
          <a:lstStyle/>
          <a:p>
            <a:pPr indent="0" marL="0">
              <a:buNone/>
            </a:pPr>
            <a:r>
              <a:rPr lang="en-US" sz="1050" b="1" spc="70" kern="0" dirty="0">
                <a:solidFill>
                  <a:srgbClr val="5E7281"/>
                </a:solidFill>
                <a:latin typeface="Arial" pitchFamily="34" charset="0"/>
                <a:ea typeface="Arial" pitchFamily="34" charset="-122"/>
                <a:cs typeface="Arial" pitchFamily="34" charset="-120"/>
              </a:rPr>
              <a:t>EVENT</a:t>
            </a:r>
            <a:endParaRPr lang="en-US" sz="1050" dirty="0"/>
          </a:p>
        </p:txBody>
      </p:sp>
      <p:sp>
        <p:nvSpPr>
          <p:cNvPr id="25" name="Text 21"/>
          <p:cNvSpPr/>
          <p:nvPr/>
        </p:nvSpPr>
        <p:spPr>
          <a:xfrm>
            <a:off x="2011680" y="3474720"/>
            <a:ext cx="3703320" cy="237744"/>
          </a:xfrm>
          <a:prstGeom prst="rect">
            <a:avLst/>
          </a:prstGeom>
          <a:noFill/>
          <a:ln/>
        </p:spPr>
        <p:txBody>
          <a:bodyPr wrap="square" lIns="0" tIns="0" rIns="0" bIns="0" rtlCol="0" anchor="ctr"/>
          <a:lstStyle/>
          <a:p>
            <a:pPr indent="0" marL="0">
              <a:buNone/>
            </a:pPr>
            <a:r>
              <a:rPr lang="en-US" sz="1190" b="1" dirty="0">
                <a:solidFill>
                  <a:srgbClr val="233B4C"/>
                </a:solidFill>
                <a:latin typeface="Arial" pitchFamily="34" charset="0"/>
                <a:ea typeface="Arial" pitchFamily="34" charset="-122"/>
                <a:cs typeface="Arial" pitchFamily="34" charset="-120"/>
              </a:rPr>
              <a:t>AAYU 2026</a:t>
            </a:r>
            <a:endParaRPr lang="en-US" sz="1190" dirty="0"/>
          </a:p>
        </p:txBody>
      </p:sp>
      <p:sp>
        <p:nvSpPr>
          <p:cNvPr id="26" name="Text 22"/>
          <p:cNvSpPr/>
          <p:nvPr/>
        </p:nvSpPr>
        <p:spPr>
          <a:xfrm>
            <a:off x="502920" y="3803904"/>
            <a:ext cx="1444752" cy="210312"/>
          </a:xfrm>
          <a:prstGeom prst="rect">
            <a:avLst/>
          </a:prstGeom>
          <a:noFill/>
          <a:ln/>
        </p:spPr>
        <p:txBody>
          <a:bodyPr wrap="square" lIns="0" tIns="0" rIns="0" bIns="0" rtlCol="0" anchor="ctr"/>
          <a:lstStyle/>
          <a:p>
            <a:pPr indent="0" marL="0">
              <a:buNone/>
            </a:pPr>
            <a:r>
              <a:rPr lang="en-US" sz="1050" b="1" spc="70" kern="0" dirty="0">
                <a:solidFill>
                  <a:srgbClr val="5E7281"/>
                </a:solidFill>
                <a:latin typeface="Arial" pitchFamily="34" charset="0"/>
                <a:ea typeface="Arial" pitchFamily="34" charset="-122"/>
                <a:cs typeface="Arial" pitchFamily="34" charset="-120"/>
              </a:rPr>
              <a:t>PS ID</a:t>
            </a:r>
            <a:endParaRPr lang="en-US" sz="1050" dirty="0"/>
          </a:p>
        </p:txBody>
      </p:sp>
      <p:sp>
        <p:nvSpPr>
          <p:cNvPr id="27" name="Text 23"/>
          <p:cNvSpPr/>
          <p:nvPr/>
        </p:nvSpPr>
        <p:spPr>
          <a:xfrm>
            <a:off x="2011680" y="3803904"/>
            <a:ext cx="3703320" cy="237744"/>
          </a:xfrm>
          <a:prstGeom prst="rect">
            <a:avLst/>
          </a:prstGeom>
          <a:noFill/>
          <a:ln/>
        </p:spPr>
        <p:txBody>
          <a:bodyPr wrap="square" lIns="0" tIns="0" rIns="0" bIns="0" rtlCol="0" anchor="ctr"/>
          <a:lstStyle/>
          <a:p>
            <a:pPr indent="0" marL="0">
              <a:buNone/>
            </a:pPr>
            <a:r>
              <a:rPr lang="en-US" sz="1190" b="1" dirty="0">
                <a:solidFill>
                  <a:srgbClr val="B46B12"/>
                </a:solidFill>
                <a:latin typeface="Arial" pitchFamily="34" charset="0"/>
                <a:ea typeface="Arial" pitchFamily="34" charset="-122"/>
                <a:cs typeface="Arial" pitchFamily="34" charset="-120"/>
              </a:rPr>
              <a:t>[Confirm: T01]</a:t>
            </a:r>
            <a:endParaRPr lang="en-US" sz="1190" dirty="0"/>
          </a:p>
        </p:txBody>
      </p:sp>
      <p:sp>
        <p:nvSpPr>
          <p:cNvPr id="28" name="Text 24"/>
          <p:cNvSpPr/>
          <p:nvPr/>
        </p:nvSpPr>
        <p:spPr>
          <a:xfrm>
            <a:off x="502920" y="4133088"/>
            <a:ext cx="1444752" cy="210312"/>
          </a:xfrm>
          <a:prstGeom prst="rect">
            <a:avLst/>
          </a:prstGeom>
          <a:noFill/>
          <a:ln/>
        </p:spPr>
        <p:txBody>
          <a:bodyPr wrap="square" lIns="0" tIns="0" rIns="0" bIns="0" rtlCol="0" anchor="ctr"/>
          <a:lstStyle/>
          <a:p>
            <a:pPr indent="0" marL="0">
              <a:buNone/>
            </a:pPr>
            <a:r>
              <a:rPr lang="en-US" sz="1050" b="1" spc="70" kern="0" dirty="0">
                <a:solidFill>
                  <a:srgbClr val="5E7281"/>
                </a:solidFill>
                <a:latin typeface="Arial" pitchFamily="34" charset="0"/>
                <a:ea typeface="Arial" pitchFamily="34" charset="-122"/>
                <a:cs typeface="Arial" pitchFamily="34" charset="-120"/>
              </a:rPr>
              <a:t>TEAM ID</a:t>
            </a:r>
            <a:endParaRPr lang="en-US" sz="1050" dirty="0"/>
          </a:p>
        </p:txBody>
      </p:sp>
      <p:sp>
        <p:nvSpPr>
          <p:cNvPr id="29" name="Text 25"/>
          <p:cNvSpPr/>
          <p:nvPr/>
        </p:nvSpPr>
        <p:spPr>
          <a:xfrm>
            <a:off x="2011680" y="4133088"/>
            <a:ext cx="3703320" cy="237744"/>
          </a:xfrm>
          <a:prstGeom prst="rect">
            <a:avLst/>
          </a:prstGeom>
          <a:noFill/>
          <a:ln/>
        </p:spPr>
        <p:txBody>
          <a:bodyPr wrap="square" lIns="0" tIns="0" rIns="0" bIns="0" rtlCol="0" anchor="ctr"/>
          <a:lstStyle/>
          <a:p>
            <a:pPr indent="0" marL="0">
              <a:buNone/>
            </a:pPr>
            <a:r>
              <a:rPr lang="en-US" sz="1190" b="1" dirty="0">
                <a:solidFill>
                  <a:srgbClr val="B46B12"/>
                </a:solidFill>
                <a:latin typeface="Arial" pitchFamily="34" charset="0"/>
                <a:ea typeface="Arial" pitchFamily="34" charset="-122"/>
                <a:cs typeface="Arial" pitchFamily="34" charset="-120"/>
              </a:rPr>
              <a:t>[Confirm: AAYU-WF9D]</a:t>
            </a:r>
            <a:endParaRPr lang="en-US" sz="1190" dirty="0"/>
          </a:p>
        </p:txBody>
      </p:sp>
      <p:sp>
        <p:nvSpPr>
          <p:cNvPr id="30" name="Text 26"/>
          <p:cNvSpPr/>
          <p:nvPr/>
        </p:nvSpPr>
        <p:spPr>
          <a:xfrm>
            <a:off x="502920" y="4462272"/>
            <a:ext cx="1444752" cy="210312"/>
          </a:xfrm>
          <a:prstGeom prst="rect">
            <a:avLst/>
          </a:prstGeom>
          <a:noFill/>
          <a:ln/>
        </p:spPr>
        <p:txBody>
          <a:bodyPr wrap="square" lIns="0" tIns="0" rIns="0" bIns="0" rtlCol="0" anchor="ctr"/>
          <a:lstStyle/>
          <a:p>
            <a:pPr indent="0" marL="0">
              <a:buNone/>
            </a:pPr>
            <a:r>
              <a:rPr lang="en-US" sz="1050" b="1" spc="70" kern="0" dirty="0">
                <a:solidFill>
                  <a:srgbClr val="5E7281"/>
                </a:solidFill>
                <a:latin typeface="Arial" pitchFamily="34" charset="0"/>
                <a:ea typeface="Arial" pitchFamily="34" charset="-122"/>
                <a:cs typeface="Arial" pitchFamily="34" charset="-120"/>
              </a:rPr>
              <a:t>REGISTERED TEAM</a:t>
            </a:r>
            <a:endParaRPr lang="en-US" sz="1050" dirty="0"/>
          </a:p>
        </p:txBody>
      </p:sp>
      <p:sp>
        <p:nvSpPr>
          <p:cNvPr id="31" name="Text 27"/>
          <p:cNvSpPr/>
          <p:nvPr/>
        </p:nvSpPr>
        <p:spPr>
          <a:xfrm>
            <a:off x="2011680" y="4462272"/>
            <a:ext cx="3703320" cy="237744"/>
          </a:xfrm>
          <a:prstGeom prst="rect">
            <a:avLst/>
          </a:prstGeom>
          <a:noFill/>
          <a:ln/>
        </p:spPr>
        <p:txBody>
          <a:bodyPr wrap="square" lIns="0" tIns="0" rIns="0" bIns="0" rtlCol="0" anchor="ctr"/>
          <a:lstStyle/>
          <a:p>
            <a:pPr indent="0" marL="0">
              <a:buNone/>
            </a:pPr>
            <a:r>
              <a:rPr lang="en-US" sz="1190" b="1" dirty="0">
                <a:solidFill>
                  <a:srgbClr val="B46B12"/>
                </a:solidFill>
                <a:latin typeface="Arial" pitchFamily="34" charset="0"/>
                <a:ea typeface="Arial" pitchFamily="34" charset="-122"/>
                <a:cs typeface="Arial" pitchFamily="34" charset="-120"/>
              </a:rPr>
              <a:t>[Confirm: S Square]</a:t>
            </a:r>
            <a:endParaRPr lang="en-US" sz="1190" dirty="0"/>
          </a:p>
        </p:txBody>
      </p:sp>
      <p:sp>
        <p:nvSpPr>
          <p:cNvPr id="32" name="Text 28"/>
          <p:cNvSpPr/>
          <p:nvPr/>
        </p:nvSpPr>
        <p:spPr>
          <a:xfrm>
            <a:off x="502920" y="4791456"/>
            <a:ext cx="1444752" cy="210312"/>
          </a:xfrm>
          <a:prstGeom prst="rect">
            <a:avLst/>
          </a:prstGeom>
          <a:noFill/>
          <a:ln/>
        </p:spPr>
        <p:txBody>
          <a:bodyPr wrap="square" lIns="0" tIns="0" rIns="0" bIns="0" rtlCol="0" anchor="ctr"/>
          <a:lstStyle/>
          <a:p>
            <a:pPr indent="0" marL="0">
              <a:buNone/>
            </a:pPr>
            <a:r>
              <a:rPr lang="en-US" sz="1050" b="1" spc="70" kern="0" dirty="0">
                <a:solidFill>
                  <a:srgbClr val="5E7281"/>
                </a:solidFill>
                <a:latin typeface="Arial" pitchFamily="34" charset="0"/>
                <a:ea typeface="Arial" pitchFamily="34" charset="-122"/>
                <a:cs typeface="Arial" pitchFamily="34" charset="-120"/>
              </a:rPr>
              <a:t>THEME / CATEGORY</a:t>
            </a:r>
            <a:endParaRPr lang="en-US" sz="1050" dirty="0"/>
          </a:p>
        </p:txBody>
      </p:sp>
      <p:sp>
        <p:nvSpPr>
          <p:cNvPr id="33" name="Text 29"/>
          <p:cNvSpPr/>
          <p:nvPr/>
        </p:nvSpPr>
        <p:spPr>
          <a:xfrm>
            <a:off x="2011680" y="4791456"/>
            <a:ext cx="3703320" cy="237744"/>
          </a:xfrm>
          <a:prstGeom prst="rect">
            <a:avLst/>
          </a:prstGeom>
          <a:noFill/>
          <a:ln/>
        </p:spPr>
        <p:txBody>
          <a:bodyPr wrap="square" lIns="0" tIns="0" rIns="0" bIns="0" rtlCol="0" anchor="ctr"/>
          <a:lstStyle/>
          <a:p>
            <a:pPr indent="0" marL="0">
              <a:buNone/>
            </a:pPr>
            <a:r>
              <a:rPr lang="en-US" sz="1190" dirty="0">
                <a:solidFill>
                  <a:srgbClr val="233B4C"/>
                </a:solidFill>
                <a:latin typeface="Arial" pitchFamily="34" charset="0"/>
                <a:ea typeface="Arial" pitchFamily="34" charset="-122"/>
                <a:cs typeface="Arial" pitchFamily="34" charset="-120"/>
              </a:rPr>
              <a:t>Healthcare / MedTech (proposed) • Software</a:t>
            </a:r>
            <a:endParaRPr lang="en-US" sz="1190" dirty="0"/>
          </a:p>
        </p:txBody>
      </p:sp>
      <p:sp>
        <p:nvSpPr>
          <p:cNvPr id="34" name="Text 30"/>
          <p:cNvSpPr/>
          <p:nvPr/>
        </p:nvSpPr>
        <p:spPr>
          <a:xfrm>
            <a:off x="502920" y="5120640"/>
            <a:ext cx="1444752" cy="210312"/>
          </a:xfrm>
          <a:prstGeom prst="rect">
            <a:avLst/>
          </a:prstGeom>
          <a:noFill/>
          <a:ln/>
        </p:spPr>
        <p:txBody>
          <a:bodyPr wrap="square" lIns="0" tIns="0" rIns="0" bIns="0" rtlCol="0" anchor="ctr"/>
          <a:lstStyle/>
          <a:p>
            <a:pPr indent="0" marL="0">
              <a:buNone/>
            </a:pPr>
            <a:r>
              <a:rPr lang="en-US" sz="1050" b="1" spc="70" kern="0" dirty="0">
                <a:solidFill>
                  <a:srgbClr val="5E7281"/>
                </a:solidFill>
                <a:latin typeface="Arial" pitchFamily="34" charset="0"/>
                <a:ea typeface="Arial" pitchFamily="34" charset="-122"/>
                <a:cs typeface="Arial" pitchFamily="34" charset="-120"/>
              </a:rPr>
              <a:t>PS TITLE</a:t>
            </a:r>
            <a:endParaRPr lang="en-US" sz="1050" dirty="0"/>
          </a:p>
        </p:txBody>
      </p:sp>
      <p:sp>
        <p:nvSpPr>
          <p:cNvPr id="35" name="Text 31"/>
          <p:cNvSpPr/>
          <p:nvPr/>
        </p:nvSpPr>
        <p:spPr>
          <a:xfrm>
            <a:off x="2011680" y="5120640"/>
            <a:ext cx="3703320" cy="237744"/>
          </a:xfrm>
          <a:prstGeom prst="rect">
            <a:avLst/>
          </a:prstGeom>
          <a:noFill/>
          <a:ln/>
        </p:spPr>
        <p:txBody>
          <a:bodyPr wrap="square" lIns="0" tIns="0" rIns="0" bIns="0" rtlCol="0" anchor="ctr"/>
          <a:lstStyle/>
          <a:p>
            <a:pPr indent="0" marL="0">
              <a:buNone/>
            </a:pPr>
            <a:r>
              <a:rPr lang="en-US" sz="1190" dirty="0">
                <a:solidFill>
                  <a:srgbClr val="233B4C"/>
                </a:solidFill>
                <a:latin typeface="Arial" pitchFamily="34" charset="0"/>
                <a:ea typeface="Arial" pitchFamily="34" charset="-122"/>
                <a:cs typeface="Arial" pitchFamily="34" charset="-120"/>
              </a:rPr>
              <a:t>[Confirm official title] AI-assisted reports &amp; patient care</a:t>
            </a:r>
            <a:endParaRPr lang="en-US" sz="1190" dirty="0"/>
          </a:p>
        </p:txBody>
      </p:sp>
      <p:sp>
        <p:nvSpPr>
          <p:cNvPr id="36" name="Shape 32"/>
          <p:cNvSpPr/>
          <p:nvPr/>
        </p:nvSpPr>
        <p:spPr>
          <a:xfrm>
            <a:off x="6757416" y="4509821"/>
            <a:ext cx="4032504" cy="595274"/>
          </a:xfrm>
          <a:prstGeom prst="parallelogram">
            <a:avLst/>
          </a:prstGeom>
          <a:solidFill>
            <a:srgbClr val="A9CDD8"/>
          </a:solidFill>
          <a:ln w="7620">
            <a:solidFill>
              <a:srgbClr val="A8CCD7"/>
            </a:solidFill>
            <a:prstDash val="solid"/>
          </a:ln>
        </p:spPr>
      </p:sp>
      <p:sp>
        <p:nvSpPr>
          <p:cNvPr id="37" name="Shape 33"/>
          <p:cNvSpPr/>
          <p:nvPr/>
        </p:nvSpPr>
        <p:spPr>
          <a:xfrm>
            <a:off x="6647688" y="4390949"/>
            <a:ext cx="4032504" cy="595274"/>
          </a:xfrm>
          <a:prstGeom prst="parallelogram">
            <a:avLst/>
          </a:prstGeom>
          <a:solidFill>
            <a:srgbClr val="C3E2E8"/>
          </a:solidFill>
          <a:ln w="7620">
            <a:solidFill>
              <a:srgbClr val="A8CCD7"/>
            </a:solidFill>
            <a:prstDash val="solid"/>
          </a:ln>
        </p:spPr>
      </p:sp>
      <p:sp>
        <p:nvSpPr>
          <p:cNvPr id="38" name="Shape 34"/>
          <p:cNvSpPr/>
          <p:nvPr/>
        </p:nvSpPr>
        <p:spPr>
          <a:xfrm>
            <a:off x="6537960" y="4272077"/>
            <a:ext cx="4032504" cy="595274"/>
          </a:xfrm>
          <a:prstGeom prst="parallelogram">
            <a:avLst/>
          </a:prstGeom>
          <a:solidFill>
            <a:srgbClr val="DDF2F3"/>
          </a:solidFill>
          <a:ln w="7620">
            <a:solidFill>
              <a:srgbClr val="A8CCD7"/>
            </a:solidFill>
            <a:prstDash val="solid"/>
          </a:ln>
        </p:spPr>
      </p:sp>
      <p:sp>
        <p:nvSpPr>
          <p:cNvPr id="39" name="Shape 35"/>
          <p:cNvSpPr/>
          <p:nvPr/>
        </p:nvSpPr>
        <p:spPr>
          <a:xfrm>
            <a:off x="7718908" y="2495855"/>
            <a:ext cx="2102663" cy="2016252"/>
          </a:xfrm>
          <a:prstGeom prst="cube">
            <a:avLst/>
          </a:prstGeom>
          <a:solidFill>
            <a:srgbClr val="ECF5FA"/>
          </a:solidFill>
          <a:ln w="12700">
            <a:solidFill>
              <a:srgbClr val="C5D9E3"/>
            </a:solidFill>
            <a:prstDash val="solid"/>
          </a:ln>
        </p:spPr>
      </p:sp>
      <p:sp>
        <p:nvSpPr>
          <p:cNvPr id="40" name="Shape 36"/>
          <p:cNvSpPr/>
          <p:nvPr/>
        </p:nvSpPr>
        <p:spPr>
          <a:xfrm>
            <a:off x="8006944" y="2889504"/>
            <a:ext cx="1094537" cy="364846"/>
          </a:xfrm>
          <a:prstGeom prst="rect">
            <a:avLst>
              <a:gd name="adj" fmla="val 30075"/>
            </a:avLst>
          </a:prstGeom>
          <a:solidFill>
            <a:srgbClr val="103A59"/>
          </a:solidFill>
          <a:ln w="10160">
            <a:solidFill>
              <a:srgbClr val="103A59"/>
            </a:solidFill>
            <a:prstDash val="solid"/>
          </a:ln>
        </p:spPr>
      </p:sp>
      <p:sp>
        <p:nvSpPr>
          <p:cNvPr id="41" name="Text 37"/>
          <p:cNvSpPr/>
          <p:nvPr/>
        </p:nvSpPr>
        <p:spPr>
          <a:xfrm>
            <a:off x="8026146" y="2937510"/>
            <a:ext cx="1056132" cy="182423"/>
          </a:xfrm>
          <a:prstGeom prst="rect">
            <a:avLst/>
          </a:prstGeom>
          <a:noFill/>
          <a:ln/>
        </p:spPr>
        <p:txBody>
          <a:bodyPr wrap="square" lIns="0" tIns="0" rIns="0" bIns="0" rtlCol="0" anchor="ctr"/>
          <a:lstStyle/>
          <a:p>
            <a:pPr algn="ctr" indent="0" marL="0">
              <a:buNone/>
            </a:pPr>
            <a:r>
              <a:rPr lang="en-US" sz="956" b="1" dirty="0">
                <a:solidFill>
                  <a:srgbClr val="FFFFFF"/>
                </a:solidFill>
                <a:latin typeface="Arial" pitchFamily="34" charset="0"/>
                <a:ea typeface="Arial" pitchFamily="34" charset="-122"/>
                <a:cs typeface="Arial" pitchFamily="34" charset="-120"/>
              </a:rPr>
              <a:t>CONNECTED CARE</a:t>
            </a:r>
            <a:endParaRPr lang="en-US" sz="956" dirty="0"/>
          </a:p>
        </p:txBody>
      </p:sp>
      <p:sp>
        <p:nvSpPr>
          <p:cNvPr id="42" name="Shape 38"/>
          <p:cNvSpPr/>
          <p:nvPr/>
        </p:nvSpPr>
        <p:spPr>
          <a:xfrm>
            <a:off x="8438998" y="2582266"/>
            <a:ext cx="307238" cy="307238"/>
          </a:xfrm>
          <a:prstGeom prst="mathPlus">
            <a:avLst/>
          </a:prstGeom>
          <a:solidFill>
            <a:srgbClr val="008F8B"/>
          </a:solidFill>
          <a:ln w="12700">
            <a:solidFill>
              <a:srgbClr val="008F8B"/>
            </a:solidFill>
            <a:prstDash val="solid"/>
          </a:ln>
        </p:spPr>
      </p:sp>
      <p:sp>
        <p:nvSpPr>
          <p:cNvPr id="43" name="Shape 39"/>
          <p:cNvSpPr/>
          <p:nvPr/>
        </p:nvSpPr>
        <p:spPr>
          <a:xfrm>
            <a:off x="7997342" y="3465576"/>
            <a:ext cx="201625" cy="201625"/>
          </a:xfrm>
          <a:prstGeom prst="rect">
            <a:avLst>
              <a:gd name="adj" fmla="val 54422"/>
            </a:avLst>
          </a:prstGeom>
          <a:solidFill>
            <a:srgbClr val="BEE3ED"/>
          </a:solidFill>
          <a:ln w="10160">
            <a:solidFill>
              <a:srgbClr val="087FB8"/>
            </a:solidFill>
            <a:prstDash val="solid"/>
          </a:ln>
        </p:spPr>
      </p:sp>
      <p:sp>
        <p:nvSpPr>
          <p:cNvPr id="44" name="Shape 40"/>
          <p:cNvSpPr/>
          <p:nvPr/>
        </p:nvSpPr>
        <p:spPr>
          <a:xfrm>
            <a:off x="8381390" y="3465576"/>
            <a:ext cx="201625" cy="201625"/>
          </a:xfrm>
          <a:prstGeom prst="rect">
            <a:avLst>
              <a:gd name="adj" fmla="val 54422"/>
            </a:avLst>
          </a:prstGeom>
          <a:solidFill>
            <a:srgbClr val="BEE3ED"/>
          </a:solidFill>
          <a:ln w="10160">
            <a:solidFill>
              <a:srgbClr val="087FB8"/>
            </a:solidFill>
            <a:prstDash val="solid"/>
          </a:ln>
        </p:spPr>
      </p:sp>
      <p:sp>
        <p:nvSpPr>
          <p:cNvPr id="45" name="Shape 41"/>
          <p:cNvSpPr/>
          <p:nvPr/>
        </p:nvSpPr>
        <p:spPr>
          <a:xfrm>
            <a:off x="8765438" y="3465576"/>
            <a:ext cx="201625" cy="201625"/>
          </a:xfrm>
          <a:prstGeom prst="rect">
            <a:avLst>
              <a:gd name="adj" fmla="val 54422"/>
            </a:avLst>
          </a:prstGeom>
          <a:solidFill>
            <a:srgbClr val="BEE3ED"/>
          </a:solidFill>
          <a:ln w="10160">
            <a:solidFill>
              <a:srgbClr val="087FB8"/>
            </a:solidFill>
            <a:prstDash val="solid"/>
          </a:ln>
        </p:spPr>
      </p:sp>
      <p:sp>
        <p:nvSpPr>
          <p:cNvPr id="46" name="Shape 42"/>
          <p:cNvSpPr/>
          <p:nvPr/>
        </p:nvSpPr>
        <p:spPr>
          <a:xfrm>
            <a:off x="7997342" y="3830422"/>
            <a:ext cx="201625" cy="201625"/>
          </a:xfrm>
          <a:prstGeom prst="rect">
            <a:avLst>
              <a:gd name="adj" fmla="val 54422"/>
            </a:avLst>
          </a:prstGeom>
          <a:solidFill>
            <a:srgbClr val="BEE3ED"/>
          </a:solidFill>
          <a:ln w="10160">
            <a:solidFill>
              <a:srgbClr val="087FB8"/>
            </a:solidFill>
            <a:prstDash val="solid"/>
          </a:ln>
        </p:spPr>
      </p:sp>
      <p:sp>
        <p:nvSpPr>
          <p:cNvPr id="47" name="Shape 43"/>
          <p:cNvSpPr/>
          <p:nvPr/>
        </p:nvSpPr>
        <p:spPr>
          <a:xfrm>
            <a:off x="8381390" y="3830422"/>
            <a:ext cx="201625" cy="201625"/>
          </a:xfrm>
          <a:prstGeom prst="rect">
            <a:avLst>
              <a:gd name="adj" fmla="val 54422"/>
            </a:avLst>
          </a:prstGeom>
          <a:solidFill>
            <a:srgbClr val="BEE3ED"/>
          </a:solidFill>
          <a:ln w="10160">
            <a:solidFill>
              <a:srgbClr val="087FB8"/>
            </a:solidFill>
            <a:prstDash val="solid"/>
          </a:ln>
        </p:spPr>
      </p:sp>
      <p:sp>
        <p:nvSpPr>
          <p:cNvPr id="48" name="Shape 44"/>
          <p:cNvSpPr/>
          <p:nvPr/>
        </p:nvSpPr>
        <p:spPr>
          <a:xfrm>
            <a:off x="8765438" y="3830422"/>
            <a:ext cx="201625" cy="201625"/>
          </a:xfrm>
          <a:prstGeom prst="rect">
            <a:avLst>
              <a:gd name="adj" fmla="val 54422"/>
            </a:avLst>
          </a:prstGeom>
          <a:solidFill>
            <a:srgbClr val="BEE3ED"/>
          </a:solidFill>
          <a:ln w="10160">
            <a:solidFill>
              <a:srgbClr val="087FB8"/>
            </a:solidFill>
            <a:prstDash val="solid"/>
          </a:ln>
        </p:spPr>
      </p:sp>
      <p:sp>
        <p:nvSpPr>
          <p:cNvPr id="49" name="Shape 45"/>
          <p:cNvSpPr/>
          <p:nvPr/>
        </p:nvSpPr>
        <p:spPr>
          <a:xfrm>
            <a:off x="8438998" y="4128059"/>
            <a:ext cx="336042" cy="374447"/>
          </a:xfrm>
          <a:prstGeom prst="rect">
            <a:avLst>
              <a:gd name="adj" fmla="val 32653"/>
            </a:avLst>
          </a:prstGeom>
          <a:solidFill>
            <a:srgbClr val="008F8B"/>
          </a:solidFill>
          <a:ln w="10160">
            <a:solidFill>
              <a:srgbClr val="008F8B"/>
            </a:solidFill>
            <a:prstDash val="solid"/>
          </a:ln>
        </p:spPr>
      </p:sp>
      <p:sp>
        <p:nvSpPr>
          <p:cNvPr id="50" name="Shape 46"/>
          <p:cNvSpPr/>
          <p:nvPr/>
        </p:nvSpPr>
        <p:spPr>
          <a:xfrm>
            <a:off x="6263640" y="1527048"/>
            <a:ext cx="1417320" cy="886968"/>
          </a:xfrm>
          <a:prstGeom prst="roundRect">
            <a:avLst>
              <a:gd name="adj" fmla="val 12371"/>
            </a:avLst>
          </a:prstGeom>
          <a:solidFill>
            <a:srgbClr val="FFFFFF"/>
          </a:solidFill>
          <a:ln w="10160">
            <a:solidFill>
              <a:srgbClr val="C5D9E3"/>
            </a:solidFill>
            <a:prstDash val="solid"/>
          </a:ln>
        </p:spPr>
      </p:sp>
      <p:sp>
        <p:nvSpPr>
          <p:cNvPr id="51" name="Shape 47"/>
          <p:cNvSpPr/>
          <p:nvPr/>
        </p:nvSpPr>
        <p:spPr>
          <a:xfrm>
            <a:off x="6872630" y="1618488"/>
            <a:ext cx="109728" cy="109728"/>
          </a:xfrm>
          <a:prstGeom prst="ellipse">
            <a:avLst/>
          </a:prstGeom>
          <a:solidFill>
            <a:srgbClr val="EAF4FA"/>
          </a:solidFill>
          <a:ln w="16510">
            <a:solidFill>
              <a:srgbClr val="008F8B"/>
            </a:solidFill>
            <a:prstDash val="solid"/>
          </a:ln>
        </p:spPr>
      </p:sp>
      <p:sp>
        <p:nvSpPr>
          <p:cNvPr id="52" name="Shape 48"/>
          <p:cNvSpPr/>
          <p:nvPr/>
        </p:nvSpPr>
        <p:spPr>
          <a:xfrm>
            <a:off x="6806794" y="1746504"/>
            <a:ext cx="248717" cy="219456"/>
          </a:xfrm>
          <a:prstGeom prst="roundRect">
            <a:avLst/>
          </a:prstGeom>
          <a:solidFill>
            <a:srgbClr val="DFF5F3"/>
          </a:solidFill>
          <a:ln w="16510">
            <a:solidFill>
              <a:srgbClr val="008F8B"/>
            </a:solidFill>
            <a:prstDash val="solid"/>
          </a:ln>
        </p:spPr>
      </p:sp>
      <p:sp>
        <p:nvSpPr>
          <p:cNvPr id="53" name="Text 49"/>
          <p:cNvSpPr/>
          <p:nvPr/>
        </p:nvSpPr>
        <p:spPr>
          <a:xfrm>
            <a:off x="6327648" y="2084832"/>
            <a:ext cx="1289304" cy="210312"/>
          </a:xfrm>
          <a:prstGeom prst="rect">
            <a:avLst/>
          </a:prstGeom>
          <a:noFill/>
          <a:ln/>
        </p:spPr>
        <p:txBody>
          <a:bodyPr wrap="square" lIns="0" tIns="0" rIns="0" bIns="0" rtlCol="0" anchor="ctr"/>
          <a:lstStyle/>
          <a:p>
            <a:pPr algn="ctr" indent="0" marL="0">
              <a:buNone/>
            </a:pPr>
            <a:r>
              <a:rPr lang="en-US" sz="920" b="1" dirty="0">
                <a:solidFill>
                  <a:srgbClr val="103A59"/>
                </a:solidFill>
                <a:latin typeface="Arial" pitchFamily="34" charset="0"/>
                <a:ea typeface="Arial" pitchFamily="34" charset="-122"/>
                <a:cs typeface="Arial" pitchFamily="34" charset="-120"/>
              </a:rPr>
              <a:t>PATIENT</a:t>
            </a:r>
            <a:endParaRPr lang="en-US" sz="920" dirty="0"/>
          </a:p>
        </p:txBody>
      </p:sp>
      <p:sp>
        <p:nvSpPr>
          <p:cNvPr id="54" name="Shape 50"/>
          <p:cNvSpPr/>
          <p:nvPr/>
        </p:nvSpPr>
        <p:spPr>
          <a:xfrm>
            <a:off x="10213848" y="1527048"/>
            <a:ext cx="1417320" cy="886968"/>
          </a:xfrm>
          <a:prstGeom prst="roundRect">
            <a:avLst>
              <a:gd name="adj" fmla="val 12371"/>
            </a:avLst>
          </a:prstGeom>
          <a:solidFill>
            <a:srgbClr val="FFFFFF"/>
          </a:solidFill>
          <a:ln w="10160">
            <a:solidFill>
              <a:srgbClr val="C5D9E3"/>
            </a:solidFill>
            <a:prstDash val="solid"/>
          </a:ln>
        </p:spPr>
      </p:sp>
      <p:sp>
        <p:nvSpPr>
          <p:cNvPr id="55" name="Shape 51"/>
          <p:cNvSpPr/>
          <p:nvPr/>
        </p:nvSpPr>
        <p:spPr>
          <a:xfrm>
            <a:off x="10822838" y="1618488"/>
            <a:ext cx="109728" cy="109728"/>
          </a:xfrm>
          <a:prstGeom prst="ellipse">
            <a:avLst/>
          </a:prstGeom>
          <a:solidFill>
            <a:srgbClr val="EAF4FA"/>
          </a:solidFill>
          <a:ln w="16510">
            <a:solidFill>
              <a:srgbClr val="008F8B"/>
            </a:solidFill>
            <a:prstDash val="solid"/>
          </a:ln>
        </p:spPr>
      </p:sp>
      <p:sp>
        <p:nvSpPr>
          <p:cNvPr id="56" name="Shape 52"/>
          <p:cNvSpPr/>
          <p:nvPr/>
        </p:nvSpPr>
        <p:spPr>
          <a:xfrm>
            <a:off x="10757002" y="1746504"/>
            <a:ext cx="248717" cy="219456"/>
          </a:xfrm>
          <a:prstGeom prst="roundRect">
            <a:avLst/>
          </a:prstGeom>
          <a:solidFill>
            <a:srgbClr val="FFFFFF"/>
          </a:solidFill>
          <a:ln w="16510">
            <a:solidFill>
              <a:srgbClr val="008F8B"/>
            </a:solidFill>
            <a:prstDash val="solid"/>
          </a:ln>
        </p:spPr>
      </p:sp>
      <p:sp>
        <p:nvSpPr>
          <p:cNvPr id="57" name="Shape 53"/>
          <p:cNvSpPr/>
          <p:nvPr/>
        </p:nvSpPr>
        <p:spPr>
          <a:xfrm>
            <a:off x="10881360" y="1783080"/>
            <a:ext cx="914" cy="120701"/>
          </a:xfrm>
          <a:prstGeom prst="line">
            <a:avLst/>
          </a:prstGeom>
          <a:noFill/>
          <a:ln w="16510">
            <a:solidFill>
              <a:srgbClr val="008F8B"/>
            </a:solidFill>
            <a:prstDash val="solid"/>
          </a:ln>
        </p:spPr>
      </p:sp>
      <p:sp>
        <p:nvSpPr>
          <p:cNvPr id="58" name="Shape 54"/>
          <p:cNvSpPr/>
          <p:nvPr/>
        </p:nvSpPr>
        <p:spPr>
          <a:xfrm>
            <a:off x="10830154" y="1841602"/>
            <a:ext cx="102413" cy="914"/>
          </a:xfrm>
          <a:prstGeom prst="line">
            <a:avLst/>
          </a:prstGeom>
          <a:noFill/>
          <a:ln w="16510">
            <a:solidFill>
              <a:srgbClr val="008F8B"/>
            </a:solidFill>
            <a:prstDash val="solid"/>
          </a:ln>
        </p:spPr>
      </p:sp>
      <p:sp>
        <p:nvSpPr>
          <p:cNvPr id="59" name="Text 55"/>
          <p:cNvSpPr/>
          <p:nvPr/>
        </p:nvSpPr>
        <p:spPr>
          <a:xfrm>
            <a:off x="10277856" y="2084832"/>
            <a:ext cx="1289304" cy="210312"/>
          </a:xfrm>
          <a:prstGeom prst="rect">
            <a:avLst/>
          </a:prstGeom>
          <a:noFill/>
          <a:ln/>
        </p:spPr>
        <p:txBody>
          <a:bodyPr wrap="square" lIns="0" tIns="0" rIns="0" bIns="0" rtlCol="0" anchor="ctr"/>
          <a:lstStyle/>
          <a:p>
            <a:pPr algn="ctr" indent="0" marL="0">
              <a:buNone/>
            </a:pPr>
            <a:r>
              <a:rPr lang="en-US" sz="920" b="1" dirty="0">
                <a:solidFill>
                  <a:srgbClr val="103A59"/>
                </a:solidFill>
                <a:latin typeface="Arial" pitchFamily="34" charset="0"/>
                <a:ea typeface="Arial" pitchFamily="34" charset="-122"/>
                <a:cs typeface="Arial" pitchFamily="34" charset="-120"/>
              </a:rPr>
              <a:t>DOCTOR</a:t>
            </a:r>
            <a:endParaRPr lang="en-US" sz="920" dirty="0"/>
          </a:p>
        </p:txBody>
      </p:sp>
      <p:sp>
        <p:nvSpPr>
          <p:cNvPr id="60" name="Shape 56"/>
          <p:cNvSpPr/>
          <p:nvPr/>
        </p:nvSpPr>
        <p:spPr>
          <a:xfrm>
            <a:off x="6263640" y="4626864"/>
            <a:ext cx="1417320" cy="886968"/>
          </a:xfrm>
          <a:prstGeom prst="roundRect">
            <a:avLst>
              <a:gd name="adj" fmla="val 12371"/>
            </a:avLst>
          </a:prstGeom>
          <a:solidFill>
            <a:srgbClr val="FFFFFF"/>
          </a:solidFill>
          <a:ln w="10160">
            <a:solidFill>
              <a:srgbClr val="C5D9E3"/>
            </a:solidFill>
            <a:prstDash val="solid"/>
          </a:ln>
        </p:spPr>
      </p:sp>
      <p:sp>
        <p:nvSpPr>
          <p:cNvPr id="61" name="Shape 57"/>
          <p:cNvSpPr/>
          <p:nvPr/>
        </p:nvSpPr>
        <p:spPr>
          <a:xfrm>
            <a:off x="6814109" y="4718304"/>
            <a:ext cx="237744" cy="358445"/>
          </a:xfrm>
          <a:prstGeom prst="rect">
            <a:avLst>
              <a:gd name="adj" fmla="val 46154"/>
            </a:avLst>
          </a:prstGeom>
          <a:solidFill>
            <a:srgbClr val="FFFFFF"/>
          </a:solidFill>
          <a:ln w="10160">
            <a:solidFill>
              <a:srgbClr val="008F8B"/>
            </a:solidFill>
            <a:prstDash val="solid"/>
          </a:ln>
        </p:spPr>
      </p:sp>
      <p:sp>
        <p:nvSpPr>
          <p:cNvPr id="62" name="Shape 58"/>
          <p:cNvSpPr/>
          <p:nvPr/>
        </p:nvSpPr>
        <p:spPr>
          <a:xfrm>
            <a:off x="6858000" y="4828032"/>
            <a:ext cx="142646" cy="914"/>
          </a:xfrm>
          <a:prstGeom prst="line">
            <a:avLst/>
          </a:prstGeom>
          <a:noFill/>
          <a:ln w="12700">
            <a:solidFill>
              <a:srgbClr val="008F8B"/>
            </a:solidFill>
            <a:prstDash val="solid"/>
          </a:ln>
        </p:spPr>
      </p:sp>
      <p:sp>
        <p:nvSpPr>
          <p:cNvPr id="63" name="Shape 59"/>
          <p:cNvSpPr/>
          <p:nvPr/>
        </p:nvSpPr>
        <p:spPr>
          <a:xfrm>
            <a:off x="6858000" y="4901184"/>
            <a:ext cx="142646" cy="914"/>
          </a:xfrm>
          <a:prstGeom prst="line">
            <a:avLst/>
          </a:prstGeom>
          <a:noFill/>
          <a:ln w="12700">
            <a:solidFill>
              <a:srgbClr val="008F8B"/>
            </a:solidFill>
            <a:prstDash val="solid"/>
          </a:ln>
        </p:spPr>
      </p:sp>
      <p:sp>
        <p:nvSpPr>
          <p:cNvPr id="64" name="Shape 60"/>
          <p:cNvSpPr/>
          <p:nvPr/>
        </p:nvSpPr>
        <p:spPr>
          <a:xfrm>
            <a:off x="6858000" y="4974336"/>
            <a:ext cx="142646" cy="914"/>
          </a:xfrm>
          <a:prstGeom prst="line">
            <a:avLst/>
          </a:prstGeom>
          <a:noFill/>
          <a:ln w="12700">
            <a:solidFill>
              <a:srgbClr val="008F8B"/>
            </a:solidFill>
            <a:prstDash val="solid"/>
          </a:ln>
        </p:spPr>
      </p:sp>
      <p:sp>
        <p:nvSpPr>
          <p:cNvPr id="65" name="Text 61"/>
          <p:cNvSpPr/>
          <p:nvPr/>
        </p:nvSpPr>
        <p:spPr>
          <a:xfrm>
            <a:off x="6327648" y="5184648"/>
            <a:ext cx="1289304" cy="210312"/>
          </a:xfrm>
          <a:prstGeom prst="rect">
            <a:avLst/>
          </a:prstGeom>
          <a:noFill/>
          <a:ln/>
        </p:spPr>
        <p:txBody>
          <a:bodyPr wrap="square" lIns="0" tIns="0" rIns="0" bIns="0" rtlCol="0" anchor="ctr"/>
          <a:lstStyle/>
          <a:p>
            <a:pPr algn="ctr" indent="0" marL="0">
              <a:buNone/>
            </a:pPr>
            <a:r>
              <a:rPr lang="en-US" sz="920" b="1" dirty="0">
                <a:solidFill>
                  <a:srgbClr val="103A59"/>
                </a:solidFill>
                <a:latin typeface="Arial" pitchFamily="34" charset="0"/>
                <a:ea typeface="Arial" pitchFamily="34" charset="-122"/>
                <a:cs typeface="Arial" pitchFamily="34" charset="-120"/>
              </a:rPr>
              <a:t>ORIGINAL REPORTS</a:t>
            </a:r>
            <a:endParaRPr lang="en-US" sz="920" dirty="0"/>
          </a:p>
        </p:txBody>
      </p:sp>
      <p:sp>
        <p:nvSpPr>
          <p:cNvPr id="66" name="Shape 62"/>
          <p:cNvSpPr/>
          <p:nvPr/>
        </p:nvSpPr>
        <p:spPr>
          <a:xfrm>
            <a:off x="9902952" y="4626864"/>
            <a:ext cx="1417320" cy="886968"/>
          </a:xfrm>
          <a:prstGeom prst="roundRect">
            <a:avLst>
              <a:gd name="adj" fmla="val 12371"/>
            </a:avLst>
          </a:prstGeom>
          <a:solidFill>
            <a:srgbClr val="FFFFFF"/>
          </a:solidFill>
          <a:ln w="10160">
            <a:solidFill>
              <a:srgbClr val="C5D9E3"/>
            </a:solidFill>
            <a:prstDash val="solid"/>
          </a:ln>
        </p:spPr>
      </p:sp>
      <p:sp>
        <p:nvSpPr>
          <p:cNvPr id="67" name="Shape 63"/>
          <p:cNvSpPr/>
          <p:nvPr/>
        </p:nvSpPr>
        <p:spPr>
          <a:xfrm>
            <a:off x="10431475" y="4762195"/>
            <a:ext cx="277978" cy="277978"/>
          </a:xfrm>
          <a:prstGeom prst="roundRect">
            <a:avLst>
              <a:gd name="adj" fmla="val 39474"/>
            </a:avLst>
          </a:prstGeom>
          <a:solidFill>
            <a:srgbClr val="DFF5F3"/>
          </a:solidFill>
          <a:ln w="10160">
            <a:solidFill>
              <a:srgbClr val="008F8B"/>
            </a:solidFill>
            <a:prstDash val="solid"/>
          </a:ln>
        </p:spPr>
      </p:sp>
      <p:sp>
        <p:nvSpPr>
          <p:cNvPr id="68" name="Text 64"/>
          <p:cNvSpPr/>
          <p:nvPr/>
        </p:nvSpPr>
        <p:spPr>
          <a:xfrm>
            <a:off x="10457078" y="4828032"/>
            <a:ext cx="230429" cy="124358"/>
          </a:xfrm>
          <a:prstGeom prst="rect">
            <a:avLst/>
          </a:prstGeom>
          <a:noFill/>
          <a:ln/>
        </p:spPr>
        <p:txBody>
          <a:bodyPr wrap="square" lIns="0" tIns="0" rIns="0" bIns="0" rtlCol="0" anchor="ctr"/>
          <a:lstStyle/>
          <a:p>
            <a:pPr algn="ctr" indent="0" marL="0">
              <a:buNone/>
            </a:pPr>
            <a:r>
              <a:rPr lang="en-US" sz="960" b="1" dirty="0">
                <a:solidFill>
                  <a:srgbClr val="008F8B"/>
                </a:solidFill>
                <a:latin typeface="Arial" pitchFamily="34" charset="0"/>
                <a:ea typeface="Arial" pitchFamily="34" charset="-122"/>
                <a:cs typeface="Arial" pitchFamily="34" charset="-120"/>
              </a:rPr>
              <a:t>AI</a:t>
            </a:r>
            <a:endParaRPr lang="en-US" sz="960" dirty="0"/>
          </a:p>
        </p:txBody>
      </p:sp>
      <p:sp>
        <p:nvSpPr>
          <p:cNvPr id="69" name="Shape 65"/>
          <p:cNvSpPr/>
          <p:nvPr/>
        </p:nvSpPr>
        <p:spPr>
          <a:xfrm>
            <a:off x="10497312" y="4718304"/>
            <a:ext cx="914" cy="43891"/>
          </a:xfrm>
          <a:prstGeom prst="line">
            <a:avLst/>
          </a:prstGeom>
          <a:noFill/>
          <a:ln w="16510">
            <a:solidFill>
              <a:srgbClr val="008F8B"/>
            </a:solidFill>
            <a:prstDash val="solid"/>
          </a:ln>
        </p:spPr>
      </p:sp>
      <p:sp>
        <p:nvSpPr>
          <p:cNvPr id="70" name="Shape 66"/>
          <p:cNvSpPr/>
          <p:nvPr/>
        </p:nvSpPr>
        <p:spPr>
          <a:xfrm>
            <a:off x="10497312" y="5040173"/>
            <a:ext cx="914" cy="43891"/>
          </a:xfrm>
          <a:prstGeom prst="line">
            <a:avLst/>
          </a:prstGeom>
          <a:noFill/>
          <a:ln w="16510">
            <a:solidFill>
              <a:srgbClr val="008F8B"/>
            </a:solidFill>
            <a:prstDash val="solid"/>
          </a:ln>
        </p:spPr>
      </p:sp>
      <p:sp>
        <p:nvSpPr>
          <p:cNvPr id="71" name="Shape 67"/>
          <p:cNvSpPr/>
          <p:nvPr/>
        </p:nvSpPr>
        <p:spPr>
          <a:xfrm>
            <a:off x="10570464" y="4718304"/>
            <a:ext cx="914" cy="43891"/>
          </a:xfrm>
          <a:prstGeom prst="line">
            <a:avLst/>
          </a:prstGeom>
          <a:noFill/>
          <a:ln w="16510">
            <a:solidFill>
              <a:srgbClr val="008F8B"/>
            </a:solidFill>
            <a:prstDash val="solid"/>
          </a:ln>
        </p:spPr>
      </p:sp>
      <p:sp>
        <p:nvSpPr>
          <p:cNvPr id="72" name="Shape 68"/>
          <p:cNvSpPr/>
          <p:nvPr/>
        </p:nvSpPr>
        <p:spPr>
          <a:xfrm>
            <a:off x="10570464" y="5040173"/>
            <a:ext cx="914" cy="43891"/>
          </a:xfrm>
          <a:prstGeom prst="line">
            <a:avLst/>
          </a:prstGeom>
          <a:noFill/>
          <a:ln w="16510">
            <a:solidFill>
              <a:srgbClr val="008F8B"/>
            </a:solidFill>
            <a:prstDash val="solid"/>
          </a:ln>
        </p:spPr>
      </p:sp>
      <p:sp>
        <p:nvSpPr>
          <p:cNvPr id="73" name="Shape 69"/>
          <p:cNvSpPr/>
          <p:nvPr/>
        </p:nvSpPr>
        <p:spPr>
          <a:xfrm>
            <a:off x="10643616" y="4718304"/>
            <a:ext cx="914" cy="43891"/>
          </a:xfrm>
          <a:prstGeom prst="line">
            <a:avLst/>
          </a:prstGeom>
          <a:noFill/>
          <a:ln w="16510">
            <a:solidFill>
              <a:srgbClr val="008F8B"/>
            </a:solidFill>
            <a:prstDash val="solid"/>
          </a:ln>
        </p:spPr>
      </p:sp>
      <p:sp>
        <p:nvSpPr>
          <p:cNvPr id="74" name="Shape 70"/>
          <p:cNvSpPr/>
          <p:nvPr/>
        </p:nvSpPr>
        <p:spPr>
          <a:xfrm>
            <a:off x="10643616" y="5040173"/>
            <a:ext cx="914" cy="43891"/>
          </a:xfrm>
          <a:prstGeom prst="line">
            <a:avLst/>
          </a:prstGeom>
          <a:noFill/>
          <a:ln w="16510">
            <a:solidFill>
              <a:srgbClr val="008F8B"/>
            </a:solidFill>
            <a:prstDash val="solid"/>
          </a:ln>
        </p:spPr>
      </p:sp>
      <p:sp>
        <p:nvSpPr>
          <p:cNvPr id="75" name="Text 71"/>
          <p:cNvSpPr/>
          <p:nvPr/>
        </p:nvSpPr>
        <p:spPr>
          <a:xfrm>
            <a:off x="9966960" y="5184648"/>
            <a:ext cx="1289304" cy="210312"/>
          </a:xfrm>
          <a:prstGeom prst="rect">
            <a:avLst/>
          </a:prstGeom>
          <a:noFill/>
          <a:ln/>
        </p:spPr>
        <p:txBody>
          <a:bodyPr wrap="square" lIns="0" tIns="0" rIns="0" bIns="0" rtlCol="0" anchor="ctr"/>
          <a:lstStyle/>
          <a:p>
            <a:pPr algn="ctr" indent="0" marL="0">
              <a:buNone/>
            </a:pPr>
            <a:r>
              <a:rPr lang="en-US" sz="920" b="1" dirty="0">
                <a:solidFill>
                  <a:srgbClr val="103A59"/>
                </a:solidFill>
                <a:latin typeface="Arial" pitchFamily="34" charset="0"/>
                <a:ea typeface="Arial" pitchFamily="34" charset="-122"/>
                <a:cs typeface="Arial" pitchFamily="34" charset="-120"/>
              </a:rPr>
              <a:t>SOURCE-LINKED AI</a:t>
            </a:r>
            <a:endParaRPr lang="en-US" sz="920" dirty="0"/>
          </a:p>
        </p:txBody>
      </p:sp>
      <p:sp>
        <p:nvSpPr>
          <p:cNvPr id="76" name="Shape 72"/>
          <p:cNvSpPr/>
          <p:nvPr/>
        </p:nvSpPr>
        <p:spPr>
          <a:xfrm>
            <a:off x="7406640" y="2423160"/>
            <a:ext cx="548640" cy="320040"/>
          </a:xfrm>
          <a:prstGeom prst="line">
            <a:avLst/>
          </a:prstGeom>
          <a:noFill/>
          <a:ln w="21590">
            <a:solidFill>
              <a:srgbClr val="008F8B"/>
            </a:solidFill>
            <a:prstDash val="solid"/>
            <a:tailEnd type="triangle"/>
          </a:ln>
        </p:spPr>
      </p:sp>
      <p:sp>
        <p:nvSpPr>
          <p:cNvPr id="77" name="Shape 73"/>
          <p:cNvSpPr/>
          <p:nvPr/>
        </p:nvSpPr>
        <p:spPr>
          <a:xfrm flipH="1">
            <a:off x="9628632" y="2450592"/>
            <a:ext cx="832104" cy="338328"/>
          </a:xfrm>
          <a:prstGeom prst="line">
            <a:avLst/>
          </a:prstGeom>
          <a:noFill/>
          <a:ln w="21590">
            <a:solidFill>
              <a:srgbClr val="087FB8"/>
            </a:solidFill>
            <a:prstDash val="solid"/>
            <a:tailEnd type="triangle"/>
          </a:ln>
        </p:spPr>
      </p:sp>
      <p:sp>
        <p:nvSpPr>
          <p:cNvPr id="78" name="Shape 74"/>
          <p:cNvSpPr/>
          <p:nvPr/>
        </p:nvSpPr>
        <p:spPr>
          <a:xfrm flipV="1">
            <a:off x="7315200" y="4242816"/>
            <a:ext cx="640080" cy="356616"/>
          </a:xfrm>
          <a:prstGeom prst="line">
            <a:avLst/>
          </a:prstGeom>
          <a:noFill/>
          <a:ln w="21590">
            <a:solidFill>
              <a:srgbClr val="087FB8"/>
            </a:solidFill>
            <a:prstDash val="solid"/>
            <a:tailEnd type="triangle"/>
          </a:ln>
        </p:spPr>
      </p:sp>
      <p:sp>
        <p:nvSpPr>
          <p:cNvPr id="79" name="Shape 75"/>
          <p:cNvSpPr/>
          <p:nvPr/>
        </p:nvSpPr>
        <p:spPr>
          <a:xfrm flipH="1" flipV="1">
            <a:off x="9692640" y="4242816"/>
            <a:ext cx="457200" cy="356616"/>
          </a:xfrm>
          <a:prstGeom prst="line">
            <a:avLst/>
          </a:prstGeom>
          <a:noFill/>
          <a:ln w="21590">
            <a:solidFill>
              <a:srgbClr val="008F8B"/>
            </a:solidFill>
            <a:prstDash val="solid"/>
            <a:tailEnd type="triangle"/>
          </a:ln>
        </p:spPr>
      </p:sp>
      <p:sp>
        <p:nvSpPr>
          <p:cNvPr id="80" name="Shape 76"/>
          <p:cNvSpPr/>
          <p:nvPr/>
        </p:nvSpPr>
        <p:spPr>
          <a:xfrm>
            <a:off x="6382512" y="5760720"/>
            <a:ext cx="5294376" cy="246888"/>
          </a:xfrm>
          <a:prstGeom prst="roundRect">
            <a:avLst>
              <a:gd name="adj" fmla="val 44444"/>
            </a:avLst>
          </a:prstGeom>
          <a:solidFill>
            <a:srgbClr val="DFF5F3"/>
          </a:solidFill>
          <a:ln w="10160">
            <a:solidFill>
              <a:srgbClr val="DFF5F3"/>
            </a:solidFill>
            <a:prstDash val="solid"/>
          </a:ln>
        </p:spPr>
      </p:sp>
      <p:sp>
        <p:nvSpPr>
          <p:cNvPr id="81" name="Text 77"/>
          <p:cNvSpPr/>
          <p:nvPr/>
        </p:nvSpPr>
        <p:spPr>
          <a:xfrm>
            <a:off x="6446520" y="5783580"/>
            <a:ext cx="5166360" cy="201168"/>
          </a:xfrm>
          <a:prstGeom prst="rect">
            <a:avLst/>
          </a:prstGeom>
          <a:noFill/>
          <a:ln/>
        </p:spPr>
        <p:txBody>
          <a:bodyPr wrap="square" lIns="0" tIns="0" rIns="0" bIns="0" rtlCol="0" anchor="ctr"/>
          <a:lstStyle/>
          <a:p>
            <a:pPr indent="0" marL="0">
              <a:buNone/>
            </a:pPr>
            <a:r>
              <a:rPr lang="en-US" sz="1050" b="1" dirty="0">
                <a:solidFill>
                  <a:srgbClr val="008F8B"/>
                </a:solidFill>
                <a:latin typeface="Arial" pitchFamily="34" charset="0"/>
                <a:ea typeface="Arial" pitchFamily="34" charset="-122"/>
                <a:cs typeface="Arial" pitchFamily="34" charset="-120"/>
              </a:rPr>
              <a:t>CONSENT  +  SOURCE EVIDENCE  +  CLINICIAN REVIEW</a:t>
            </a:r>
            <a:endParaRPr lang="en-US" sz="1050" dirty="0"/>
          </a:p>
        </p:txBody>
      </p:sp>
      <p:sp>
        <p:nvSpPr>
          <p:cNvPr id="82" name="Text 78"/>
          <p:cNvSpPr/>
          <p:nvPr/>
        </p:nvSpPr>
        <p:spPr>
          <a:xfrm>
            <a:off x="502920" y="5961888"/>
            <a:ext cx="5504688" cy="256032"/>
          </a:xfrm>
          <a:prstGeom prst="rect">
            <a:avLst/>
          </a:prstGeom>
          <a:noFill/>
          <a:ln/>
        </p:spPr>
        <p:txBody>
          <a:bodyPr wrap="square" lIns="0" tIns="0" rIns="0" bIns="0" rtlCol="0" anchor="ctr"/>
          <a:lstStyle/>
          <a:p>
            <a:pPr indent="0" marL="0">
              <a:buNone/>
            </a:pPr>
            <a:r>
              <a:rPr lang="en-US" sz="950" dirty="0">
                <a:solidFill>
                  <a:srgbClr val="5E7281"/>
                </a:solidFill>
                <a:latin typeface="Arial" pitchFamily="34" charset="0"/>
                <a:ea typeface="Arial" pitchFamily="34" charset="-122"/>
                <a:cs typeface="Arial" pitchFamily="34" charset="-120"/>
              </a:rPr>
              <a:t>Official identifiers remain confirmation fields: the existing deck notes call them placeholders.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PROBLEM STATEMENT</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The missing link is usable clinical context</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Qualitative problem framing from the project notes—not prevalence statistics or measured workflow findings.</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02 / 12</a:t>
            </a:r>
            <a:endParaRPr lang="en-US" sz="950" dirty="0"/>
          </a:p>
        </p:txBody>
      </p:sp>
      <p:sp>
        <p:nvSpPr>
          <p:cNvPr id="22" name="Text 18"/>
          <p:cNvSpPr/>
          <p:nvPr/>
        </p:nvSpPr>
        <p:spPr>
          <a:xfrm>
            <a:off x="502920" y="1380744"/>
            <a:ext cx="1828800"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ROOT CAUSES</a:t>
            </a:r>
            <a:endParaRPr lang="en-US" sz="1050" dirty="0"/>
          </a:p>
        </p:txBody>
      </p:sp>
      <p:sp>
        <p:nvSpPr>
          <p:cNvPr id="23" name="Shape 19"/>
          <p:cNvSpPr/>
          <p:nvPr/>
        </p:nvSpPr>
        <p:spPr>
          <a:xfrm>
            <a:off x="502920" y="1737360"/>
            <a:ext cx="3639312" cy="1024128"/>
          </a:xfrm>
          <a:prstGeom prst="roundRect">
            <a:avLst>
              <a:gd name="adj" fmla="val 10714"/>
            </a:avLst>
          </a:prstGeom>
          <a:solidFill>
            <a:srgbClr val="EAF4FA"/>
          </a:solidFill>
          <a:ln w="10160">
            <a:solidFill>
              <a:srgbClr val="C5D9E3"/>
            </a:solidFill>
            <a:prstDash val="solid"/>
          </a:ln>
        </p:spPr>
      </p:sp>
      <p:sp>
        <p:nvSpPr>
          <p:cNvPr id="24" name="Shape 20"/>
          <p:cNvSpPr/>
          <p:nvPr/>
        </p:nvSpPr>
        <p:spPr>
          <a:xfrm>
            <a:off x="521208" y="1874520"/>
            <a:ext cx="36576" cy="749808"/>
          </a:xfrm>
          <a:prstGeom prst="rect">
            <a:avLst/>
          </a:prstGeom>
          <a:solidFill>
            <a:srgbClr val="087FB8"/>
          </a:solidFill>
          <a:ln w="12700">
            <a:solidFill>
              <a:srgbClr val="087FB8"/>
            </a:solidFill>
            <a:prstDash val="solid"/>
          </a:ln>
        </p:spPr>
      </p:sp>
      <p:sp>
        <p:nvSpPr>
          <p:cNvPr id="25" name="Text 21"/>
          <p:cNvSpPr/>
          <p:nvPr/>
        </p:nvSpPr>
        <p:spPr>
          <a:xfrm>
            <a:off x="658368" y="1856232"/>
            <a:ext cx="3346704" cy="320040"/>
          </a:xfrm>
          <a:prstGeom prst="rect">
            <a:avLst/>
          </a:prstGeom>
          <a:noFill/>
          <a:ln/>
        </p:spPr>
        <p:txBody>
          <a:bodyPr wrap="square" lIns="0" tIns="0" rIns="0" bIns="0" rtlCol="0" anchor="ctr"/>
          <a:lstStyle/>
          <a:p>
            <a:pPr indent="0" marL="0">
              <a:buNone/>
            </a:pPr>
            <a:r>
              <a:rPr lang="en-US" sz="1500" b="1" dirty="0">
                <a:solidFill>
                  <a:srgbClr val="087FB8"/>
                </a:solidFill>
                <a:latin typeface="Arial" pitchFamily="34" charset="0"/>
                <a:ea typeface="Arial" pitchFamily="34" charset="-122"/>
                <a:cs typeface="Arial" pitchFamily="34" charset="-120"/>
              </a:rPr>
              <a:t>Scattered information</a:t>
            </a:r>
            <a:endParaRPr lang="en-US" sz="1500" dirty="0"/>
          </a:p>
        </p:txBody>
      </p:sp>
      <p:sp>
        <p:nvSpPr>
          <p:cNvPr id="26" name="Text 22"/>
          <p:cNvSpPr/>
          <p:nvPr/>
        </p:nvSpPr>
        <p:spPr>
          <a:xfrm>
            <a:off x="658368" y="2240280"/>
            <a:ext cx="3328416" cy="411480"/>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Reports across visits, facilities, paper files and devices.</a:t>
            </a:r>
            <a:endParaRPr lang="en-US" sz="1250" dirty="0"/>
          </a:p>
        </p:txBody>
      </p:sp>
      <p:sp>
        <p:nvSpPr>
          <p:cNvPr id="27" name="Shape 23"/>
          <p:cNvSpPr/>
          <p:nvPr/>
        </p:nvSpPr>
        <p:spPr>
          <a:xfrm>
            <a:off x="4370832" y="1737360"/>
            <a:ext cx="3639312" cy="1024128"/>
          </a:xfrm>
          <a:prstGeom prst="roundRect">
            <a:avLst>
              <a:gd name="adj" fmla="val 10714"/>
            </a:avLst>
          </a:prstGeom>
          <a:solidFill>
            <a:srgbClr val="EAF4FA"/>
          </a:solidFill>
          <a:ln w="10160">
            <a:solidFill>
              <a:srgbClr val="C5D9E3"/>
            </a:solidFill>
            <a:prstDash val="solid"/>
          </a:ln>
        </p:spPr>
      </p:sp>
      <p:sp>
        <p:nvSpPr>
          <p:cNvPr id="28" name="Shape 24"/>
          <p:cNvSpPr/>
          <p:nvPr/>
        </p:nvSpPr>
        <p:spPr>
          <a:xfrm>
            <a:off x="4389120" y="1874520"/>
            <a:ext cx="36576" cy="749808"/>
          </a:xfrm>
          <a:prstGeom prst="rect">
            <a:avLst/>
          </a:prstGeom>
          <a:solidFill>
            <a:srgbClr val="087FB8"/>
          </a:solidFill>
          <a:ln w="12700">
            <a:solidFill>
              <a:srgbClr val="087FB8"/>
            </a:solidFill>
            <a:prstDash val="solid"/>
          </a:ln>
        </p:spPr>
      </p:sp>
      <p:sp>
        <p:nvSpPr>
          <p:cNvPr id="29" name="Text 25"/>
          <p:cNvSpPr/>
          <p:nvPr/>
        </p:nvSpPr>
        <p:spPr>
          <a:xfrm>
            <a:off x="4526280" y="1856232"/>
            <a:ext cx="3346704" cy="320040"/>
          </a:xfrm>
          <a:prstGeom prst="rect">
            <a:avLst/>
          </a:prstGeom>
          <a:noFill/>
          <a:ln/>
        </p:spPr>
        <p:txBody>
          <a:bodyPr wrap="square" lIns="0" tIns="0" rIns="0" bIns="0" rtlCol="0" anchor="ctr"/>
          <a:lstStyle/>
          <a:p>
            <a:pPr indent="0" marL="0">
              <a:buNone/>
            </a:pPr>
            <a:r>
              <a:rPr lang="en-US" sz="1500" b="1" dirty="0">
                <a:solidFill>
                  <a:srgbClr val="087FB8"/>
                </a:solidFill>
                <a:latin typeface="Arial" pitchFamily="34" charset="0"/>
                <a:ea typeface="Arial" pitchFamily="34" charset="-122"/>
                <a:cs typeface="Arial" pitchFamily="34" charset="-120"/>
              </a:rPr>
              <a:t>Unstructured documents</a:t>
            </a:r>
            <a:endParaRPr lang="en-US" sz="1500" dirty="0"/>
          </a:p>
        </p:txBody>
      </p:sp>
      <p:sp>
        <p:nvSpPr>
          <p:cNvPr id="30" name="Text 26"/>
          <p:cNvSpPr/>
          <p:nvPr/>
        </p:nvSpPr>
        <p:spPr>
          <a:xfrm>
            <a:off x="4526280" y="2240280"/>
            <a:ext cx="3328416" cy="411480"/>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Scans, inconsistent dates, units and medical terminology.</a:t>
            </a:r>
            <a:endParaRPr lang="en-US" sz="1250" dirty="0"/>
          </a:p>
        </p:txBody>
      </p:sp>
      <p:sp>
        <p:nvSpPr>
          <p:cNvPr id="31" name="Shape 27"/>
          <p:cNvSpPr/>
          <p:nvPr/>
        </p:nvSpPr>
        <p:spPr>
          <a:xfrm>
            <a:off x="8238744" y="1737360"/>
            <a:ext cx="3639312" cy="1024128"/>
          </a:xfrm>
          <a:prstGeom prst="roundRect">
            <a:avLst>
              <a:gd name="adj" fmla="val 10714"/>
            </a:avLst>
          </a:prstGeom>
          <a:solidFill>
            <a:srgbClr val="EAF4FA"/>
          </a:solidFill>
          <a:ln w="10160">
            <a:solidFill>
              <a:srgbClr val="C5D9E3"/>
            </a:solidFill>
            <a:prstDash val="solid"/>
          </a:ln>
        </p:spPr>
      </p:sp>
      <p:sp>
        <p:nvSpPr>
          <p:cNvPr id="32" name="Shape 28"/>
          <p:cNvSpPr/>
          <p:nvPr/>
        </p:nvSpPr>
        <p:spPr>
          <a:xfrm>
            <a:off x="8257032" y="1874520"/>
            <a:ext cx="36576" cy="749808"/>
          </a:xfrm>
          <a:prstGeom prst="rect">
            <a:avLst/>
          </a:prstGeom>
          <a:solidFill>
            <a:srgbClr val="087FB8"/>
          </a:solidFill>
          <a:ln w="12700">
            <a:solidFill>
              <a:srgbClr val="087FB8"/>
            </a:solidFill>
            <a:prstDash val="solid"/>
          </a:ln>
        </p:spPr>
      </p:sp>
      <p:sp>
        <p:nvSpPr>
          <p:cNvPr id="33" name="Text 29"/>
          <p:cNvSpPr/>
          <p:nvPr/>
        </p:nvSpPr>
        <p:spPr>
          <a:xfrm>
            <a:off x="8394192" y="1856232"/>
            <a:ext cx="3346704" cy="320040"/>
          </a:xfrm>
          <a:prstGeom prst="rect">
            <a:avLst/>
          </a:prstGeom>
          <a:noFill/>
          <a:ln/>
        </p:spPr>
        <p:txBody>
          <a:bodyPr wrap="square" lIns="0" tIns="0" rIns="0" bIns="0" rtlCol="0" anchor="ctr"/>
          <a:lstStyle/>
          <a:p>
            <a:pPr indent="0" marL="0">
              <a:buNone/>
            </a:pPr>
            <a:r>
              <a:rPr lang="en-US" sz="1500" b="1" dirty="0">
                <a:solidFill>
                  <a:srgbClr val="087FB8"/>
                </a:solidFill>
                <a:latin typeface="Arial" pitchFamily="34" charset="0"/>
                <a:ea typeface="Arial" pitchFamily="34" charset="-122"/>
                <a:cs typeface="Arial" pitchFamily="34" charset="-120"/>
              </a:rPr>
              <a:t>Disconnected workflows</a:t>
            </a:r>
            <a:endParaRPr lang="en-US" sz="1500" dirty="0"/>
          </a:p>
        </p:txBody>
      </p:sp>
      <p:sp>
        <p:nvSpPr>
          <p:cNvPr id="34" name="Text 30"/>
          <p:cNvSpPr/>
          <p:nvPr/>
        </p:nvSpPr>
        <p:spPr>
          <a:xfrm>
            <a:off x="8394192" y="2240280"/>
            <a:ext cx="3328416" cy="411480"/>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Records, scheduling and follow-up instructions are managed separately.</a:t>
            </a:r>
            <a:endParaRPr lang="en-US" sz="1250" dirty="0"/>
          </a:p>
        </p:txBody>
      </p:sp>
      <p:sp>
        <p:nvSpPr>
          <p:cNvPr id="35" name="Shape 31"/>
          <p:cNvSpPr/>
          <p:nvPr/>
        </p:nvSpPr>
        <p:spPr>
          <a:xfrm>
            <a:off x="2322576" y="2788920"/>
            <a:ext cx="914" cy="320040"/>
          </a:xfrm>
          <a:prstGeom prst="line">
            <a:avLst/>
          </a:prstGeom>
          <a:noFill/>
          <a:ln w="15240">
            <a:solidFill>
              <a:srgbClr val="087FB8"/>
            </a:solidFill>
            <a:prstDash val="solid"/>
          </a:ln>
        </p:spPr>
      </p:sp>
      <p:sp>
        <p:nvSpPr>
          <p:cNvPr id="36" name="Shape 32"/>
          <p:cNvSpPr/>
          <p:nvPr/>
        </p:nvSpPr>
        <p:spPr>
          <a:xfrm>
            <a:off x="6190488" y="2788920"/>
            <a:ext cx="914" cy="320040"/>
          </a:xfrm>
          <a:prstGeom prst="line">
            <a:avLst/>
          </a:prstGeom>
          <a:noFill/>
          <a:ln w="15240">
            <a:solidFill>
              <a:srgbClr val="087FB8"/>
            </a:solidFill>
            <a:prstDash val="solid"/>
          </a:ln>
        </p:spPr>
      </p:sp>
      <p:sp>
        <p:nvSpPr>
          <p:cNvPr id="37" name="Shape 33"/>
          <p:cNvSpPr/>
          <p:nvPr/>
        </p:nvSpPr>
        <p:spPr>
          <a:xfrm>
            <a:off x="10058400" y="2788920"/>
            <a:ext cx="914" cy="320040"/>
          </a:xfrm>
          <a:prstGeom prst="line">
            <a:avLst/>
          </a:prstGeom>
          <a:noFill/>
          <a:ln w="15240">
            <a:solidFill>
              <a:srgbClr val="087FB8"/>
            </a:solidFill>
            <a:prstDash val="solid"/>
          </a:ln>
        </p:spPr>
      </p:sp>
      <p:sp>
        <p:nvSpPr>
          <p:cNvPr id="38" name="Shape 34"/>
          <p:cNvSpPr/>
          <p:nvPr/>
        </p:nvSpPr>
        <p:spPr>
          <a:xfrm>
            <a:off x="2322576" y="3108960"/>
            <a:ext cx="7735824" cy="914"/>
          </a:xfrm>
          <a:prstGeom prst="line">
            <a:avLst/>
          </a:prstGeom>
          <a:noFill/>
          <a:ln w="15240">
            <a:solidFill>
              <a:srgbClr val="087FB8"/>
            </a:solidFill>
            <a:prstDash val="solid"/>
          </a:ln>
        </p:spPr>
      </p:sp>
      <p:sp>
        <p:nvSpPr>
          <p:cNvPr id="39" name="Shape 35"/>
          <p:cNvSpPr/>
          <p:nvPr/>
        </p:nvSpPr>
        <p:spPr>
          <a:xfrm>
            <a:off x="6190488" y="3108960"/>
            <a:ext cx="914" cy="182880"/>
          </a:xfrm>
          <a:prstGeom prst="line">
            <a:avLst/>
          </a:prstGeom>
          <a:noFill/>
          <a:ln w="17780">
            <a:solidFill>
              <a:srgbClr val="087FB8"/>
            </a:solidFill>
            <a:prstDash val="solid"/>
            <a:tailEnd type="triangle"/>
          </a:ln>
        </p:spPr>
      </p:sp>
      <p:sp>
        <p:nvSpPr>
          <p:cNvPr id="40" name="Shape 36"/>
          <p:cNvSpPr/>
          <p:nvPr/>
        </p:nvSpPr>
        <p:spPr>
          <a:xfrm>
            <a:off x="1865376" y="3337560"/>
            <a:ext cx="8458200" cy="694944"/>
          </a:xfrm>
          <a:prstGeom prst="roundRect">
            <a:avLst>
              <a:gd name="adj" fmla="val 15789"/>
            </a:avLst>
          </a:prstGeom>
          <a:solidFill>
            <a:srgbClr val="103A59"/>
          </a:solidFill>
          <a:ln w="10160">
            <a:solidFill>
              <a:srgbClr val="103A59"/>
            </a:solidFill>
            <a:prstDash val="solid"/>
          </a:ln>
        </p:spPr>
      </p:sp>
      <p:sp>
        <p:nvSpPr>
          <p:cNvPr id="41" name="Text 37"/>
          <p:cNvSpPr/>
          <p:nvPr/>
        </p:nvSpPr>
        <p:spPr>
          <a:xfrm>
            <a:off x="2048256" y="3474720"/>
            <a:ext cx="8092440" cy="347472"/>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Relevant patient history is hard to locate, compare and review</a:t>
            </a:r>
            <a:endParaRPr lang="en-US" sz="2100" dirty="0"/>
          </a:p>
        </p:txBody>
      </p:sp>
      <p:sp>
        <p:nvSpPr>
          <p:cNvPr id="42" name="Text 38"/>
          <p:cNvSpPr/>
          <p:nvPr/>
        </p:nvSpPr>
        <p:spPr>
          <a:xfrm>
            <a:off x="502920" y="4160520"/>
            <a:ext cx="3200400"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EFFECTS ON STAKEHOLDERS</a:t>
            </a:r>
            <a:endParaRPr lang="en-US" sz="1050" dirty="0"/>
          </a:p>
        </p:txBody>
      </p:sp>
      <p:sp>
        <p:nvSpPr>
          <p:cNvPr id="43" name="Shape 39"/>
          <p:cNvSpPr/>
          <p:nvPr/>
        </p:nvSpPr>
        <p:spPr>
          <a:xfrm>
            <a:off x="6190488" y="4041648"/>
            <a:ext cx="914" cy="466344"/>
          </a:xfrm>
          <a:prstGeom prst="line">
            <a:avLst/>
          </a:prstGeom>
          <a:noFill/>
          <a:ln w="16510">
            <a:solidFill>
              <a:srgbClr val="008F8B"/>
            </a:solidFill>
            <a:prstDash val="solid"/>
          </a:ln>
        </p:spPr>
      </p:sp>
      <p:sp>
        <p:nvSpPr>
          <p:cNvPr id="44" name="Shape 40"/>
          <p:cNvSpPr/>
          <p:nvPr/>
        </p:nvSpPr>
        <p:spPr>
          <a:xfrm>
            <a:off x="2322576" y="4507992"/>
            <a:ext cx="7735824" cy="914"/>
          </a:xfrm>
          <a:prstGeom prst="line">
            <a:avLst/>
          </a:prstGeom>
          <a:noFill/>
          <a:ln w="15240">
            <a:solidFill>
              <a:srgbClr val="008F8B"/>
            </a:solidFill>
            <a:prstDash val="solid"/>
          </a:ln>
        </p:spPr>
      </p:sp>
      <p:sp>
        <p:nvSpPr>
          <p:cNvPr id="45" name="Shape 41"/>
          <p:cNvSpPr/>
          <p:nvPr/>
        </p:nvSpPr>
        <p:spPr>
          <a:xfrm>
            <a:off x="2322576" y="4507992"/>
            <a:ext cx="914" cy="182880"/>
          </a:xfrm>
          <a:prstGeom prst="line">
            <a:avLst/>
          </a:prstGeom>
          <a:noFill/>
          <a:ln w="15240">
            <a:solidFill>
              <a:srgbClr val="008F8B"/>
            </a:solidFill>
            <a:prstDash val="solid"/>
            <a:tailEnd type="triangle"/>
          </a:ln>
        </p:spPr>
      </p:sp>
      <p:sp>
        <p:nvSpPr>
          <p:cNvPr id="46" name="Shape 42"/>
          <p:cNvSpPr/>
          <p:nvPr/>
        </p:nvSpPr>
        <p:spPr>
          <a:xfrm>
            <a:off x="502920" y="4709160"/>
            <a:ext cx="3639312" cy="960120"/>
          </a:xfrm>
          <a:prstGeom prst="roundRect">
            <a:avLst>
              <a:gd name="adj" fmla="val 11429"/>
            </a:avLst>
          </a:prstGeom>
          <a:solidFill>
            <a:srgbClr val="DFF5F3"/>
          </a:solidFill>
          <a:ln w="10160">
            <a:solidFill>
              <a:srgbClr val="C5D9E3"/>
            </a:solidFill>
            <a:prstDash val="solid"/>
          </a:ln>
        </p:spPr>
      </p:sp>
      <p:sp>
        <p:nvSpPr>
          <p:cNvPr id="47" name="Shape 43"/>
          <p:cNvSpPr/>
          <p:nvPr/>
        </p:nvSpPr>
        <p:spPr>
          <a:xfrm>
            <a:off x="795528" y="4892040"/>
            <a:ext cx="137160" cy="137160"/>
          </a:xfrm>
          <a:prstGeom prst="ellipse">
            <a:avLst/>
          </a:prstGeom>
          <a:solidFill>
            <a:srgbClr val="EAF4FA"/>
          </a:solidFill>
          <a:ln w="16510">
            <a:solidFill>
              <a:srgbClr val="008F8B"/>
            </a:solidFill>
            <a:prstDash val="solid"/>
          </a:ln>
        </p:spPr>
      </p:sp>
      <p:sp>
        <p:nvSpPr>
          <p:cNvPr id="48" name="Shape 44"/>
          <p:cNvSpPr/>
          <p:nvPr/>
        </p:nvSpPr>
        <p:spPr>
          <a:xfrm>
            <a:off x="713232" y="5052060"/>
            <a:ext cx="310896" cy="274320"/>
          </a:xfrm>
          <a:prstGeom prst="roundRect">
            <a:avLst/>
          </a:prstGeom>
          <a:solidFill>
            <a:srgbClr val="DFF5F3"/>
          </a:solidFill>
          <a:ln w="16510">
            <a:solidFill>
              <a:srgbClr val="008F8B"/>
            </a:solidFill>
            <a:prstDash val="solid"/>
          </a:ln>
        </p:spPr>
      </p:sp>
      <p:sp>
        <p:nvSpPr>
          <p:cNvPr id="49" name="Text 45"/>
          <p:cNvSpPr/>
          <p:nvPr/>
        </p:nvSpPr>
        <p:spPr>
          <a:xfrm>
            <a:off x="1261872" y="4818888"/>
            <a:ext cx="2715768" cy="256032"/>
          </a:xfrm>
          <a:prstGeom prst="rect">
            <a:avLst/>
          </a:prstGeom>
          <a:noFill/>
          <a:ln/>
        </p:spPr>
        <p:txBody>
          <a:bodyPr wrap="square" lIns="0" tIns="0" rIns="0" bIns="0" rtlCol="0" anchor="ctr"/>
          <a:lstStyle/>
          <a:p>
            <a:pPr indent="0" marL="0">
              <a:buNone/>
            </a:pPr>
            <a:r>
              <a:rPr lang="en-US" sz="1500" b="1" dirty="0">
                <a:solidFill>
                  <a:srgbClr val="008F8B"/>
                </a:solidFill>
                <a:latin typeface="Arial" pitchFamily="34" charset="0"/>
                <a:ea typeface="Arial" pitchFamily="34" charset="-122"/>
                <a:cs typeface="Arial" pitchFamily="34" charset="-120"/>
              </a:rPr>
              <a:t>Patients</a:t>
            </a:r>
            <a:endParaRPr lang="en-US" sz="1500" dirty="0"/>
          </a:p>
        </p:txBody>
      </p:sp>
      <p:sp>
        <p:nvSpPr>
          <p:cNvPr id="50" name="Text 46"/>
          <p:cNvSpPr/>
          <p:nvPr/>
        </p:nvSpPr>
        <p:spPr>
          <a:xfrm>
            <a:off x="1261872" y="5184648"/>
            <a:ext cx="2706624" cy="365760"/>
          </a:xfrm>
          <a:prstGeom prst="rect">
            <a:avLst/>
          </a:prstGeom>
          <a:noFill/>
          <a:ln/>
        </p:spPr>
        <p:txBody>
          <a:bodyPr wrap="square" lIns="0" tIns="0" rIns="0" bIns="0" rtlCol="0" anchor="ctr"/>
          <a:lstStyle/>
          <a:p>
            <a:pPr indent="0" marL="0">
              <a:buNone/>
            </a:pPr>
            <a:r>
              <a:rPr lang="en-US" sz="1150" dirty="0">
                <a:solidFill>
                  <a:srgbClr val="233B4C"/>
                </a:solidFill>
                <a:latin typeface="Arial" pitchFamily="34" charset="0"/>
                <a:ea typeface="Arial" pitchFamily="34" charset="-122"/>
                <a:cs typeface="Arial" pitchFamily="34" charset="-120"/>
              </a:rPr>
              <a:t>Lost reports • unclear terms</a:t>
            </a:r>
            <a:endParaRPr lang="en-US" sz="1150" dirty="0"/>
          </a:p>
          <a:p>
            <a:pPr indent="0" marL="0">
              <a:buNone/>
            </a:pPr>
            <a:r>
              <a:rPr lang="en-US" sz="1150" dirty="0">
                <a:solidFill>
                  <a:srgbClr val="233B4C"/>
                </a:solidFill>
                <a:latin typeface="Arial" pitchFamily="34" charset="0"/>
                <a:ea typeface="Arial" pitchFamily="34" charset="-122"/>
                <a:cs typeface="Arial" pitchFamily="34" charset="-120"/>
              </a:rPr>
              <a:t>Missed instructions • repeated record handling</a:t>
            </a:r>
            <a:endParaRPr lang="en-US" sz="1150" dirty="0"/>
          </a:p>
        </p:txBody>
      </p:sp>
      <p:sp>
        <p:nvSpPr>
          <p:cNvPr id="51" name="Shape 47"/>
          <p:cNvSpPr/>
          <p:nvPr/>
        </p:nvSpPr>
        <p:spPr>
          <a:xfrm>
            <a:off x="6190488" y="4507992"/>
            <a:ext cx="914" cy="182880"/>
          </a:xfrm>
          <a:prstGeom prst="line">
            <a:avLst/>
          </a:prstGeom>
          <a:noFill/>
          <a:ln w="15240">
            <a:solidFill>
              <a:srgbClr val="008F8B"/>
            </a:solidFill>
            <a:prstDash val="solid"/>
            <a:tailEnd type="triangle"/>
          </a:ln>
        </p:spPr>
      </p:sp>
      <p:sp>
        <p:nvSpPr>
          <p:cNvPr id="52" name="Shape 48"/>
          <p:cNvSpPr/>
          <p:nvPr/>
        </p:nvSpPr>
        <p:spPr>
          <a:xfrm>
            <a:off x="4370832" y="4709160"/>
            <a:ext cx="3639312" cy="960120"/>
          </a:xfrm>
          <a:prstGeom prst="roundRect">
            <a:avLst>
              <a:gd name="adj" fmla="val 11429"/>
            </a:avLst>
          </a:prstGeom>
          <a:solidFill>
            <a:srgbClr val="DFF5F3"/>
          </a:solidFill>
          <a:ln w="10160">
            <a:solidFill>
              <a:srgbClr val="C5D9E3"/>
            </a:solidFill>
            <a:prstDash val="solid"/>
          </a:ln>
        </p:spPr>
      </p:sp>
      <p:sp>
        <p:nvSpPr>
          <p:cNvPr id="53" name="Shape 49"/>
          <p:cNvSpPr/>
          <p:nvPr/>
        </p:nvSpPr>
        <p:spPr>
          <a:xfrm>
            <a:off x="4663440" y="4892040"/>
            <a:ext cx="137160" cy="137160"/>
          </a:xfrm>
          <a:prstGeom prst="ellipse">
            <a:avLst/>
          </a:prstGeom>
          <a:solidFill>
            <a:srgbClr val="EAF4FA"/>
          </a:solidFill>
          <a:ln w="16510">
            <a:solidFill>
              <a:srgbClr val="008F8B"/>
            </a:solidFill>
            <a:prstDash val="solid"/>
          </a:ln>
        </p:spPr>
      </p:sp>
      <p:sp>
        <p:nvSpPr>
          <p:cNvPr id="54" name="Shape 50"/>
          <p:cNvSpPr/>
          <p:nvPr/>
        </p:nvSpPr>
        <p:spPr>
          <a:xfrm>
            <a:off x="4581144" y="5052060"/>
            <a:ext cx="310896" cy="274320"/>
          </a:xfrm>
          <a:prstGeom prst="roundRect">
            <a:avLst/>
          </a:prstGeom>
          <a:solidFill>
            <a:srgbClr val="FFFFFF"/>
          </a:solidFill>
          <a:ln w="16510">
            <a:solidFill>
              <a:srgbClr val="008F8B"/>
            </a:solidFill>
            <a:prstDash val="solid"/>
          </a:ln>
        </p:spPr>
      </p:sp>
      <p:sp>
        <p:nvSpPr>
          <p:cNvPr id="55" name="Shape 51"/>
          <p:cNvSpPr/>
          <p:nvPr/>
        </p:nvSpPr>
        <p:spPr>
          <a:xfrm>
            <a:off x="4736592" y="5097780"/>
            <a:ext cx="914" cy="150876"/>
          </a:xfrm>
          <a:prstGeom prst="line">
            <a:avLst/>
          </a:prstGeom>
          <a:noFill/>
          <a:ln w="16510">
            <a:solidFill>
              <a:srgbClr val="008F8B"/>
            </a:solidFill>
            <a:prstDash val="solid"/>
          </a:ln>
        </p:spPr>
      </p:sp>
      <p:sp>
        <p:nvSpPr>
          <p:cNvPr id="56" name="Shape 52"/>
          <p:cNvSpPr/>
          <p:nvPr/>
        </p:nvSpPr>
        <p:spPr>
          <a:xfrm>
            <a:off x="4672584" y="5170932"/>
            <a:ext cx="128016" cy="914"/>
          </a:xfrm>
          <a:prstGeom prst="line">
            <a:avLst/>
          </a:prstGeom>
          <a:noFill/>
          <a:ln w="16510">
            <a:solidFill>
              <a:srgbClr val="008F8B"/>
            </a:solidFill>
            <a:prstDash val="solid"/>
          </a:ln>
        </p:spPr>
      </p:sp>
      <p:sp>
        <p:nvSpPr>
          <p:cNvPr id="57" name="Text 53"/>
          <p:cNvSpPr/>
          <p:nvPr/>
        </p:nvSpPr>
        <p:spPr>
          <a:xfrm>
            <a:off x="5129784" y="4818888"/>
            <a:ext cx="2715768" cy="256032"/>
          </a:xfrm>
          <a:prstGeom prst="rect">
            <a:avLst/>
          </a:prstGeom>
          <a:noFill/>
          <a:ln/>
        </p:spPr>
        <p:txBody>
          <a:bodyPr wrap="square" lIns="0" tIns="0" rIns="0" bIns="0" rtlCol="0" anchor="ctr"/>
          <a:lstStyle/>
          <a:p>
            <a:pPr indent="0" marL="0">
              <a:buNone/>
            </a:pPr>
            <a:r>
              <a:rPr lang="en-US" sz="1500" b="1" dirty="0">
                <a:solidFill>
                  <a:srgbClr val="008F8B"/>
                </a:solidFill>
                <a:latin typeface="Arial" pitchFamily="34" charset="0"/>
                <a:ea typeface="Arial" pitchFamily="34" charset="-122"/>
                <a:cs typeface="Arial" pitchFamily="34" charset="-120"/>
              </a:rPr>
              <a:t>Doctors</a:t>
            </a:r>
            <a:endParaRPr lang="en-US" sz="1500" dirty="0"/>
          </a:p>
        </p:txBody>
      </p:sp>
      <p:sp>
        <p:nvSpPr>
          <p:cNvPr id="58" name="Text 54"/>
          <p:cNvSpPr/>
          <p:nvPr/>
        </p:nvSpPr>
        <p:spPr>
          <a:xfrm>
            <a:off x="5129784" y="5184648"/>
            <a:ext cx="2706624" cy="365760"/>
          </a:xfrm>
          <a:prstGeom prst="rect">
            <a:avLst/>
          </a:prstGeom>
          <a:noFill/>
          <a:ln/>
        </p:spPr>
        <p:txBody>
          <a:bodyPr wrap="square" lIns="0" tIns="0" rIns="0" bIns="0" rtlCol="0" anchor="ctr"/>
          <a:lstStyle/>
          <a:p>
            <a:pPr indent="0" marL="0">
              <a:buNone/>
            </a:pPr>
            <a:r>
              <a:rPr lang="en-US" sz="1150" dirty="0">
                <a:solidFill>
                  <a:srgbClr val="233B4C"/>
                </a:solidFill>
                <a:latin typeface="Arial" pitchFamily="34" charset="0"/>
                <a:ea typeface="Arial" pitchFamily="34" charset="-122"/>
                <a:cs typeface="Arial" pitchFamily="34" charset="-120"/>
              </a:rPr>
              <a:t>Consultation time spent searching</a:t>
            </a:r>
            <a:endParaRPr lang="en-US" sz="1150" dirty="0"/>
          </a:p>
          <a:p>
            <a:pPr indent="0" marL="0">
              <a:buNone/>
            </a:pPr>
            <a:r>
              <a:rPr lang="en-US" sz="1150" dirty="0">
                <a:solidFill>
                  <a:srgbClr val="233B4C"/>
                </a:solidFill>
                <a:latin typeface="Arial" pitchFamily="34" charset="0"/>
                <a:ea typeface="Arial" pitchFamily="34" charset="-122"/>
                <a:cs typeface="Arial" pitchFamily="34" charset="-120"/>
              </a:rPr>
              <a:t>Incomplete context • harder comparisons</a:t>
            </a:r>
            <a:endParaRPr lang="en-US" sz="1150" dirty="0"/>
          </a:p>
        </p:txBody>
      </p:sp>
      <p:sp>
        <p:nvSpPr>
          <p:cNvPr id="59" name="Shape 55"/>
          <p:cNvSpPr/>
          <p:nvPr/>
        </p:nvSpPr>
        <p:spPr>
          <a:xfrm>
            <a:off x="10058400" y="4507992"/>
            <a:ext cx="914" cy="182880"/>
          </a:xfrm>
          <a:prstGeom prst="line">
            <a:avLst/>
          </a:prstGeom>
          <a:noFill/>
          <a:ln w="15240">
            <a:solidFill>
              <a:srgbClr val="008F8B"/>
            </a:solidFill>
            <a:prstDash val="solid"/>
            <a:tailEnd type="triangle"/>
          </a:ln>
        </p:spPr>
      </p:sp>
      <p:sp>
        <p:nvSpPr>
          <p:cNvPr id="60" name="Shape 56"/>
          <p:cNvSpPr/>
          <p:nvPr/>
        </p:nvSpPr>
        <p:spPr>
          <a:xfrm>
            <a:off x="8238744" y="4709160"/>
            <a:ext cx="3639312" cy="960120"/>
          </a:xfrm>
          <a:prstGeom prst="roundRect">
            <a:avLst>
              <a:gd name="adj" fmla="val 11429"/>
            </a:avLst>
          </a:prstGeom>
          <a:solidFill>
            <a:srgbClr val="DFF5F3"/>
          </a:solidFill>
          <a:ln w="10160">
            <a:solidFill>
              <a:srgbClr val="C5D9E3"/>
            </a:solidFill>
            <a:prstDash val="solid"/>
          </a:ln>
        </p:spPr>
      </p:sp>
      <p:sp>
        <p:nvSpPr>
          <p:cNvPr id="61" name="Shape 57"/>
          <p:cNvSpPr/>
          <p:nvPr/>
        </p:nvSpPr>
        <p:spPr>
          <a:xfrm>
            <a:off x="8430768" y="4969764"/>
            <a:ext cx="347472" cy="365760"/>
          </a:xfrm>
          <a:prstGeom prst="rect">
            <a:avLst>
              <a:gd name="adj" fmla="val 31579"/>
            </a:avLst>
          </a:prstGeom>
          <a:solidFill>
            <a:srgbClr val="FFFFFF"/>
          </a:solidFill>
          <a:ln w="10160">
            <a:solidFill>
              <a:srgbClr val="008F8B"/>
            </a:solidFill>
            <a:prstDash val="solid"/>
          </a:ln>
        </p:spPr>
      </p:sp>
      <p:sp>
        <p:nvSpPr>
          <p:cNvPr id="62" name="Shape 58"/>
          <p:cNvSpPr/>
          <p:nvPr/>
        </p:nvSpPr>
        <p:spPr>
          <a:xfrm>
            <a:off x="8549640" y="5010912"/>
            <a:ext cx="109728" cy="109728"/>
          </a:xfrm>
          <a:prstGeom prst="mathPlus">
            <a:avLst/>
          </a:prstGeom>
          <a:solidFill>
            <a:srgbClr val="008F8B"/>
          </a:solidFill>
          <a:ln w="12700">
            <a:solidFill>
              <a:srgbClr val="008F8B"/>
            </a:solidFill>
            <a:prstDash val="solid"/>
          </a:ln>
        </p:spPr>
      </p:sp>
      <p:sp>
        <p:nvSpPr>
          <p:cNvPr id="63" name="Shape 59"/>
          <p:cNvSpPr/>
          <p:nvPr/>
        </p:nvSpPr>
        <p:spPr>
          <a:xfrm>
            <a:off x="8485632" y="5170932"/>
            <a:ext cx="41148" cy="50292"/>
          </a:xfrm>
          <a:prstGeom prst="rect">
            <a:avLst>
              <a:gd name="adj" fmla="val 266667"/>
            </a:avLst>
          </a:prstGeom>
          <a:solidFill>
            <a:srgbClr val="EAF4FA"/>
          </a:solidFill>
          <a:ln w="10160">
            <a:solidFill>
              <a:srgbClr val="008F8B"/>
            </a:solidFill>
            <a:prstDash val="solid"/>
          </a:ln>
        </p:spPr>
      </p:sp>
      <p:sp>
        <p:nvSpPr>
          <p:cNvPr id="64" name="Shape 60"/>
          <p:cNvSpPr/>
          <p:nvPr/>
        </p:nvSpPr>
        <p:spPr>
          <a:xfrm>
            <a:off x="8572500" y="5170932"/>
            <a:ext cx="41148" cy="50292"/>
          </a:xfrm>
          <a:prstGeom prst="rect">
            <a:avLst>
              <a:gd name="adj" fmla="val 266667"/>
            </a:avLst>
          </a:prstGeom>
          <a:solidFill>
            <a:srgbClr val="EAF4FA"/>
          </a:solidFill>
          <a:ln w="10160">
            <a:solidFill>
              <a:srgbClr val="008F8B"/>
            </a:solidFill>
            <a:prstDash val="solid"/>
          </a:ln>
        </p:spPr>
      </p:sp>
      <p:sp>
        <p:nvSpPr>
          <p:cNvPr id="65" name="Shape 61"/>
          <p:cNvSpPr/>
          <p:nvPr/>
        </p:nvSpPr>
        <p:spPr>
          <a:xfrm>
            <a:off x="8659368" y="5170932"/>
            <a:ext cx="41148" cy="50292"/>
          </a:xfrm>
          <a:prstGeom prst="rect">
            <a:avLst>
              <a:gd name="adj" fmla="val 266667"/>
            </a:avLst>
          </a:prstGeom>
          <a:solidFill>
            <a:srgbClr val="EAF4FA"/>
          </a:solidFill>
          <a:ln w="10160">
            <a:solidFill>
              <a:srgbClr val="008F8B"/>
            </a:solidFill>
            <a:prstDash val="solid"/>
          </a:ln>
        </p:spPr>
      </p:sp>
      <p:sp>
        <p:nvSpPr>
          <p:cNvPr id="66" name="Text 62"/>
          <p:cNvSpPr/>
          <p:nvPr/>
        </p:nvSpPr>
        <p:spPr>
          <a:xfrm>
            <a:off x="8997696" y="4818888"/>
            <a:ext cx="2715768" cy="256032"/>
          </a:xfrm>
          <a:prstGeom prst="rect">
            <a:avLst/>
          </a:prstGeom>
          <a:noFill/>
          <a:ln/>
        </p:spPr>
        <p:txBody>
          <a:bodyPr wrap="square" lIns="0" tIns="0" rIns="0" bIns="0" rtlCol="0" anchor="ctr"/>
          <a:lstStyle/>
          <a:p>
            <a:pPr indent="0" marL="0">
              <a:buNone/>
            </a:pPr>
            <a:r>
              <a:rPr lang="en-US" sz="1500" b="1" dirty="0">
                <a:solidFill>
                  <a:srgbClr val="008F8B"/>
                </a:solidFill>
                <a:latin typeface="Arial" pitchFamily="34" charset="0"/>
                <a:ea typeface="Arial" pitchFamily="34" charset="-122"/>
                <a:cs typeface="Arial" pitchFamily="34" charset="-120"/>
              </a:rPr>
              <a:t>Hospitals</a:t>
            </a:r>
            <a:endParaRPr lang="en-US" sz="1500" dirty="0"/>
          </a:p>
        </p:txBody>
      </p:sp>
      <p:sp>
        <p:nvSpPr>
          <p:cNvPr id="67" name="Text 63"/>
          <p:cNvSpPr/>
          <p:nvPr/>
        </p:nvSpPr>
        <p:spPr>
          <a:xfrm>
            <a:off x="8997696" y="5184648"/>
            <a:ext cx="2706624" cy="365760"/>
          </a:xfrm>
          <a:prstGeom prst="rect">
            <a:avLst/>
          </a:prstGeom>
          <a:noFill/>
          <a:ln/>
        </p:spPr>
        <p:txBody>
          <a:bodyPr wrap="square" lIns="0" tIns="0" rIns="0" bIns="0" rtlCol="0" anchor="ctr"/>
          <a:lstStyle/>
          <a:p>
            <a:pPr indent="0" marL="0">
              <a:buNone/>
            </a:pPr>
            <a:r>
              <a:rPr lang="en-US" sz="1150" dirty="0">
                <a:solidFill>
                  <a:srgbClr val="233B4C"/>
                </a:solidFill>
                <a:latin typeface="Arial" pitchFamily="34" charset="0"/>
                <a:ea typeface="Arial" pitchFamily="34" charset="-122"/>
                <a:cs typeface="Arial" pitchFamily="34" charset="-120"/>
              </a:rPr>
              <a:t>Scheduling and record coordination friction</a:t>
            </a:r>
            <a:endParaRPr lang="en-US" sz="1150" dirty="0"/>
          </a:p>
          <a:p>
            <a:pPr indent="0" marL="0">
              <a:buNone/>
            </a:pPr>
            <a:r>
              <a:rPr lang="en-US" sz="1150" dirty="0">
                <a:solidFill>
                  <a:srgbClr val="233B4C"/>
                </a:solidFill>
                <a:latin typeface="Arial" pitchFamily="34" charset="0"/>
                <a:ea typeface="Arial" pitchFamily="34" charset="-122"/>
                <a:cs typeface="Arial" pitchFamily="34" charset="-120"/>
              </a:rPr>
              <a:t>More manual handoffs and clarification</a:t>
            </a:r>
            <a:endParaRPr lang="en-US" sz="1150" dirty="0"/>
          </a:p>
        </p:txBody>
      </p:sp>
      <p:sp>
        <p:nvSpPr>
          <p:cNvPr id="68" name="Shape 64"/>
          <p:cNvSpPr/>
          <p:nvPr/>
        </p:nvSpPr>
        <p:spPr>
          <a:xfrm>
            <a:off x="502920" y="5888736"/>
            <a:ext cx="11365992" cy="310896"/>
          </a:xfrm>
          <a:prstGeom prst="roundRect">
            <a:avLst>
              <a:gd name="adj" fmla="val 35294"/>
            </a:avLst>
          </a:prstGeom>
          <a:solidFill>
            <a:srgbClr val="FFF3DE"/>
          </a:solidFill>
          <a:ln w="10160">
            <a:solidFill>
              <a:srgbClr val="FFF3DE"/>
            </a:solidFill>
            <a:prstDash val="solid"/>
          </a:ln>
        </p:spPr>
      </p:sp>
      <p:sp>
        <p:nvSpPr>
          <p:cNvPr id="69" name="Text 65"/>
          <p:cNvSpPr/>
          <p:nvPr/>
        </p:nvSpPr>
        <p:spPr>
          <a:xfrm>
            <a:off x="658368" y="5934456"/>
            <a:ext cx="11009376" cy="201168"/>
          </a:xfrm>
          <a:prstGeom prst="rect">
            <a:avLst/>
          </a:prstGeom>
          <a:noFill/>
          <a:ln/>
        </p:spPr>
        <p:txBody>
          <a:bodyPr wrap="square" lIns="0" tIns="0" rIns="0" bIns="0" rtlCol="0" anchor="ctr"/>
          <a:lstStyle/>
          <a:p>
            <a:pPr indent="0" marL="0">
              <a:buNone/>
            </a:pPr>
            <a:r>
              <a:rPr lang="en-US" sz="1110" b="1" dirty="0">
                <a:solidFill>
                  <a:srgbClr val="B46B12"/>
                </a:solidFill>
                <a:latin typeface="Arial" pitchFamily="34" charset="0"/>
                <a:ea typeface="Arial" pitchFamily="34" charset="-122"/>
                <a:cs typeface="Arial" pitchFamily="34" charset="-120"/>
              </a:rPr>
              <a:t>SUPPORTING NEED  •  Confusing or duplicate bill entries warrant clarification—not an automated fraud verdict.</a:t>
            </a:r>
            <a:endParaRPr lang="en-US" sz="11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PROPOSED SOLUTION</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From scattered reports to a review-ready history</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The report-to-brief loop is the core; coordination features support it rather than compete with it.</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03 / 12</a:t>
            </a:r>
            <a:endParaRPr lang="en-US" sz="950" dirty="0"/>
          </a:p>
        </p:txBody>
      </p:sp>
      <p:sp>
        <p:nvSpPr>
          <p:cNvPr id="22" name="Shape 18"/>
          <p:cNvSpPr/>
          <p:nvPr/>
        </p:nvSpPr>
        <p:spPr>
          <a:xfrm>
            <a:off x="502920" y="1444752"/>
            <a:ext cx="2971800" cy="2057400"/>
          </a:xfrm>
          <a:prstGeom prst="roundRect">
            <a:avLst>
              <a:gd name="adj" fmla="val 5333"/>
            </a:avLst>
          </a:prstGeom>
          <a:solidFill>
            <a:srgbClr val="F3F6F9"/>
          </a:solidFill>
          <a:ln w="10160">
            <a:solidFill>
              <a:srgbClr val="C5D9E3"/>
            </a:solidFill>
            <a:prstDash val="solid"/>
          </a:ln>
        </p:spPr>
      </p:sp>
      <p:sp>
        <p:nvSpPr>
          <p:cNvPr id="23" name="Text 19"/>
          <p:cNvSpPr/>
          <p:nvPr/>
        </p:nvSpPr>
        <p:spPr>
          <a:xfrm>
            <a:off x="658368" y="1600200"/>
            <a:ext cx="1828800" cy="210312"/>
          </a:xfrm>
          <a:prstGeom prst="rect">
            <a:avLst/>
          </a:prstGeom>
          <a:noFill/>
          <a:ln/>
        </p:spPr>
        <p:txBody>
          <a:bodyPr wrap="square" lIns="0" tIns="0" rIns="0" bIns="0" rtlCol="0" anchor="ctr"/>
          <a:lstStyle/>
          <a:p>
            <a:pPr indent="0" marL="0">
              <a:buNone/>
            </a:pPr>
            <a:r>
              <a:rPr lang="en-US" sz="1050" b="1" spc="70" kern="0" dirty="0">
                <a:solidFill>
                  <a:srgbClr val="5E7281"/>
                </a:solidFill>
                <a:latin typeface="Arial" pitchFamily="34" charset="0"/>
                <a:ea typeface="Arial" pitchFamily="34" charset="-122"/>
                <a:cs typeface="Arial" pitchFamily="34" charset="-120"/>
              </a:rPr>
              <a:t>BEFORE</a:t>
            </a:r>
            <a:endParaRPr lang="en-US" sz="1050" dirty="0"/>
          </a:p>
        </p:txBody>
      </p:sp>
      <p:sp>
        <p:nvSpPr>
          <p:cNvPr id="24" name="Text 20"/>
          <p:cNvSpPr/>
          <p:nvPr/>
        </p:nvSpPr>
        <p:spPr>
          <a:xfrm>
            <a:off x="658368" y="1965960"/>
            <a:ext cx="2651760" cy="365760"/>
          </a:xfrm>
          <a:prstGeom prst="rect">
            <a:avLst/>
          </a:prstGeom>
          <a:noFill/>
          <a:ln/>
        </p:spPr>
        <p:txBody>
          <a:bodyPr wrap="square" lIns="0" tIns="0" rIns="0" bIns="0" rtlCol="0" anchor="ctr"/>
          <a:lstStyle/>
          <a:p>
            <a:pPr indent="0" marL="0">
              <a:buNone/>
            </a:pPr>
            <a:r>
              <a:rPr lang="en-US" sz="1700" b="1" dirty="0">
                <a:solidFill>
                  <a:srgbClr val="233B4C"/>
                </a:solidFill>
                <a:latin typeface="Arial" pitchFamily="34" charset="0"/>
                <a:ea typeface="Arial" pitchFamily="34" charset="-122"/>
                <a:cs typeface="Arial" pitchFamily="34" charset="-120"/>
              </a:rPr>
              <a:t>Find → read → reconcile</a:t>
            </a:r>
            <a:endParaRPr lang="en-US" sz="1700" dirty="0"/>
          </a:p>
        </p:txBody>
      </p:sp>
      <p:sp>
        <p:nvSpPr>
          <p:cNvPr id="25" name="Text 21"/>
          <p:cNvSpPr/>
          <p:nvPr/>
        </p:nvSpPr>
        <p:spPr>
          <a:xfrm>
            <a:off x="667512" y="2514600"/>
            <a:ext cx="2615184" cy="685800"/>
          </a:xfrm>
          <a:prstGeom prst="rect">
            <a:avLst/>
          </a:prstGeom>
          <a:noFill/>
          <a:ln/>
        </p:spPr>
        <p:txBody>
          <a:bodyPr wrap="square" lIns="0" tIns="0" rIns="0" bIns="0" rtlCol="0" anchor="ctr"/>
          <a:lstStyle/>
          <a:p>
            <a:pPr indent="0" marL="0">
              <a:buNone/>
            </a:pPr>
            <a:r>
              <a:rPr lang="en-US" sz="1320" dirty="0">
                <a:solidFill>
                  <a:srgbClr val="5E7281"/>
                </a:solidFill>
                <a:latin typeface="Arial" pitchFamily="34" charset="0"/>
                <a:ea typeface="Arial" pitchFamily="34" charset="-122"/>
                <a:cs typeface="Arial" pitchFamily="34" charset="-120"/>
              </a:rPr>
              <a:t>Separate reports</a:t>
            </a:r>
            <a:endParaRPr lang="en-US" sz="1320" dirty="0"/>
          </a:p>
          <a:p>
            <a:pPr indent="0" marL="0">
              <a:buNone/>
            </a:pPr>
            <a:r>
              <a:rPr lang="en-US" sz="1320" dirty="0">
                <a:solidFill>
                  <a:srgbClr val="5E7281"/>
                </a:solidFill>
                <a:latin typeface="Arial" pitchFamily="34" charset="0"/>
                <a:ea typeface="Arial" pitchFamily="34" charset="-122"/>
                <a:cs typeface="Arial" pitchFamily="34" charset="-120"/>
              </a:rPr>
              <a:t>Repeated manual comparisons</a:t>
            </a:r>
            <a:endParaRPr lang="en-US" sz="1320" dirty="0"/>
          </a:p>
          <a:p>
            <a:pPr indent="0" marL="0">
              <a:buNone/>
            </a:pPr>
            <a:r>
              <a:rPr lang="en-US" sz="1320" dirty="0">
                <a:solidFill>
                  <a:srgbClr val="5E7281"/>
                </a:solidFill>
                <a:latin typeface="Arial" pitchFamily="34" charset="0"/>
                <a:ea typeface="Arial" pitchFamily="34" charset="-122"/>
                <a:cs typeface="Arial" pitchFamily="34" charset="-120"/>
              </a:rPr>
              <a:t>Follow-up instructions scattered</a:t>
            </a:r>
            <a:endParaRPr lang="en-US" sz="1320" dirty="0"/>
          </a:p>
        </p:txBody>
      </p:sp>
      <p:sp>
        <p:nvSpPr>
          <p:cNvPr id="26" name="Shape 22"/>
          <p:cNvSpPr/>
          <p:nvPr/>
        </p:nvSpPr>
        <p:spPr>
          <a:xfrm>
            <a:off x="3657600" y="1444752"/>
            <a:ext cx="3858768" cy="2057400"/>
          </a:xfrm>
          <a:prstGeom prst="roundRect">
            <a:avLst>
              <a:gd name="adj" fmla="val 5333"/>
            </a:avLst>
          </a:prstGeom>
          <a:solidFill>
            <a:srgbClr val="EAF4FA"/>
          </a:solidFill>
          <a:ln w="10160">
            <a:solidFill>
              <a:srgbClr val="C5D9E3"/>
            </a:solidFill>
            <a:prstDash val="solid"/>
          </a:ln>
        </p:spPr>
      </p:sp>
      <p:sp>
        <p:nvSpPr>
          <p:cNvPr id="27" name="Text 23"/>
          <p:cNvSpPr/>
          <p:nvPr/>
        </p:nvSpPr>
        <p:spPr>
          <a:xfrm>
            <a:off x="3822192" y="1600200"/>
            <a:ext cx="329184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PROPOSED AFTER</a:t>
            </a:r>
            <a:endParaRPr lang="en-US" sz="1050" dirty="0"/>
          </a:p>
        </p:txBody>
      </p:sp>
      <p:sp>
        <p:nvSpPr>
          <p:cNvPr id="28" name="Shape 24"/>
          <p:cNvSpPr/>
          <p:nvPr/>
        </p:nvSpPr>
        <p:spPr>
          <a:xfrm>
            <a:off x="4590288" y="2194560"/>
            <a:ext cx="1975104" cy="530352"/>
          </a:xfrm>
          <a:prstGeom prst="roundRect">
            <a:avLst>
              <a:gd name="adj" fmla="val 20690"/>
            </a:avLst>
          </a:prstGeom>
          <a:solidFill>
            <a:srgbClr val="103A59"/>
          </a:solidFill>
          <a:ln w="10160">
            <a:solidFill>
              <a:srgbClr val="103A59"/>
            </a:solidFill>
            <a:prstDash val="solid"/>
          </a:ln>
        </p:spPr>
      </p:sp>
      <p:sp>
        <p:nvSpPr>
          <p:cNvPr id="29" name="Text 25"/>
          <p:cNvSpPr/>
          <p:nvPr/>
        </p:nvSpPr>
        <p:spPr>
          <a:xfrm>
            <a:off x="4690872" y="2295144"/>
            <a:ext cx="1773936" cy="2651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MediConnect AI</a:t>
            </a:r>
            <a:endParaRPr lang="en-US" sz="1500" dirty="0"/>
          </a:p>
        </p:txBody>
      </p:sp>
      <p:sp>
        <p:nvSpPr>
          <p:cNvPr id="30" name="Shape 26"/>
          <p:cNvSpPr/>
          <p:nvPr/>
        </p:nvSpPr>
        <p:spPr>
          <a:xfrm>
            <a:off x="3822192" y="1920240"/>
            <a:ext cx="987552" cy="246888"/>
          </a:xfrm>
          <a:prstGeom prst="roundRect">
            <a:avLst>
              <a:gd name="adj" fmla="val 44444"/>
            </a:avLst>
          </a:prstGeom>
          <a:solidFill>
            <a:srgbClr val="FFFFFF"/>
          </a:solidFill>
          <a:ln w="10160">
            <a:solidFill>
              <a:srgbClr val="FFFFFF"/>
            </a:solidFill>
            <a:prstDash val="solid"/>
          </a:ln>
        </p:spPr>
      </p:sp>
      <p:sp>
        <p:nvSpPr>
          <p:cNvPr id="31" name="Text 27"/>
          <p:cNvSpPr/>
          <p:nvPr/>
        </p:nvSpPr>
        <p:spPr>
          <a:xfrm>
            <a:off x="3886200" y="1943100"/>
            <a:ext cx="859536" cy="201168"/>
          </a:xfrm>
          <a:prstGeom prst="rect">
            <a:avLst/>
          </a:prstGeom>
          <a:noFill/>
          <a:ln/>
        </p:spPr>
        <p:txBody>
          <a:bodyPr wrap="square" lIns="0" tIns="0" rIns="0" bIns="0" rtlCol="0" anchor="ctr"/>
          <a:lstStyle/>
          <a:p>
            <a:pPr indent="0" marL="0">
              <a:buNone/>
            </a:pPr>
            <a:r>
              <a:rPr lang="en-US" sz="1080" b="1" dirty="0">
                <a:solidFill>
                  <a:srgbClr val="008F8B"/>
                </a:solidFill>
                <a:latin typeface="Arial" pitchFamily="34" charset="0"/>
                <a:ea typeface="Arial" pitchFamily="34" charset="-122"/>
                <a:cs typeface="Arial" pitchFamily="34" charset="-120"/>
              </a:rPr>
              <a:t>Patient</a:t>
            </a:r>
            <a:endParaRPr lang="en-US" sz="1080" dirty="0"/>
          </a:p>
        </p:txBody>
      </p:sp>
      <p:sp>
        <p:nvSpPr>
          <p:cNvPr id="32" name="Shape 28"/>
          <p:cNvSpPr/>
          <p:nvPr/>
        </p:nvSpPr>
        <p:spPr>
          <a:xfrm>
            <a:off x="6364224" y="1920240"/>
            <a:ext cx="987552" cy="246888"/>
          </a:xfrm>
          <a:prstGeom prst="roundRect">
            <a:avLst>
              <a:gd name="adj" fmla="val 44444"/>
            </a:avLst>
          </a:prstGeom>
          <a:solidFill>
            <a:srgbClr val="FFFFFF"/>
          </a:solidFill>
          <a:ln w="10160">
            <a:solidFill>
              <a:srgbClr val="FFFFFF"/>
            </a:solidFill>
            <a:prstDash val="solid"/>
          </a:ln>
        </p:spPr>
      </p:sp>
      <p:sp>
        <p:nvSpPr>
          <p:cNvPr id="33" name="Text 29"/>
          <p:cNvSpPr/>
          <p:nvPr/>
        </p:nvSpPr>
        <p:spPr>
          <a:xfrm>
            <a:off x="6428232" y="1943100"/>
            <a:ext cx="859536" cy="201168"/>
          </a:xfrm>
          <a:prstGeom prst="rect">
            <a:avLst/>
          </a:prstGeom>
          <a:noFill/>
          <a:ln/>
        </p:spPr>
        <p:txBody>
          <a:bodyPr wrap="square" lIns="0" tIns="0" rIns="0" bIns="0" rtlCol="0" anchor="ctr"/>
          <a:lstStyle/>
          <a:p>
            <a:pPr indent="0" marL="0">
              <a:buNone/>
            </a:pPr>
            <a:r>
              <a:rPr lang="en-US" sz="1080" b="1" dirty="0">
                <a:solidFill>
                  <a:srgbClr val="008F8B"/>
                </a:solidFill>
                <a:latin typeface="Arial" pitchFamily="34" charset="0"/>
                <a:ea typeface="Arial" pitchFamily="34" charset="-122"/>
                <a:cs typeface="Arial" pitchFamily="34" charset="-120"/>
              </a:rPr>
              <a:t>Doctor</a:t>
            </a:r>
            <a:endParaRPr lang="en-US" sz="1080" dirty="0"/>
          </a:p>
        </p:txBody>
      </p:sp>
      <p:sp>
        <p:nvSpPr>
          <p:cNvPr id="34" name="Shape 30"/>
          <p:cNvSpPr/>
          <p:nvPr/>
        </p:nvSpPr>
        <p:spPr>
          <a:xfrm>
            <a:off x="4983480" y="3017520"/>
            <a:ext cx="987552" cy="246888"/>
          </a:xfrm>
          <a:prstGeom prst="roundRect">
            <a:avLst>
              <a:gd name="adj" fmla="val 44444"/>
            </a:avLst>
          </a:prstGeom>
          <a:solidFill>
            <a:srgbClr val="FFFFFF"/>
          </a:solidFill>
          <a:ln w="10160">
            <a:solidFill>
              <a:srgbClr val="FFFFFF"/>
            </a:solidFill>
            <a:prstDash val="solid"/>
          </a:ln>
        </p:spPr>
      </p:sp>
      <p:sp>
        <p:nvSpPr>
          <p:cNvPr id="35" name="Text 31"/>
          <p:cNvSpPr/>
          <p:nvPr/>
        </p:nvSpPr>
        <p:spPr>
          <a:xfrm>
            <a:off x="5047488" y="3040380"/>
            <a:ext cx="859536" cy="201168"/>
          </a:xfrm>
          <a:prstGeom prst="rect">
            <a:avLst/>
          </a:prstGeom>
          <a:noFill/>
          <a:ln/>
        </p:spPr>
        <p:txBody>
          <a:bodyPr wrap="square" lIns="0" tIns="0" rIns="0" bIns="0" rtlCol="0" anchor="ctr"/>
          <a:lstStyle/>
          <a:p>
            <a:pPr indent="0" marL="0">
              <a:buNone/>
            </a:pPr>
            <a:r>
              <a:rPr lang="en-US" sz="1080" b="1" dirty="0">
                <a:solidFill>
                  <a:srgbClr val="008F8B"/>
                </a:solidFill>
                <a:latin typeface="Arial" pitchFamily="34" charset="0"/>
                <a:ea typeface="Arial" pitchFamily="34" charset="-122"/>
                <a:cs typeface="Arial" pitchFamily="34" charset="-120"/>
              </a:rPr>
              <a:t>Hospital</a:t>
            </a:r>
            <a:endParaRPr lang="en-US" sz="1080" dirty="0"/>
          </a:p>
        </p:txBody>
      </p:sp>
      <p:sp>
        <p:nvSpPr>
          <p:cNvPr id="36" name="Shape 32"/>
          <p:cNvSpPr/>
          <p:nvPr/>
        </p:nvSpPr>
        <p:spPr>
          <a:xfrm>
            <a:off x="4315968" y="2167128"/>
            <a:ext cx="457200" cy="201168"/>
          </a:xfrm>
          <a:prstGeom prst="line">
            <a:avLst/>
          </a:prstGeom>
          <a:noFill/>
          <a:ln w="13970">
            <a:solidFill>
              <a:srgbClr val="008F8B"/>
            </a:solidFill>
            <a:prstDash val="solid"/>
            <a:tailEnd type="triangle"/>
          </a:ln>
        </p:spPr>
      </p:sp>
      <p:sp>
        <p:nvSpPr>
          <p:cNvPr id="37" name="Shape 33"/>
          <p:cNvSpPr/>
          <p:nvPr/>
        </p:nvSpPr>
        <p:spPr>
          <a:xfrm flipH="1">
            <a:off x="6263640" y="2167128"/>
            <a:ext cx="457200" cy="201168"/>
          </a:xfrm>
          <a:prstGeom prst="line">
            <a:avLst/>
          </a:prstGeom>
          <a:noFill/>
          <a:ln w="13970">
            <a:solidFill>
              <a:srgbClr val="087FB8"/>
            </a:solidFill>
            <a:prstDash val="solid"/>
            <a:tailEnd type="triangle"/>
          </a:ln>
        </p:spPr>
      </p:sp>
      <p:sp>
        <p:nvSpPr>
          <p:cNvPr id="38" name="Shape 34"/>
          <p:cNvSpPr/>
          <p:nvPr/>
        </p:nvSpPr>
        <p:spPr>
          <a:xfrm flipV="1">
            <a:off x="5541264" y="2761488"/>
            <a:ext cx="914" cy="237744"/>
          </a:xfrm>
          <a:prstGeom prst="line">
            <a:avLst/>
          </a:prstGeom>
          <a:noFill/>
          <a:ln w="13970">
            <a:solidFill>
              <a:srgbClr val="087FB8"/>
            </a:solidFill>
            <a:prstDash val="solid"/>
            <a:tailEnd type="triangle"/>
          </a:ln>
        </p:spPr>
      </p:sp>
      <p:sp>
        <p:nvSpPr>
          <p:cNvPr id="39" name="Text 35"/>
          <p:cNvSpPr/>
          <p:nvPr/>
        </p:nvSpPr>
        <p:spPr>
          <a:xfrm>
            <a:off x="3849624" y="3310128"/>
            <a:ext cx="3474720" cy="137160"/>
          </a:xfrm>
          <a:prstGeom prst="rect">
            <a:avLst/>
          </a:prstGeom>
          <a:noFill/>
          <a:ln/>
        </p:spPr>
        <p:txBody>
          <a:bodyPr wrap="square" lIns="0" tIns="0" rIns="0" bIns="0" rtlCol="0" anchor="ctr"/>
          <a:lstStyle/>
          <a:p>
            <a:pPr algn="ctr" indent="0" marL="0">
              <a:buNone/>
            </a:pPr>
            <a:r>
              <a:rPr lang="en-US" sz="1040" b="1" dirty="0">
                <a:solidFill>
                  <a:srgbClr val="087FB8"/>
                </a:solidFill>
                <a:latin typeface="Arial" pitchFamily="34" charset="0"/>
                <a:ea typeface="Arial" pitchFamily="34" charset="-122"/>
                <a:cs typeface="Arial" pitchFamily="34" charset="-120"/>
              </a:rPr>
              <a:t>Originals + dated history + source-linked brief</a:t>
            </a:r>
            <a:endParaRPr lang="en-US" sz="1040" dirty="0"/>
          </a:p>
        </p:txBody>
      </p:sp>
      <p:sp>
        <p:nvSpPr>
          <p:cNvPr id="40" name="Shape 36"/>
          <p:cNvSpPr/>
          <p:nvPr/>
        </p:nvSpPr>
        <p:spPr>
          <a:xfrm>
            <a:off x="7717536" y="1444752"/>
            <a:ext cx="4114800" cy="1344168"/>
          </a:xfrm>
          <a:prstGeom prst="roundRect">
            <a:avLst>
              <a:gd name="adj" fmla="val 8163"/>
            </a:avLst>
          </a:prstGeom>
          <a:solidFill>
            <a:srgbClr val="DFF5F3"/>
          </a:solidFill>
          <a:ln w="10160">
            <a:solidFill>
              <a:srgbClr val="C5D9E3"/>
            </a:solidFill>
            <a:prstDash val="solid"/>
          </a:ln>
        </p:spPr>
      </p:sp>
      <p:sp>
        <p:nvSpPr>
          <p:cNvPr id="41" name="Shape 37"/>
          <p:cNvSpPr/>
          <p:nvPr/>
        </p:nvSpPr>
        <p:spPr>
          <a:xfrm>
            <a:off x="7735824" y="1581912"/>
            <a:ext cx="36576" cy="1069848"/>
          </a:xfrm>
          <a:prstGeom prst="rect">
            <a:avLst/>
          </a:prstGeom>
          <a:solidFill>
            <a:srgbClr val="008F8B"/>
          </a:solidFill>
          <a:ln w="12700">
            <a:solidFill>
              <a:srgbClr val="008F8B"/>
            </a:solidFill>
            <a:prstDash val="solid"/>
          </a:ln>
        </p:spPr>
      </p:sp>
      <p:sp>
        <p:nvSpPr>
          <p:cNvPr id="42" name="Text 38"/>
          <p:cNvSpPr/>
          <p:nvPr/>
        </p:nvSpPr>
        <p:spPr>
          <a:xfrm>
            <a:off x="7872984" y="1563624"/>
            <a:ext cx="3822192" cy="320040"/>
          </a:xfrm>
          <a:prstGeom prst="rect">
            <a:avLst/>
          </a:prstGeom>
          <a:noFill/>
          <a:ln/>
        </p:spPr>
        <p:txBody>
          <a:bodyPr wrap="square" lIns="0" tIns="0" rIns="0" bIns="0" rtlCol="0" anchor="ctr"/>
          <a:lstStyle/>
          <a:p>
            <a:pPr indent="0" marL="0">
              <a:buNone/>
            </a:pPr>
            <a:r>
              <a:rPr lang="en-US" sz="1500" b="1" dirty="0">
                <a:solidFill>
                  <a:srgbClr val="008F8B"/>
                </a:solidFill>
                <a:latin typeface="Arial" pitchFamily="34" charset="0"/>
                <a:ea typeface="Arial" pitchFamily="34" charset="-122"/>
                <a:cs typeface="Arial" pitchFamily="34" charset="-120"/>
              </a:rPr>
              <a:t>What makes the concept distinct</a:t>
            </a:r>
            <a:endParaRPr lang="en-US" sz="1500" dirty="0"/>
          </a:p>
        </p:txBody>
      </p:sp>
      <p:sp>
        <p:nvSpPr>
          <p:cNvPr id="43" name="Text 39"/>
          <p:cNvSpPr/>
          <p:nvPr/>
        </p:nvSpPr>
        <p:spPr>
          <a:xfrm>
            <a:off x="7872984" y="1947672"/>
            <a:ext cx="3803904" cy="731520"/>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Evidence beside every summary; uncertainty visible; clinicians approve, correct or reject. Not a claim of market exclusivity.</a:t>
            </a:r>
            <a:endParaRPr lang="en-US" sz="1250" dirty="0"/>
          </a:p>
        </p:txBody>
      </p:sp>
      <p:sp>
        <p:nvSpPr>
          <p:cNvPr id="44" name="Shape 40"/>
          <p:cNvSpPr/>
          <p:nvPr/>
        </p:nvSpPr>
        <p:spPr>
          <a:xfrm>
            <a:off x="7717536" y="2935224"/>
            <a:ext cx="4114800" cy="1289304"/>
          </a:xfrm>
          <a:prstGeom prst="roundRect">
            <a:avLst>
              <a:gd name="adj" fmla="val 8511"/>
            </a:avLst>
          </a:prstGeom>
          <a:solidFill>
            <a:srgbClr val="EAF4FA"/>
          </a:solidFill>
          <a:ln w="10160">
            <a:solidFill>
              <a:srgbClr val="C5D9E3"/>
            </a:solidFill>
            <a:prstDash val="solid"/>
          </a:ln>
        </p:spPr>
      </p:sp>
      <p:sp>
        <p:nvSpPr>
          <p:cNvPr id="45" name="Shape 41"/>
          <p:cNvSpPr/>
          <p:nvPr/>
        </p:nvSpPr>
        <p:spPr>
          <a:xfrm>
            <a:off x="7735824" y="3072384"/>
            <a:ext cx="36576" cy="1014984"/>
          </a:xfrm>
          <a:prstGeom prst="rect">
            <a:avLst/>
          </a:prstGeom>
          <a:solidFill>
            <a:srgbClr val="087FB8"/>
          </a:solidFill>
          <a:ln w="12700">
            <a:solidFill>
              <a:srgbClr val="087FB8"/>
            </a:solidFill>
            <a:prstDash val="solid"/>
          </a:ln>
        </p:spPr>
      </p:sp>
      <p:sp>
        <p:nvSpPr>
          <p:cNvPr id="46" name="Text 42"/>
          <p:cNvSpPr/>
          <p:nvPr/>
        </p:nvSpPr>
        <p:spPr>
          <a:xfrm>
            <a:off x="7872984" y="3054096"/>
            <a:ext cx="3822192" cy="320040"/>
          </a:xfrm>
          <a:prstGeom prst="rect">
            <a:avLst/>
          </a:prstGeom>
          <a:noFill/>
          <a:ln/>
        </p:spPr>
        <p:txBody>
          <a:bodyPr wrap="square" lIns="0" tIns="0" rIns="0" bIns="0" rtlCol="0" anchor="ctr"/>
          <a:lstStyle/>
          <a:p>
            <a:pPr indent="0" marL="0">
              <a:buNone/>
            </a:pPr>
            <a:r>
              <a:rPr lang="en-US" sz="1500" b="1" dirty="0">
                <a:solidFill>
                  <a:srgbClr val="087FB8"/>
                </a:solidFill>
                <a:latin typeface="Arial" pitchFamily="34" charset="0"/>
                <a:ea typeface="Arial" pitchFamily="34" charset="-122"/>
                <a:cs typeface="Arial" pitchFamily="34" charset="-120"/>
              </a:rPr>
              <a:t>MVP boundary</a:t>
            </a:r>
            <a:endParaRPr lang="en-US" sz="1500" dirty="0"/>
          </a:p>
        </p:txBody>
      </p:sp>
      <p:sp>
        <p:nvSpPr>
          <p:cNvPr id="47" name="Text 43"/>
          <p:cNvSpPr/>
          <p:nvPr/>
        </p:nvSpPr>
        <p:spPr>
          <a:xfrm>
            <a:off x="7872984" y="3438144"/>
            <a:ext cx="3803904" cy="676656"/>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Login + consent → upload → extraction → timeline → doctor review → appointment / follow-up.</a:t>
            </a:r>
            <a:endParaRPr lang="en-US" sz="1250" dirty="0"/>
          </a:p>
        </p:txBody>
      </p:sp>
      <p:sp>
        <p:nvSpPr>
          <p:cNvPr id="48" name="Shape 44"/>
          <p:cNvSpPr/>
          <p:nvPr/>
        </p:nvSpPr>
        <p:spPr>
          <a:xfrm>
            <a:off x="7717536" y="4398264"/>
            <a:ext cx="4114800" cy="1234440"/>
          </a:xfrm>
          <a:prstGeom prst="roundRect">
            <a:avLst>
              <a:gd name="adj" fmla="val 8889"/>
            </a:avLst>
          </a:prstGeom>
          <a:solidFill>
            <a:srgbClr val="F0ECF8"/>
          </a:solidFill>
          <a:ln w="10160">
            <a:solidFill>
              <a:srgbClr val="C5D9E3"/>
            </a:solidFill>
            <a:prstDash val="solid"/>
          </a:ln>
        </p:spPr>
      </p:sp>
      <p:sp>
        <p:nvSpPr>
          <p:cNvPr id="49" name="Shape 45"/>
          <p:cNvSpPr/>
          <p:nvPr/>
        </p:nvSpPr>
        <p:spPr>
          <a:xfrm>
            <a:off x="7735824" y="4535424"/>
            <a:ext cx="36576" cy="960120"/>
          </a:xfrm>
          <a:prstGeom prst="rect">
            <a:avLst/>
          </a:prstGeom>
          <a:solidFill>
            <a:srgbClr val="6C5B96"/>
          </a:solidFill>
          <a:ln w="12700">
            <a:solidFill>
              <a:srgbClr val="6C5B96"/>
            </a:solidFill>
            <a:prstDash val="solid"/>
          </a:ln>
        </p:spPr>
      </p:sp>
      <p:sp>
        <p:nvSpPr>
          <p:cNvPr id="50" name="Text 46"/>
          <p:cNvSpPr/>
          <p:nvPr/>
        </p:nvSpPr>
        <p:spPr>
          <a:xfrm>
            <a:off x="7872984" y="4517136"/>
            <a:ext cx="3822192" cy="320040"/>
          </a:xfrm>
          <a:prstGeom prst="rect">
            <a:avLst/>
          </a:prstGeom>
          <a:noFill/>
          <a:ln/>
        </p:spPr>
        <p:txBody>
          <a:bodyPr wrap="square" lIns="0" tIns="0" rIns="0" bIns="0" rtlCol="0" anchor="ctr"/>
          <a:lstStyle/>
          <a:p>
            <a:pPr indent="0" marL="0">
              <a:buNone/>
            </a:pPr>
            <a:r>
              <a:rPr lang="en-US" sz="1500" b="1" dirty="0">
                <a:solidFill>
                  <a:srgbClr val="6C5B96"/>
                </a:solidFill>
                <a:latin typeface="Arial" pitchFamily="34" charset="0"/>
                <a:ea typeface="Arial" pitchFamily="34" charset="-122"/>
                <a:cs typeface="Arial" pitchFamily="34" charset="-120"/>
              </a:rPr>
              <a:t>Later scope</a:t>
            </a:r>
            <a:endParaRPr lang="en-US" sz="1500" dirty="0"/>
          </a:p>
        </p:txBody>
      </p:sp>
      <p:sp>
        <p:nvSpPr>
          <p:cNvPr id="51" name="Text 47"/>
          <p:cNvSpPr/>
          <p:nvPr/>
        </p:nvSpPr>
        <p:spPr>
          <a:xfrm>
            <a:off x="7872984" y="4901184"/>
            <a:ext cx="3803904" cy="621792"/>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Voice / languages; labs / pharmacies; bill duplicates, arithmetic and tariff-based charge queries—all require validation.</a:t>
            </a:r>
            <a:endParaRPr lang="en-US" sz="1250" dirty="0"/>
          </a:p>
        </p:txBody>
      </p:sp>
      <p:sp>
        <p:nvSpPr>
          <p:cNvPr id="52" name="Text 48"/>
          <p:cNvSpPr/>
          <p:nvPr/>
        </p:nvSpPr>
        <p:spPr>
          <a:xfrm>
            <a:off x="502920" y="3785616"/>
            <a:ext cx="3657600"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FEATURE HIERARCHY</a:t>
            </a:r>
            <a:endParaRPr lang="en-US" sz="1050" dirty="0"/>
          </a:p>
        </p:txBody>
      </p:sp>
      <p:sp>
        <p:nvSpPr>
          <p:cNvPr id="53" name="Shape 49"/>
          <p:cNvSpPr/>
          <p:nvPr/>
        </p:nvSpPr>
        <p:spPr>
          <a:xfrm>
            <a:off x="2697480" y="4123944"/>
            <a:ext cx="2624328" cy="384048"/>
          </a:xfrm>
          <a:prstGeom prst="roundRect">
            <a:avLst>
              <a:gd name="adj" fmla="val 28571"/>
            </a:avLst>
          </a:prstGeom>
          <a:solidFill>
            <a:srgbClr val="103A59"/>
          </a:solidFill>
          <a:ln w="10160">
            <a:solidFill>
              <a:srgbClr val="103A59"/>
            </a:solidFill>
            <a:prstDash val="solid"/>
          </a:ln>
        </p:spPr>
      </p:sp>
      <p:sp>
        <p:nvSpPr>
          <p:cNvPr id="54" name="Text 50"/>
          <p:cNvSpPr/>
          <p:nvPr/>
        </p:nvSpPr>
        <p:spPr>
          <a:xfrm>
            <a:off x="2798064" y="4178808"/>
            <a:ext cx="2423160" cy="228600"/>
          </a:xfrm>
          <a:prstGeom prst="rect">
            <a:avLst/>
          </a:prstGeom>
          <a:noFill/>
          <a:ln/>
        </p:spPr>
        <p:txBody>
          <a:bodyPr wrap="square" lIns="0" tIns="0" rIns="0" bIns="0" rtlCol="0" anchor="ctr"/>
          <a:lstStyle/>
          <a:p>
            <a:pPr algn="ctr" indent="0" marL="0">
              <a:buNone/>
            </a:pPr>
            <a:r>
              <a:rPr lang="en-US" sz="1210" b="1" dirty="0">
                <a:solidFill>
                  <a:srgbClr val="FFFFFF"/>
                </a:solidFill>
                <a:latin typeface="Arial" pitchFamily="34" charset="0"/>
                <a:ea typeface="Arial" pitchFamily="34" charset="-122"/>
                <a:cs typeface="Arial" pitchFamily="34" charset="-120"/>
              </a:rPr>
              <a:t>Connected medical record</a:t>
            </a:r>
            <a:endParaRPr lang="en-US" sz="1210" dirty="0"/>
          </a:p>
        </p:txBody>
      </p:sp>
      <p:sp>
        <p:nvSpPr>
          <p:cNvPr id="55" name="Shape 51"/>
          <p:cNvSpPr/>
          <p:nvPr/>
        </p:nvSpPr>
        <p:spPr>
          <a:xfrm>
            <a:off x="3995928" y="4517136"/>
            <a:ext cx="914" cy="164592"/>
          </a:xfrm>
          <a:prstGeom prst="line">
            <a:avLst/>
          </a:prstGeom>
          <a:noFill/>
          <a:ln w="16510">
            <a:solidFill>
              <a:srgbClr val="087FB8"/>
            </a:solidFill>
            <a:prstDash val="solid"/>
          </a:ln>
        </p:spPr>
      </p:sp>
      <p:sp>
        <p:nvSpPr>
          <p:cNvPr id="56" name="Shape 52"/>
          <p:cNvSpPr/>
          <p:nvPr/>
        </p:nvSpPr>
        <p:spPr>
          <a:xfrm>
            <a:off x="1627632" y="4681728"/>
            <a:ext cx="4709160" cy="914"/>
          </a:xfrm>
          <a:prstGeom prst="line">
            <a:avLst/>
          </a:prstGeom>
          <a:noFill/>
          <a:ln w="16510">
            <a:solidFill>
              <a:srgbClr val="087FB8"/>
            </a:solidFill>
            <a:prstDash val="solid"/>
          </a:ln>
        </p:spPr>
      </p:sp>
      <p:sp>
        <p:nvSpPr>
          <p:cNvPr id="57" name="Shape 53"/>
          <p:cNvSpPr/>
          <p:nvPr/>
        </p:nvSpPr>
        <p:spPr>
          <a:xfrm>
            <a:off x="1581912" y="4681728"/>
            <a:ext cx="914" cy="210312"/>
          </a:xfrm>
          <a:prstGeom prst="line">
            <a:avLst/>
          </a:prstGeom>
          <a:noFill/>
          <a:ln w="13970">
            <a:solidFill>
              <a:srgbClr val="087FB8"/>
            </a:solidFill>
            <a:prstDash val="solid"/>
            <a:tailEnd type="triangle"/>
          </a:ln>
        </p:spPr>
      </p:sp>
      <p:sp>
        <p:nvSpPr>
          <p:cNvPr id="58" name="Shape 54"/>
          <p:cNvSpPr/>
          <p:nvPr/>
        </p:nvSpPr>
        <p:spPr>
          <a:xfrm>
            <a:off x="502920" y="4910328"/>
            <a:ext cx="2185416" cy="987552"/>
          </a:xfrm>
          <a:prstGeom prst="roundRect">
            <a:avLst>
              <a:gd name="adj" fmla="val 11111"/>
            </a:avLst>
          </a:prstGeom>
          <a:solidFill>
            <a:srgbClr val="EAF4FA"/>
          </a:solidFill>
          <a:ln w="10160">
            <a:solidFill>
              <a:srgbClr val="C5D9E3"/>
            </a:solidFill>
            <a:prstDash val="solid"/>
          </a:ln>
        </p:spPr>
      </p:sp>
      <p:sp>
        <p:nvSpPr>
          <p:cNvPr id="59" name="Text 55"/>
          <p:cNvSpPr/>
          <p:nvPr/>
        </p:nvSpPr>
        <p:spPr>
          <a:xfrm>
            <a:off x="594360" y="5029200"/>
            <a:ext cx="2002536" cy="201168"/>
          </a:xfrm>
          <a:prstGeom prst="rect">
            <a:avLst/>
          </a:prstGeom>
          <a:noFill/>
          <a:ln/>
        </p:spPr>
        <p:txBody>
          <a:bodyPr wrap="square" lIns="0" tIns="0" rIns="0" bIns="0" rtlCol="0" anchor="ctr"/>
          <a:lstStyle/>
          <a:p>
            <a:pPr indent="0" marL="0">
              <a:buNone/>
            </a:pPr>
            <a:r>
              <a:rPr lang="en-US" sz="1050" b="1" dirty="0">
                <a:solidFill>
                  <a:srgbClr val="087FB8"/>
                </a:solidFill>
                <a:latin typeface="Arial" pitchFamily="34" charset="0"/>
                <a:ea typeface="Arial" pitchFamily="34" charset="-122"/>
                <a:cs typeface="Arial" pitchFamily="34" charset="-120"/>
              </a:rPr>
              <a:t>REPORT CORE</a:t>
            </a:r>
            <a:endParaRPr lang="en-US" sz="1050" dirty="0"/>
          </a:p>
        </p:txBody>
      </p:sp>
      <p:sp>
        <p:nvSpPr>
          <p:cNvPr id="60" name="Text 56"/>
          <p:cNvSpPr/>
          <p:nvPr/>
        </p:nvSpPr>
        <p:spPr>
          <a:xfrm>
            <a:off x="594360" y="5349240"/>
            <a:ext cx="2002536" cy="411480"/>
          </a:xfrm>
          <a:prstGeom prst="rect">
            <a:avLst/>
          </a:prstGeom>
          <a:noFill/>
          <a:ln/>
        </p:spPr>
        <p:txBody>
          <a:bodyPr wrap="square" lIns="0" tIns="0" rIns="0" bIns="0" rtlCol="0" anchor="ctr"/>
          <a:lstStyle/>
          <a:p>
            <a:pPr indent="0" marL="0">
              <a:buNone/>
            </a:pPr>
            <a:r>
              <a:rPr lang="en-US" sz="1070" dirty="0">
                <a:solidFill>
                  <a:srgbClr val="233B4C"/>
                </a:solidFill>
                <a:latin typeface="Arial" pitchFamily="34" charset="0"/>
                <a:ea typeface="Arial" pitchFamily="34" charset="-122"/>
                <a:cs typeface="Arial" pitchFamily="34" charset="-120"/>
              </a:rPr>
              <a:t>Upload • OCR • source links</a:t>
            </a:r>
            <a:endParaRPr lang="en-US" sz="1070" dirty="0"/>
          </a:p>
          <a:p>
            <a:pPr indent="0" marL="0">
              <a:buNone/>
            </a:pPr>
            <a:r>
              <a:rPr lang="en-US" sz="1070" dirty="0">
                <a:solidFill>
                  <a:srgbClr val="233B4C"/>
                </a:solidFill>
                <a:latin typeface="Arial" pitchFamily="34" charset="0"/>
                <a:ea typeface="Arial" pitchFamily="34" charset="-122"/>
                <a:cs typeface="Arial" pitchFamily="34" charset="-120"/>
              </a:rPr>
              <a:t>Timeline • concise doctor brief</a:t>
            </a:r>
            <a:endParaRPr lang="en-US" sz="1070" dirty="0"/>
          </a:p>
        </p:txBody>
      </p:sp>
      <p:sp>
        <p:nvSpPr>
          <p:cNvPr id="61" name="Shape 57"/>
          <p:cNvSpPr/>
          <p:nvPr/>
        </p:nvSpPr>
        <p:spPr>
          <a:xfrm>
            <a:off x="3950208" y="4681728"/>
            <a:ext cx="914" cy="210312"/>
          </a:xfrm>
          <a:prstGeom prst="line">
            <a:avLst/>
          </a:prstGeom>
          <a:noFill/>
          <a:ln w="13970">
            <a:solidFill>
              <a:srgbClr val="087FB8"/>
            </a:solidFill>
            <a:prstDash val="solid"/>
            <a:tailEnd type="triangle"/>
          </a:ln>
        </p:spPr>
      </p:sp>
      <p:sp>
        <p:nvSpPr>
          <p:cNvPr id="62" name="Shape 58"/>
          <p:cNvSpPr/>
          <p:nvPr/>
        </p:nvSpPr>
        <p:spPr>
          <a:xfrm>
            <a:off x="2871216" y="4910328"/>
            <a:ext cx="2185416" cy="987552"/>
          </a:xfrm>
          <a:prstGeom prst="roundRect">
            <a:avLst>
              <a:gd name="adj" fmla="val 11111"/>
            </a:avLst>
          </a:prstGeom>
          <a:solidFill>
            <a:srgbClr val="EAF4FA"/>
          </a:solidFill>
          <a:ln w="10160">
            <a:solidFill>
              <a:srgbClr val="C5D9E3"/>
            </a:solidFill>
            <a:prstDash val="solid"/>
          </a:ln>
        </p:spPr>
      </p:sp>
      <p:sp>
        <p:nvSpPr>
          <p:cNvPr id="63" name="Text 59"/>
          <p:cNvSpPr/>
          <p:nvPr/>
        </p:nvSpPr>
        <p:spPr>
          <a:xfrm>
            <a:off x="2962656" y="5029200"/>
            <a:ext cx="2002536" cy="201168"/>
          </a:xfrm>
          <a:prstGeom prst="rect">
            <a:avLst/>
          </a:prstGeom>
          <a:noFill/>
          <a:ln/>
        </p:spPr>
        <p:txBody>
          <a:bodyPr wrap="square" lIns="0" tIns="0" rIns="0" bIns="0" rtlCol="0" anchor="ctr"/>
          <a:lstStyle/>
          <a:p>
            <a:pPr indent="0" marL="0">
              <a:buNone/>
            </a:pPr>
            <a:r>
              <a:rPr lang="en-US" sz="1050" b="1" dirty="0">
                <a:solidFill>
                  <a:srgbClr val="087FB8"/>
                </a:solidFill>
                <a:latin typeface="Arial" pitchFamily="34" charset="0"/>
                <a:ea typeface="Arial" pitchFamily="34" charset="-122"/>
                <a:cs typeface="Arial" pitchFamily="34" charset="-120"/>
              </a:rPr>
              <a:t>CARE COORDINATION</a:t>
            </a:r>
            <a:endParaRPr lang="en-US" sz="1050" dirty="0"/>
          </a:p>
        </p:txBody>
      </p:sp>
      <p:sp>
        <p:nvSpPr>
          <p:cNvPr id="64" name="Text 60"/>
          <p:cNvSpPr/>
          <p:nvPr/>
        </p:nvSpPr>
        <p:spPr>
          <a:xfrm>
            <a:off x="2962656" y="5349240"/>
            <a:ext cx="2002536" cy="411480"/>
          </a:xfrm>
          <a:prstGeom prst="rect">
            <a:avLst/>
          </a:prstGeom>
          <a:noFill/>
          <a:ln/>
        </p:spPr>
        <p:txBody>
          <a:bodyPr wrap="square" lIns="0" tIns="0" rIns="0" bIns="0" rtlCol="0" anchor="ctr"/>
          <a:lstStyle/>
          <a:p>
            <a:pPr indent="0" marL="0">
              <a:buNone/>
            </a:pPr>
            <a:r>
              <a:rPr lang="en-US" sz="1070" dirty="0">
                <a:solidFill>
                  <a:srgbClr val="233B4C"/>
                </a:solidFill>
                <a:latin typeface="Arial" pitchFamily="34" charset="0"/>
                <a:ea typeface="Arial" pitchFamily="34" charset="-122"/>
                <a:cs typeface="Arial" pitchFamily="34" charset="-120"/>
              </a:rPr>
              <a:t>Discovery* • booking • reminders</a:t>
            </a:r>
            <a:endParaRPr lang="en-US" sz="1070" dirty="0"/>
          </a:p>
          <a:p>
            <a:pPr indent="0" marL="0">
              <a:buNone/>
            </a:pPr>
            <a:r>
              <a:rPr lang="en-US" sz="1070" dirty="0">
                <a:solidFill>
                  <a:srgbClr val="233B4C"/>
                </a:solidFill>
                <a:latin typeface="Arial" pitchFamily="34" charset="0"/>
                <a:ea typeface="Arial" pitchFamily="34" charset="-122"/>
                <a:cs typeface="Arial" pitchFamily="34" charset="-120"/>
              </a:rPr>
              <a:t>Clinician notes • medication plan</a:t>
            </a:r>
            <a:endParaRPr lang="en-US" sz="1070" dirty="0"/>
          </a:p>
        </p:txBody>
      </p:sp>
      <p:sp>
        <p:nvSpPr>
          <p:cNvPr id="65" name="Shape 61"/>
          <p:cNvSpPr/>
          <p:nvPr/>
        </p:nvSpPr>
        <p:spPr>
          <a:xfrm>
            <a:off x="6318504" y="4681728"/>
            <a:ext cx="914" cy="210312"/>
          </a:xfrm>
          <a:prstGeom prst="line">
            <a:avLst/>
          </a:prstGeom>
          <a:noFill/>
          <a:ln w="13970">
            <a:solidFill>
              <a:srgbClr val="087FB8"/>
            </a:solidFill>
            <a:prstDash val="solid"/>
            <a:tailEnd type="triangle"/>
          </a:ln>
        </p:spPr>
      </p:sp>
      <p:sp>
        <p:nvSpPr>
          <p:cNvPr id="66" name="Shape 62"/>
          <p:cNvSpPr/>
          <p:nvPr/>
        </p:nvSpPr>
        <p:spPr>
          <a:xfrm>
            <a:off x="5239512" y="4910328"/>
            <a:ext cx="2185416" cy="987552"/>
          </a:xfrm>
          <a:prstGeom prst="roundRect">
            <a:avLst>
              <a:gd name="adj" fmla="val 11111"/>
            </a:avLst>
          </a:prstGeom>
          <a:solidFill>
            <a:srgbClr val="F0ECF8"/>
          </a:solidFill>
          <a:ln w="10160">
            <a:solidFill>
              <a:srgbClr val="C5D9E3"/>
            </a:solidFill>
            <a:prstDash val="solid"/>
          </a:ln>
        </p:spPr>
      </p:sp>
      <p:sp>
        <p:nvSpPr>
          <p:cNvPr id="67" name="Text 63"/>
          <p:cNvSpPr/>
          <p:nvPr/>
        </p:nvSpPr>
        <p:spPr>
          <a:xfrm>
            <a:off x="5330952" y="5029200"/>
            <a:ext cx="2002536" cy="201168"/>
          </a:xfrm>
          <a:prstGeom prst="rect">
            <a:avLst/>
          </a:prstGeom>
          <a:noFill/>
          <a:ln/>
        </p:spPr>
        <p:txBody>
          <a:bodyPr wrap="square" lIns="0" tIns="0" rIns="0" bIns="0" rtlCol="0" anchor="ctr"/>
          <a:lstStyle/>
          <a:p>
            <a:pPr indent="0" marL="0">
              <a:buNone/>
            </a:pPr>
            <a:r>
              <a:rPr lang="en-US" sz="1050" b="1" dirty="0">
                <a:solidFill>
                  <a:srgbClr val="6C5B96"/>
                </a:solidFill>
                <a:latin typeface="Arial" pitchFamily="34" charset="0"/>
                <a:ea typeface="Arial" pitchFamily="34" charset="-122"/>
                <a:cs typeface="Arial" pitchFamily="34" charset="-120"/>
              </a:rPr>
              <a:t>SUPPORT / EXTEND</a:t>
            </a:r>
            <a:endParaRPr lang="en-US" sz="1050" dirty="0"/>
          </a:p>
        </p:txBody>
      </p:sp>
      <p:sp>
        <p:nvSpPr>
          <p:cNvPr id="68" name="Text 64"/>
          <p:cNvSpPr/>
          <p:nvPr/>
        </p:nvSpPr>
        <p:spPr>
          <a:xfrm>
            <a:off x="5330952" y="5349240"/>
            <a:ext cx="2002536" cy="411480"/>
          </a:xfrm>
          <a:prstGeom prst="rect">
            <a:avLst/>
          </a:prstGeom>
          <a:noFill/>
          <a:ln/>
        </p:spPr>
        <p:txBody>
          <a:bodyPr wrap="square" lIns="0" tIns="0" rIns="0" bIns="0" rtlCol="0" anchor="ctr"/>
          <a:lstStyle/>
          <a:p>
            <a:pPr indent="0" marL="0">
              <a:buNone/>
            </a:pPr>
            <a:r>
              <a:rPr lang="en-US" sz="1070" dirty="0">
                <a:solidFill>
                  <a:srgbClr val="233B4C"/>
                </a:solidFill>
                <a:latin typeface="Arial" pitchFamily="34" charset="0"/>
                <a:ea typeface="Arial" pitchFamily="34" charset="-122"/>
                <a:cs typeface="Arial" pitchFamily="34" charset="-120"/>
              </a:rPr>
              <a:t>Review flags • bill queries</a:t>
            </a:r>
            <a:endParaRPr lang="en-US" sz="1070" dirty="0"/>
          </a:p>
          <a:p>
            <a:pPr indent="0" marL="0">
              <a:buNone/>
            </a:pPr>
            <a:r>
              <a:rPr lang="en-US" sz="1070" dirty="0">
                <a:solidFill>
                  <a:srgbClr val="233B4C"/>
                </a:solidFill>
                <a:latin typeface="Arial" pitchFamily="34" charset="0"/>
                <a:ea typeface="Arial" pitchFamily="34" charset="-122"/>
                <a:cs typeface="Arial" pitchFamily="34" charset="-120"/>
              </a:rPr>
              <a:t>Voice* • future lab / pharmacy</a:t>
            </a:r>
            <a:endParaRPr lang="en-US" sz="1070" dirty="0"/>
          </a:p>
        </p:txBody>
      </p:sp>
      <p:sp>
        <p:nvSpPr>
          <p:cNvPr id="69" name="Text 65"/>
          <p:cNvSpPr/>
          <p:nvPr/>
        </p:nvSpPr>
        <p:spPr>
          <a:xfrm>
            <a:off x="521208" y="6062472"/>
            <a:ext cx="11073384" cy="155448"/>
          </a:xfrm>
          <a:prstGeom prst="rect">
            <a:avLst/>
          </a:prstGeom>
          <a:noFill/>
          <a:ln/>
        </p:spPr>
        <p:txBody>
          <a:bodyPr wrap="square" lIns="0" tIns="0" rIns="0" bIns="0" rtlCol="0" anchor="ctr"/>
          <a:lstStyle/>
          <a:p>
            <a:pPr indent="0" marL="0">
              <a:buNone/>
            </a:pPr>
            <a:r>
              <a:rPr lang="en-US" sz="960" dirty="0">
                <a:solidFill>
                  <a:srgbClr val="5E7281"/>
                </a:solidFill>
                <a:latin typeface="Arial" pitchFamily="34" charset="0"/>
                <a:ea typeface="Arial" pitchFamily="34" charset="-122"/>
                <a:cs typeface="Arial" pitchFamily="34" charset="-120"/>
              </a:rPr>
              <a:t>*Discovery needs location permission + provider directory. Bill charge queries need reliable tariff context; flags are not fraud findings.</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END-TO-END WORKFLOW</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Nine stages. One accountable clinical loop.</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Registration to follow-up, with consent, extraction recovery and clinician review built into the handoffs.</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04 / 12</a:t>
            </a:r>
            <a:endParaRPr lang="en-US" sz="950" dirty="0"/>
          </a:p>
        </p:txBody>
      </p:sp>
      <p:sp>
        <p:nvSpPr>
          <p:cNvPr id="22" name="Shape 18"/>
          <p:cNvSpPr/>
          <p:nvPr/>
        </p:nvSpPr>
        <p:spPr>
          <a:xfrm>
            <a:off x="502920" y="1563624"/>
            <a:ext cx="2688336" cy="1216152"/>
          </a:xfrm>
          <a:prstGeom prst="roundRect">
            <a:avLst>
              <a:gd name="adj" fmla="val 9023"/>
            </a:avLst>
          </a:prstGeom>
          <a:solidFill>
            <a:srgbClr val="EAF4FA"/>
          </a:solidFill>
          <a:ln w="10160">
            <a:solidFill>
              <a:srgbClr val="C5D9E3"/>
            </a:solidFill>
            <a:prstDash val="solid"/>
          </a:ln>
        </p:spPr>
      </p:sp>
      <p:sp>
        <p:nvSpPr>
          <p:cNvPr id="23" name="Shape 19"/>
          <p:cNvSpPr/>
          <p:nvPr/>
        </p:nvSpPr>
        <p:spPr>
          <a:xfrm>
            <a:off x="612648" y="1673352"/>
            <a:ext cx="347472" cy="246888"/>
          </a:xfrm>
          <a:prstGeom prst="roundRect">
            <a:avLst>
              <a:gd name="adj" fmla="val 44444"/>
            </a:avLst>
          </a:prstGeom>
          <a:solidFill>
            <a:srgbClr val="FFFFFF"/>
          </a:solidFill>
          <a:ln w="10160">
            <a:solidFill>
              <a:srgbClr val="FFFFFF"/>
            </a:solidFill>
            <a:prstDash val="solid"/>
          </a:ln>
        </p:spPr>
      </p:sp>
      <p:sp>
        <p:nvSpPr>
          <p:cNvPr id="24" name="Text 20"/>
          <p:cNvSpPr/>
          <p:nvPr/>
        </p:nvSpPr>
        <p:spPr>
          <a:xfrm>
            <a:off x="676656" y="169621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01</a:t>
            </a:r>
            <a:endParaRPr lang="en-US" sz="1000" dirty="0"/>
          </a:p>
        </p:txBody>
      </p:sp>
      <p:sp>
        <p:nvSpPr>
          <p:cNvPr id="25" name="Text 21"/>
          <p:cNvSpPr/>
          <p:nvPr/>
        </p:nvSpPr>
        <p:spPr>
          <a:xfrm>
            <a:off x="1060704" y="165506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Register &amp; consent</a:t>
            </a:r>
            <a:endParaRPr lang="en-US" sz="1400" dirty="0"/>
          </a:p>
        </p:txBody>
      </p:sp>
      <p:sp>
        <p:nvSpPr>
          <p:cNvPr id="26" name="Text 22"/>
          <p:cNvSpPr/>
          <p:nvPr/>
        </p:nvSpPr>
        <p:spPr>
          <a:xfrm>
            <a:off x="630936" y="2093976"/>
            <a:ext cx="2432304" cy="594360"/>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Create account; select records, recipient, purpose and sharing period.</a:t>
            </a:r>
            <a:endParaRPr lang="en-US" sz="1170" dirty="0"/>
          </a:p>
        </p:txBody>
      </p:sp>
      <p:sp>
        <p:nvSpPr>
          <p:cNvPr id="27" name="Shape 23"/>
          <p:cNvSpPr/>
          <p:nvPr/>
        </p:nvSpPr>
        <p:spPr>
          <a:xfrm>
            <a:off x="3191256" y="2157984"/>
            <a:ext cx="164592" cy="914"/>
          </a:xfrm>
          <a:prstGeom prst="line">
            <a:avLst/>
          </a:prstGeom>
          <a:noFill/>
          <a:ln w="19050">
            <a:solidFill>
              <a:srgbClr val="087FB8"/>
            </a:solidFill>
            <a:prstDash val="solid"/>
            <a:tailEnd type="triangle"/>
          </a:ln>
        </p:spPr>
      </p:sp>
      <p:sp>
        <p:nvSpPr>
          <p:cNvPr id="28" name="Shape 24"/>
          <p:cNvSpPr/>
          <p:nvPr/>
        </p:nvSpPr>
        <p:spPr>
          <a:xfrm>
            <a:off x="3383280" y="1563624"/>
            <a:ext cx="2688336" cy="1216152"/>
          </a:xfrm>
          <a:prstGeom prst="roundRect">
            <a:avLst>
              <a:gd name="adj" fmla="val 9023"/>
            </a:avLst>
          </a:prstGeom>
          <a:solidFill>
            <a:srgbClr val="EAF4FA"/>
          </a:solidFill>
          <a:ln w="10160">
            <a:solidFill>
              <a:srgbClr val="C5D9E3"/>
            </a:solidFill>
            <a:prstDash val="solid"/>
          </a:ln>
        </p:spPr>
      </p:sp>
      <p:sp>
        <p:nvSpPr>
          <p:cNvPr id="29" name="Shape 25"/>
          <p:cNvSpPr/>
          <p:nvPr/>
        </p:nvSpPr>
        <p:spPr>
          <a:xfrm>
            <a:off x="3493008" y="1673352"/>
            <a:ext cx="347472" cy="246888"/>
          </a:xfrm>
          <a:prstGeom prst="roundRect">
            <a:avLst>
              <a:gd name="adj" fmla="val 44444"/>
            </a:avLst>
          </a:prstGeom>
          <a:solidFill>
            <a:srgbClr val="FFFFFF"/>
          </a:solidFill>
          <a:ln w="10160">
            <a:solidFill>
              <a:srgbClr val="FFFFFF"/>
            </a:solidFill>
            <a:prstDash val="solid"/>
          </a:ln>
        </p:spPr>
      </p:sp>
      <p:sp>
        <p:nvSpPr>
          <p:cNvPr id="30" name="Text 26"/>
          <p:cNvSpPr/>
          <p:nvPr/>
        </p:nvSpPr>
        <p:spPr>
          <a:xfrm>
            <a:off x="3557016" y="169621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02</a:t>
            </a:r>
            <a:endParaRPr lang="en-US" sz="1000" dirty="0"/>
          </a:p>
        </p:txBody>
      </p:sp>
      <p:sp>
        <p:nvSpPr>
          <p:cNvPr id="31" name="Text 27"/>
          <p:cNvSpPr/>
          <p:nvPr/>
        </p:nvSpPr>
        <p:spPr>
          <a:xfrm>
            <a:off x="3941064" y="165506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Upload history</a:t>
            </a:r>
            <a:endParaRPr lang="en-US" sz="1400" dirty="0"/>
          </a:p>
        </p:txBody>
      </p:sp>
      <p:sp>
        <p:nvSpPr>
          <p:cNvPr id="32" name="Text 28"/>
          <p:cNvSpPr/>
          <p:nvPr/>
        </p:nvSpPr>
        <p:spPr>
          <a:xfrm>
            <a:off x="3511296" y="2093976"/>
            <a:ext cx="2432304" cy="594360"/>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PDF / image reports; prescriptions; optional text / voice intake.</a:t>
            </a:r>
            <a:endParaRPr lang="en-US" sz="1170" dirty="0"/>
          </a:p>
        </p:txBody>
      </p:sp>
      <p:sp>
        <p:nvSpPr>
          <p:cNvPr id="33" name="Shape 29"/>
          <p:cNvSpPr/>
          <p:nvPr/>
        </p:nvSpPr>
        <p:spPr>
          <a:xfrm>
            <a:off x="6071616" y="2157984"/>
            <a:ext cx="164592" cy="914"/>
          </a:xfrm>
          <a:prstGeom prst="line">
            <a:avLst/>
          </a:prstGeom>
          <a:noFill/>
          <a:ln w="19050">
            <a:solidFill>
              <a:srgbClr val="087FB8"/>
            </a:solidFill>
            <a:prstDash val="solid"/>
            <a:tailEnd type="triangle"/>
          </a:ln>
        </p:spPr>
      </p:sp>
      <p:sp>
        <p:nvSpPr>
          <p:cNvPr id="34" name="Shape 30"/>
          <p:cNvSpPr/>
          <p:nvPr/>
        </p:nvSpPr>
        <p:spPr>
          <a:xfrm>
            <a:off x="6263640" y="1563624"/>
            <a:ext cx="2688336" cy="1216152"/>
          </a:xfrm>
          <a:prstGeom prst="roundRect">
            <a:avLst>
              <a:gd name="adj" fmla="val 9023"/>
            </a:avLst>
          </a:prstGeom>
          <a:solidFill>
            <a:srgbClr val="EAF4FA"/>
          </a:solidFill>
          <a:ln w="10160">
            <a:solidFill>
              <a:srgbClr val="C5D9E3"/>
            </a:solidFill>
            <a:prstDash val="solid"/>
          </a:ln>
        </p:spPr>
      </p:sp>
      <p:sp>
        <p:nvSpPr>
          <p:cNvPr id="35" name="Shape 31"/>
          <p:cNvSpPr/>
          <p:nvPr/>
        </p:nvSpPr>
        <p:spPr>
          <a:xfrm>
            <a:off x="6373368" y="1673352"/>
            <a:ext cx="347472" cy="246888"/>
          </a:xfrm>
          <a:prstGeom prst="roundRect">
            <a:avLst>
              <a:gd name="adj" fmla="val 44444"/>
            </a:avLst>
          </a:prstGeom>
          <a:solidFill>
            <a:srgbClr val="FFFFFF"/>
          </a:solidFill>
          <a:ln w="10160">
            <a:solidFill>
              <a:srgbClr val="FFFFFF"/>
            </a:solidFill>
            <a:prstDash val="solid"/>
          </a:ln>
        </p:spPr>
      </p:sp>
      <p:sp>
        <p:nvSpPr>
          <p:cNvPr id="36" name="Text 32"/>
          <p:cNvSpPr/>
          <p:nvPr/>
        </p:nvSpPr>
        <p:spPr>
          <a:xfrm>
            <a:off x="6437376" y="169621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03</a:t>
            </a:r>
            <a:endParaRPr lang="en-US" sz="1000" dirty="0"/>
          </a:p>
        </p:txBody>
      </p:sp>
      <p:sp>
        <p:nvSpPr>
          <p:cNvPr id="37" name="Text 33"/>
          <p:cNvSpPr/>
          <p:nvPr/>
        </p:nvSpPr>
        <p:spPr>
          <a:xfrm>
            <a:off x="6821424" y="165506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Extract evidence</a:t>
            </a:r>
            <a:endParaRPr lang="en-US" sz="1400" dirty="0"/>
          </a:p>
        </p:txBody>
      </p:sp>
      <p:sp>
        <p:nvSpPr>
          <p:cNvPr id="38" name="Text 34"/>
          <p:cNvSpPr/>
          <p:nvPr/>
        </p:nvSpPr>
        <p:spPr>
          <a:xfrm>
            <a:off x="6391656" y="2093976"/>
            <a:ext cx="2432304" cy="594360"/>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Validate file; parse digital PDF or run OCR; retain original.</a:t>
            </a:r>
            <a:endParaRPr lang="en-US" sz="1170" dirty="0"/>
          </a:p>
        </p:txBody>
      </p:sp>
      <p:sp>
        <p:nvSpPr>
          <p:cNvPr id="39" name="Shape 35"/>
          <p:cNvSpPr/>
          <p:nvPr/>
        </p:nvSpPr>
        <p:spPr>
          <a:xfrm>
            <a:off x="8951976" y="2157984"/>
            <a:ext cx="164592" cy="914"/>
          </a:xfrm>
          <a:prstGeom prst="line">
            <a:avLst/>
          </a:prstGeom>
          <a:noFill/>
          <a:ln w="19050">
            <a:solidFill>
              <a:srgbClr val="087FB8"/>
            </a:solidFill>
            <a:prstDash val="solid"/>
            <a:tailEnd type="triangle"/>
          </a:ln>
        </p:spPr>
      </p:sp>
      <p:sp>
        <p:nvSpPr>
          <p:cNvPr id="40" name="Shape 36"/>
          <p:cNvSpPr/>
          <p:nvPr/>
        </p:nvSpPr>
        <p:spPr>
          <a:xfrm>
            <a:off x="9144000" y="1563624"/>
            <a:ext cx="2688336" cy="1216152"/>
          </a:xfrm>
          <a:prstGeom prst="roundRect">
            <a:avLst>
              <a:gd name="adj" fmla="val 9023"/>
            </a:avLst>
          </a:prstGeom>
          <a:solidFill>
            <a:srgbClr val="EAF4FA"/>
          </a:solidFill>
          <a:ln w="10160">
            <a:solidFill>
              <a:srgbClr val="C5D9E3"/>
            </a:solidFill>
            <a:prstDash val="solid"/>
          </a:ln>
        </p:spPr>
      </p:sp>
      <p:sp>
        <p:nvSpPr>
          <p:cNvPr id="41" name="Shape 37"/>
          <p:cNvSpPr/>
          <p:nvPr/>
        </p:nvSpPr>
        <p:spPr>
          <a:xfrm>
            <a:off x="9253728" y="1673352"/>
            <a:ext cx="347472" cy="246888"/>
          </a:xfrm>
          <a:prstGeom prst="roundRect">
            <a:avLst>
              <a:gd name="adj" fmla="val 44444"/>
            </a:avLst>
          </a:prstGeom>
          <a:solidFill>
            <a:srgbClr val="FFFFFF"/>
          </a:solidFill>
          <a:ln w="10160">
            <a:solidFill>
              <a:srgbClr val="FFFFFF"/>
            </a:solidFill>
            <a:prstDash val="solid"/>
          </a:ln>
        </p:spPr>
      </p:sp>
      <p:sp>
        <p:nvSpPr>
          <p:cNvPr id="42" name="Text 38"/>
          <p:cNvSpPr/>
          <p:nvPr/>
        </p:nvSpPr>
        <p:spPr>
          <a:xfrm>
            <a:off x="9317736" y="169621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04</a:t>
            </a:r>
            <a:endParaRPr lang="en-US" sz="1000" dirty="0"/>
          </a:p>
        </p:txBody>
      </p:sp>
      <p:sp>
        <p:nvSpPr>
          <p:cNvPr id="43" name="Text 39"/>
          <p:cNvSpPr/>
          <p:nvPr/>
        </p:nvSpPr>
        <p:spPr>
          <a:xfrm>
            <a:off x="9701784" y="165506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Build history</a:t>
            </a:r>
            <a:endParaRPr lang="en-US" sz="1400" dirty="0"/>
          </a:p>
        </p:txBody>
      </p:sp>
      <p:sp>
        <p:nvSpPr>
          <p:cNvPr id="44" name="Text 40"/>
          <p:cNvSpPr/>
          <p:nvPr/>
        </p:nvSpPr>
        <p:spPr>
          <a:xfrm>
            <a:off x="9272016" y="2093976"/>
            <a:ext cx="2432304" cy="594360"/>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Organize dates, test names, values and source references.</a:t>
            </a:r>
            <a:endParaRPr lang="en-US" sz="1170" dirty="0"/>
          </a:p>
        </p:txBody>
      </p:sp>
      <p:sp>
        <p:nvSpPr>
          <p:cNvPr id="45" name="Shape 41"/>
          <p:cNvSpPr/>
          <p:nvPr/>
        </p:nvSpPr>
        <p:spPr>
          <a:xfrm>
            <a:off x="10497312" y="2816352"/>
            <a:ext cx="914" cy="347472"/>
          </a:xfrm>
          <a:prstGeom prst="line">
            <a:avLst/>
          </a:prstGeom>
          <a:noFill/>
          <a:ln w="19050">
            <a:solidFill>
              <a:srgbClr val="087FB8"/>
            </a:solidFill>
            <a:prstDash val="solid"/>
            <a:tailEnd type="triangle"/>
          </a:ln>
        </p:spPr>
      </p:sp>
      <p:sp>
        <p:nvSpPr>
          <p:cNvPr id="46" name="Text 42"/>
          <p:cNvSpPr/>
          <p:nvPr/>
        </p:nvSpPr>
        <p:spPr>
          <a:xfrm>
            <a:off x="9162288" y="2907792"/>
            <a:ext cx="1143000" cy="182880"/>
          </a:xfrm>
          <a:prstGeom prst="rect">
            <a:avLst/>
          </a:prstGeom>
          <a:noFill/>
          <a:ln/>
        </p:spPr>
        <p:txBody>
          <a:bodyPr wrap="square" lIns="0" tIns="0" rIns="0" bIns="0" rtlCol="0" anchor="ctr"/>
          <a:lstStyle/>
          <a:p>
            <a:pPr indent="0" marL="0">
              <a:buNone/>
            </a:pPr>
            <a:r>
              <a:rPr lang="en-US" sz="940" dirty="0">
                <a:solidFill>
                  <a:srgbClr val="087FB8"/>
                </a:solidFill>
                <a:latin typeface="Arial" pitchFamily="34" charset="0"/>
                <a:ea typeface="Arial" pitchFamily="34" charset="-122"/>
                <a:cs typeface="Arial" pitchFamily="34" charset="-120"/>
              </a:rPr>
              <a:t>evidence ready</a:t>
            </a:r>
            <a:endParaRPr lang="en-US" sz="940" dirty="0"/>
          </a:p>
        </p:txBody>
      </p:sp>
      <p:sp>
        <p:nvSpPr>
          <p:cNvPr id="47" name="Shape 43"/>
          <p:cNvSpPr/>
          <p:nvPr/>
        </p:nvSpPr>
        <p:spPr>
          <a:xfrm>
            <a:off x="8458200" y="3191256"/>
            <a:ext cx="3429000" cy="1234440"/>
          </a:xfrm>
          <a:prstGeom prst="roundRect">
            <a:avLst>
              <a:gd name="adj" fmla="val 8889"/>
            </a:avLst>
          </a:prstGeom>
          <a:solidFill>
            <a:srgbClr val="EAF4FA"/>
          </a:solidFill>
          <a:ln w="10160">
            <a:solidFill>
              <a:srgbClr val="C5D9E3"/>
            </a:solidFill>
            <a:prstDash val="solid"/>
          </a:ln>
        </p:spPr>
      </p:sp>
      <p:sp>
        <p:nvSpPr>
          <p:cNvPr id="48" name="Shape 44"/>
          <p:cNvSpPr/>
          <p:nvPr/>
        </p:nvSpPr>
        <p:spPr>
          <a:xfrm>
            <a:off x="8567928" y="3300984"/>
            <a:ext cx="347472" cy="246888"/>
          </a:xfrm>
          <a:prstGeom prst="roundRect">
            <a:avLst>
              <a:gd name="adj" fmla="val 44444"/>
            </a:avLst>
          </a:prstGeom>
          <a:solidFill>
            <a:srgbClr val="FFFFFF"/>
          </a:solidFill>
          <a:ln w="10160">
            <a:solidFill>
              <a:srgbClr val="FFFFFF"/>
            </a:solidFill>
            <a:prstDash val="solid"/>
          </a:ln>
        </p:spPr>
      </p:sp>
      <p:sp>
        <p:nvSpPr>
          <p:cNvPr id="49" name="Text 45"/>
          <p:cNvSpPr/>
          <p:nvPr/>
        </p:nvSpPr>
        <p:spPr>
          <a:xfrm>
            <a:off x="8631936" y="3323844"/>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05</a:t>
            </a:r>
            <a:endParaRPr lang="en-US" sz="1000" dirty="0"/>
          </a:p>
        </p:txBody>
      </p:sp>
      <p:sp>
        <p:nvSpPr>
          <p:cNvPr id="50" name="Text 46"/>
          <p:cNvSpPr/>
          <p:nvPr/>
        </p:nvSpPr>
        <p:spPr>
          <a:xfrm>
            <a:off x="9015984" y="3282696"/>
            <a:ext cx="2770632"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Draft source-linked brief</a:t>
            </a:r>
            <a:endParaRPr lang="en-US" sz="1400" dirty="0"/>
          </a:p>
        </p:txBody>
      </p:sp>
      <p:sp>
        <p:nvSpPr>
          <p:cNvPr id="51" name="Text 47"/>
          <p:cNvSpPr/>
          <p:nvPr/>
        </p:nvSpPr>
        <p:spPr>
          <a:xfrm>
            <a:off x="8586216" y="3721608"/>
            <a:ext cx="3172968" cy="61264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AI explains existing findings; flags gaps / conflicts; shows uncertainty.</a:t>
            </a:r>
            <a:endParaRPr lang="en-US" sz="1170" dirty="0"/>
          </a:p>
        </p:txBody>
      </p:sp>
      <p:sp>
        <p:nvSpPr>
          <p:cNvPr id="52" name="Shape 48"/>
          <p:cNvSpPr/>
          <p:nvPr/>
        </p:nvSpPr>
        <p:spPr>
          <a:xfrm flipH="1">
            <a:off x="8019288" y="3803904"/>
            <a:ext cx="393192" cy="914"/>
          </a:xfrm>
          <a:prstGeom prst="line">
            <a:avLst/>
          </a:prstGeom>
          <a:noFill/>
          <a:ln w="19050">
            <a:solidFill>
              <a:srgbClr val="087FB8"/>
            </a:solidFill>
            <a:prstDash val="solid"/>
            <a:tailEnd type="triangle"/>
          </a:ln>
        </p:spPr>
      </p:sp>
      <p:sp>
        <p:nvSpPr>
          <p:cNvPr id="53" name="Shape 49"/>
          <p:cNvSpPr/>
          <p:nvPr/>
        </p:nvSpPr>
        <p:spPr>
          <a:xfrm>
            <a:off x="4480560" y="3191256"/>
            <a:ext cx="3429000" cy="1234440"/>
          </a:xfrm>
          <a:prstGeom prst="roundRect">
            <a:avLst>
              <a:gd name="adj" fmla="val 8889"/>
            </a:avLst>
          </a:prstGeom>
          <a:solidFill>
            <a:srgbClr val="EAF4FA"/>
          </a:solidFill>
          <a:ln w="10160">
            <a:solidFill>
              <a:srgbClr val="C5D9E3"/>
            </a:solidFill>
            <a:prstDash val="solid"/>
          </a:ln>
        </p:spPr>
      </p:sp>
      <p:sp>
        <p:nvSpPr>
          <p:cNvPr id="54" name="Shape 50"/>
          <p:cNvSpPr/>
          <p:nvPr/>
        </p:nvSpPr>
        <p:spPr>
          <a:xfrm>
            <a:off x="4590288" y="3300984"/>
            <a:ext cx="347472" cy="246888"/>
          </a:xfrm>
          <a:prstGeom prst="roundRect">
            <a:avLst>
              <a:gd name="adj" fmla="val 44444"/>
            </a:avLst>
          </a:prstGeom>
          <a:solidFill>
            <a:srgbClr val="FFFFFF"/>
          </a:solidFill>
          <a:ln w="10160">
            <a:solidFill>
              <a:srgbClr val="FFFFFF"/>
            </a:solidFill>
            <a:prstDash val="solid"/>
          </a:ln>
        </p:spPr>
      </p:sp>
      <p:sp>
        <p:nvSpPr>
          <p:cNvPr id="55" name="Text 51"/>
          <p:cNvSpPr/>
          <p:nvPr/>
        </p:nvSpPr>
        <p:spPr>
          <a:xfrm>
            <a:off x="4654296" y="3323844"/>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06</a:t>
            </a:r>
            <a:endParaRPr lang="en-US" sz="1000" dirty="0"/>
          </a:p>
        </p:txBody>
      </p:sp>
      <p:sp>
        <p:nvSpPr>
          <p:cNvPr id="56" name="Text 52"/>
          <p:cNvSpPr/>
          <p:nvPr/>
        </p:nvSpPr>
        <p:spPr>
          <a:xfrm>
            <a:off x="5038344" y="3282696"/>
            <a:ext cx="2770632"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Coordinate care</a:t>
            </a:r>
            <a:endParaRPr lang="en-US" sz="1400" dirty="0"/>
          </a:p>
        </p:txBody>
      </p:sp>
      <p:sp>
        <p:nvSpPr>
          <p:cNvPr id="57" name="Text 53"/>
          <p:cNvSpPr/>
          <p:nvPr/>
        </p:nvSpPr>
        <p:spPr>
          <a:xfrm>
            <a:off x="4608576" y="3721608"/>
            <a:ext cx="3172968" cy="61264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Book visit, confirm schedule and provide consent-authorized access.</a:t>
            </a:r>
            <a:endParaRPr lang="en-US" sz="1170" dirty="0"/>
          </a:p>
        </p:txBody>
      </p:sp>
      <p:sp>
        <p:nvSpPr>
          <p:cNvPr id="58" name="Shape 54"/>
          <p:cNvSpPr/>
          <p:nvPr/>
        </p:nvSpPr>
        <p:spPr>
          <a:xfrm flipH="1">
            <a:off x="4041648" y="3803904"/>
            <a:ext cx="393192" cy="914"/>
          </a:xfrm>
          <a:prstGeom prst="line">
            <a:avLst/>
          </a:prstGeom>
          <a:noFill/>
          <a:ln w="19050">
            <a:solidFill>
              <a:srgbClr val="087FB8"/>
            </a:solidFill>
            <a:prstDash val="solid"/>
            <a:tailEnd type="triangle"/>
          </a:ln>
        </p:spPr>
      </p:sp>
      <p:sp>
        <p:nvSpPr>
          <p:cNvPr id="59" name="Shape 55"/>
          <p:cNvSpPr/>
          <p:nvPr/>
        </p:nvSpPr>
        <p:spPr>
          <a:xfrm>
            <a:off x="502920" y="3191256"/>
            <a:ext cx="3429000" cy="1234440"/>
          </a:xfrm>
          <a:prstGeom prst="roundRect">
            <a:avLst>
              <a:gd name="adj" fmla="val 8889"/>
            </a:avLst>
          </a:prstGeom>
          <a:solidFill>
            <a:srgbClr val="DFF5F3"/>
          </a:solidFill>
          <a:ln w="10160">
            <a:solidFill>
              <a:srgbClr val="C5D9E3"/>
            </a:solidFill>
            <a:prstDash val="solid"/>
          </a:ln>
        </p:spPr>
      </p:sp>
      <p:sp>
        <p:nvSpPr>
          <p:cNvPr id="60" name="Shape 56"/>
          <p:cNvSpPr/>
          <p:nvPr/>
        </p:nvSpPr>
        <p:spPr>
          <a:xfrm>
            <a:off x="612648" y="3300984"/>
            <a:ext cx="347472" cy="246888"/>
          </a:xfrm>
          <a:prstGeom prst="roundRect">
            <a:avLst>
              <a:gd name="adj" fmla="val 44444"/>
            </a:avLst>
          </a:prstGeom>
          <a:solidFill>
            <a:srgbClr val="FFFFFF"/>
          </a:solidFill>
          <a:ln w="10160">
            <a:solidFill>
              <a:srgbClr val="FFFFFF"/>
            </a:solidFill>
            <a:prstDash val="solid"/>
          </a:ln>
        </p:spPr>
      </p:sp>
      <p:sp>
        <p:nvSpPr>
          <p:cNvPr id="61" name="Text 57"/>
          <p:cNvSpPr/>
          <p:nvPr/>
        </p:nvSpPr>
        <p:spPr>
          <a:xfrm>
            <a:off x="676656" y="3323844"/>
            <a:ext cx="219456" cy="201168"/>
          </a:xfrm>
          <a:prstGeom prst="rect">
            <a:avLst/>
          </a:prstGeom>
          <a:noFill/>
          <a:ln/>
        </p:spPr>
        <p:txBody>
          <a:bodyPr wrap="square" lIns="0" tIns="0" rIns="0" bIns="0" rtlCol="0" anchor="ctr"/>
          <a:lstStyle/>
          <a:p>
            <a:pPr indent="0" marL="0">
              <a:buNone/>
            </a:pPr>
            <a:r>
              <a:rPr lang="en-US" sz="1000" b="1" dirty="0">
                <a:solidFill>
                  <a:srgbClr val="008F8B"/>
                </a:solidFill>
                <a:latin typeface="Arial" pitchFamily="34" charset="0"/>
                <a:ea typeface="Arial" pitchFamily="34" charset="-122"/>
                <a:cs typeface="Arial" pitchFamily="34" charset="-120"/>
              </a:rPr>
              <a:t>07</a:t>
            </a:r>
            <a:endParaRPr lang="en-US" sz="1000" dirty="0"/>
          </a:p>
        </p:txBody>
      </p:sp>
      <p:sp>
        <p:nvSpPr>
          <p:cNvPr id="62" name="Text 58"/>
          <p:cNvSpPr/>
          <p:nvPr/>
        </p:nvSpPr>
        <p:spPr>
          <a:xfrm>
            <a:off x="1060704" y="3282696"/>
            <a:ext cx="2770632" cy="329184"/>
          </a:xfrm>
          <a:prstGeom prst="rect">
            <a:avLst/>
          </a:prstGeom>
          <a:noFill/>
          <a:ln/>
        </p:spPr>
        <p:txBody>
          <a:bodyPr wrap="square" lIns="0" tIns="0" rIns="0" bIns="0" rtlCol="0" anchor="ctr"/>
          <a:lstStyle/>
          <a:p>
            <a:pPr indent="0" marL="0">
              <a:buNone/>
            </a:pPr>
            <a:r>
              <a:rPr lang="en-US" sz="1400" b="1" dirty="0">
                <a:solidFill>
                  <a:srgbClr val="008F8B"/>
                </a:solidFill>
                <a:latin typeface="Arial" pitchFamily="34" charset="0"/>
                <a:ea typeface="Arial" pitchFamily="34" charset="-122"/>
                <a:cs typeface="Arial" pitchFamily="34" charset="-120"/>
              </a:rPr>
              <a:t>Doctor verifies</a:t>
            </a:r>
            <a:endParaRPr lang="en-US" sz="1400" dirty="0"/>
          </a:p>
        </p:txBody>
      </p:sp>
      <p:sp>
        <p:nvSpPr>
          <p:cNvPr id="63" name="Text 59"/>
          <p:cNvSpPr/>
          <p:nvPr/>
        </p:nvSpPr>
        <p:spPr>
          <a:xfrm>
            <a:off x="630936" y="3721608"/>
            <a:ext cx="3172968" cy="61264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Review originals beside brief; correct / reject; decide clinical care.</a:t>
            </a:r>
            <a:endParaRPr lang="en-US" sz="1170" dirty="0"/>
          </a:p>
        </p:txBody>
      </p:sp>
      <p:sp>
        <p:nvSpPr>
          <p:cNvPr id="64" name="Shape 60"/>
          <p:cNvSpPr/>
          <p:nvPr/>
        </p:nvSpPr>
        <p:spPr>
          <a:xfrm>
            <a:off x="2203704" y="4453128"/>
            <a:ext cx="914" cy="502920"/>
          </a:xfrm>
          <a:prstGeom prst="line">
            <a:avLst/>
          </a:prstGeom>
          <a:noFill/>
          <a:ln w="19050">
            <a:solidFill>
              <a:srgbClr val="008F8B"/>
            </a:solidFill>
            <a:prstDash val="solid"/>
            <a:tailEnd type="triangle"/>
          </a:ln>
        </p:spPr>
      </p:sp>
      <p:sp>
        <p:nvSpPr>
          <p:cNvPr id="65" name="Text 61"/>
          <p:cNvSpPr/>
          <p:nvPr/>
        </p:nvSpPr>
        <p:spPr>
          <a:xfrm>
            <a:off x="2386584" y="4599432"/>
            <a:ext cx="2496312" cy="182880"/>
          </a:xfrm>
          <a:prstGeom prst="rect">
            <a:avLst/>
          </a:prstGeom>
          <a:noFill/>
          <a:ln/>
        </p:spPr>
        <p:txBody>
          <a:bodyPr wrap="square" lIns="0" tIns="0" rIns="0" bIns="0" rtlCol="0" anchor="ctr"/>
          <a:lstStyle/>
          <a:p>
            <a:pPr indent="0" marL="0">
              <a:buNone/>
            </a:pPr>
            <a:r>
              <a:rPr lang="en-US" sz="1000" dirty="0">
                <a:solidFill>
                  <a:srgbClr val="008F8B"/>
                </a:solidFill>
                <a:latin typeface="Arial" pitchFamily="34" charset="0"/>
                <a:ea typeface="Arial" pitchFamily="34" charset="-122"/>
                <a:cs typeface="Arial" pitchFamily="34" charset="-120"/>
              </a:rPr>
              <a:t>clinician-authorized update</a:t>
            </a:r>
            <a:endParaRPr lang="en-US" sz="1000" dirty="0"/>
          </a:p>
        </p:txBody>
      </p:sp>
      <p:sp>
        <p:nvSpPr>
          <p:cNvPr id="66" name="Shape 62"/>
          <p:cNvSpPr/>
          <p:nvPr/>
        </p:nvSpPr>
        <p:spPr>
          <a:xfrm>
            <a:off x="502920" y="4992624"/>
            <a:ext cx="3867912" cy="1005840"/>
          </a:xfrm>
          <a:prstGeom prst="roundRect">
            <a:avLst>
              <a:gd name="adj" fmla="val 10909"/>
            </a:avLst>
          </a:prstGeom>
          <a:solidFill>
            <a:srgbClr val="DFF5F3"/>
          </a:solidFill>
          <a:ln w="10160">
            <a:solidFill>
              <a:srgbClr val="C5D9E3"/>
            </a:solidFill>
            <a:prstDash val="solid"/>
          </a:ln>
        </p:spPr>
      </p:sp>
      <p:sp>
        <p:nvSpPr>
          <p:cNvPr id="67" name="Shape 63"/>
          <p:cNvSpPr/>
          <p:nvPr/>
        </p:nvSpPr>
        <p:spPr>
          <a:xfrm>
            <a:off x="612648" y="5102352"/>
            <a:ext cx="347472" cy="246888"/>
          </a:xfrm>
          <a:prstGeom prst="roundRect">
            <a:avLst>
              <a:gd name="adj" fmla="val 44444"/>
            </a:avLst>
          </a:prstGeom>
          <a:solidFill>
            <a:srgbClr val="FFFFFF"/>
          </a:solidFill>
          <a:ln w="10160">
            <a:solidFill>
              <a:srgbClr val="FFFFFF"/>
            </a:solidFill>
            <a:prstDash val="solid"/>
          </a:ln>
        </p:spPr>
      </p:sp>
      <p:sp>
        <p:nvSpPr>
          <p:cNvPr id="68" name="Text 64"/>
          <p:cNvSpPr/>
          <p:nvPr/>
        </p:nvSpPr>
        <p:spPr>
          <a:xfrm>
            <a:off x="676656" y="5125212"/>
            <a:ext cx="219456" cy="201168"/>
          </a:xfrm>
          <a:prstGeom prst="rect">
            <a:avLst/>
          </a:prstGeom>
          <a:noFill/>
          <a:ln/>
        </p:spPr>
        <p:txBody>
          <a:bodyPr wrap="square" lIns="0" tIns="0" rIns="0" bIns="0" rtlCol="0" anchor="ctr"/>
          <a:lstStyle/>
          <a:p>
            <a:pPr indent="0" marL="0">
              <a:buNone/>
            </a:pPr>
            <a:r>
              <a:rPr lang="en-US" sz="1000" b="1" dirty="0">
                <a:solidFill>
                  <a:srgbClr val="008F8B"/>
                </a:solidFill>
                <a:latin typeface="Arial" pitchFamily="34" charset="0"/>
                <a:ea typeface="Arial" pitchFamily="34" charset="-122"/>
                <a:cs typeface="Arial" pitchFamily="34" charset="-120"/>
              </a:rPr>
              <a:t>08</a:t>
            </a:r>
            <a:endParaRPr lang="en-US" sz="1000" dirty="0"/>
          </a:p>
        </p:txBody>
      </p:sp>
      <p:sp>
        <p:nvSpPr>
          <p:cNvPr id="69" name="Text 65"/>
          <p:cNvSpPr/>
          <p:nvPr/>
        </p:nvSpPr>
        <p:spPr>
          <a:xfrm>
            <a:off x="1060704" y="5084064"/>
            <a:ext cx="3209544" cy="329184"/>
          </a:xfrm>
          <a:prstGeom prst="rect">
            <a:avLst/>
          </a:prstGeom>
          <a:noFill/>
          <a:ln/>
        </p:spPr>
        <p:txBody>
          <a:bodyPr wrap="square" lIns="0" tIns="0" rIns="0" bIns="0" rtlCol="0" anchor="ctr"/>
          <a:lstStyle/>
          <a:p>
            <a:pPr indent="0" marL="0">
              <a:buNone/>
            </a:pPr>
            <a:r>
              <a:rPr lang="en-US" sz="1400" b="1" dirty="0">
                <a:solidFill>
                  <a:srgbClr val="008F8B"/>
                </a:solidFill>
                <a:latin typeface="Arial" pitchFamily="34" charset="0"/>
                <a:ea typeface="Arial" pitchFamily="34" charset="-122"/>
                <a:cs typeface="Arial" pitchFamily="34" charset="-120"/>
              </a:rPr>
              <a:t>Update care record</a:t>
            </a:r>
            <a:endParaRPr lang="en-US" sz="1400" dirty="0"/>
          </a:p>
        </p:txBody>
      </p:sp>
      <p:sp>
        <p:nvSpPr>
          <p:cNvPr id="70" name="Text 66"/>
          <p:cNvSpPr/>
          <p:nvPr/>
        </p:nvSpPr>
        <p:spPr>
          <a:xfrm>
            <a:off x="630936" y="5522976"/>
            <a:ext cx="3611880" cy="38404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Clinician-authored notes and medication / follow-up plan; versioned changes.</a:t>
            </a:r>
            <a:endParaRPr lang="en-US" sz="1170" dirty="0"/>
          </a:p>
        </p:txBody>
      </p:sp>
      <p:sp>
        <p:nvSpPr>
          <p:cNvPr id="71" name="Shape 67"/>
          <p:cNvSpPr/>
          <p:nvPr/>
        </p:nvSpPr>
        <p:spPr>
          <a:xfrm>
            <a:off x="4736592" y="4992624"/>
            <a:ext cx="3867912" cy="1005840"/>
          </a:xfrm>
          <a:prstGeom prst="roundRect">
            <a:avLst>
              <a:gd name="adj" fmla="val 10909"/>
            </a:avLst>
          </a:prstGeom>
          <a:solidFill>
            <a:srgbClr val="DFF5F3"/>
          </a:solidFill>
          <a:ln w="10160">
            <a:solidFill>
              <a:srgbClr val="C5D9E3"/>
            </a:solidFill>
            <a:prstDash val="solid"/>
          </a:ln>
        </p:spPr>
      </p:sp>
      <p:sp>
        <p:nvSpPr>
          <p:cNvPr id="72" name="Shape 68"/>
          <p:cNvSpPr/>
          <p:nvPr/>
        </p:nvSpPr>
        <p:spPr>
          <a:xfrm>
            <a:off x="4846320" y="5102352"/>
            <a:ext cx="347472" cy="246888"/>
          </a:xfrm>
          <a:prstGeom prst="roundRect">
            <a:avLst>
              <a:gd name="adj" fmla="val 44444"/>
            </a:avLst>
          </a:prstGeom>
          <a:solidFill>
            <a:srgbClr val="FFFFFF"/>
          </a:solidFill>
          <a:ln w="10160">
            <a:solidFill>
              <a:srgbClr val="FFFFFF"/>
            </a:solidFill>
            <a:prstDash val="solid"/>
          </a:ln>
        </p:spPr>
      </p:sp>
      <p:sp>
        <p:nvSpPr>
          <p:cNvPr id="73" name="Text 69"/>
          <p:cNvSpPr/>
          <p:nvPr/>
        </p:nvSpPr>
        <p:spPr>
          <a:xfrm>
            <a:off x="4910328" y="5125212"/>
            <a:ext cx="219456" cy="201168"/>
          </a:xfrm>
          <a:prstGeom prst="rect">
            <a:avLst/>
          </a:prstGeom>
          <a:noFill/>
          <a:ln/>
        </p:spPr>
        <p:txBody>
          <a:bodyPr wrap="square" lIns="0" tIns="0" rIns="0" bIns="0" rtlCol="0" anchor="ctr"/>
          <a:lstStyle/>
          <a:p>
            <a:pPr indent="0" marL="0">
              <a:buNone/>
            </a:pPr>
            <a:r>
              <a:rPr lang="en-US" sz="1000" b="1" dirty="0">
                <a:solidFill>
                  <a:srgbClr val="008F8B"/>
                </a:solidFill>
                <a:latin typeface="Arial" pitchFamily="34" charset="0"/>
                <a:ea typeface="Arial" pitchFamily="34" charset="-122"/>
                <a:cs typeface="Arial" pitchFamily="34" charset="-120"/>
              </a:rPr>
              <a:t>09</a:t>
            </a:r>
            <a:endParaRPr lang="en-US" sz="1000" dirty="0"/>
          </a:p>
        </p:txBody>
      </p:sp>
      <p:sp>
        <p:nvSpPr>
          <p:cNvPr id="74" name="Text 70"/>
          <p:cNvSpPr/>
          <p:nvPr/>
        </p:nvSpPr>
        <p:spPr>
          <a:xfrm>
            <a:off x="5294376" y="5084064"/>
            <a:ext cx="3209544" cy="329184"/>
          </a:xfrm>
          <a:prstGeom prst="rect">
            <a:avLst/>
          </a:prstGeom>
          <a:noFill/>
          <a:ln/>
        </p:spPr>
        <p:txBody>
          <a:bodyPr wrap="square" lIns="0" tIns="0" rIns="0" bIns="0" rtlCol="0" anchor="ctr"/>
          <a:lstStyle/>
          <a:p>
            <a:pPr indent="0" marL="0">
              <a:buNone/>
            </a:pPr>
            <a:r>
              <a:rPr lang="en-US" sz="1400" b="1" dirty="0">
                <a:solidFill>
                  <a:srgbClr val="008F8B"/>
                </a:solidFill>
                <a:latin typeface="Arial" pitchFamily="34" charset="0"/>
                <a:ea typeface="Arial" pitchFamily="34" charset="-122"/>
                <a:cs typeface="Arial" pitchFamily="34" charset="-120"/>
              </a:rPr>
              <a:t>Timeline &amp; reminders</a:t>
            </a:r>
            <a:endParaRPr lang="en-US" sz="1400" dirty="0"/>
          </a:p>
        </p:txBody>
      </p:sp>
      <p:sp>
        <p:nvSpPr>
          <p:cNvPr id="75" name="Text 71"/>
          <p:cNvSpPr/>
          <p:nvPr/>
        </p:nvSpPr>
        <p:spPr>
          <a:xfrm>
            <a:off x="4864608" y="5522976"/>
            <a:ext cx="3611880" cy="38404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Patient sees dated records, medication schedule and follow-up reminders.</a:t>
            </a:r>
            <a:endParaRPr lang="en-US" sz="1170" dirty="0"/>
          </a:p>
        </p:txBody>
      </p:sp>
      <p:sp>
        <p:nvSpPr>
          <p:cNvPr id="76" name="Shape 72"/>
          <p:cNvSpPr/>
          <p:nvPr/>
        </p:nvSpPr>
        <p:spPr>
          <a:xfrm>
            <a:off x="4379976" y="5486400"/>
            <a:ext cx="283464" cy="914"/>
          </a:xfrm>
          <a:prstGeom prst="line">
            <a:avLst/>
          </a:prstGeom>
          <a:noFill/>
          <a:ln w="17780">
            <a:solidFill>
              <a:srgbClr val="008F8B"/>
            </a:solidFill>
            <a:prstDash val="solid"/>
            <a:tailEnd type="triangle"/>
          </a:ln>
        </p:spPr>
      </p:sp>
      <p:sp>
        <p:nvSpPr>
          <p:cNvPr id="77" name="Shape 73"/>
          <p:cNvSpPr/>
          <p:nvPr/>
        </p:nvSpPr>
        <p:spPr>
          <a:xfrm>
            <a:off x="8988552" y="4910328"/>
            <a:ext cx="2898648" cy="1188720"/>
          </a:xfrm>
          <a:prstGeom prst="roundRect">
            <a:avLst>
              <a:gd name="adj" fmla="val 9231"/>
            </a:avLst>
          </a:prstGeom>
          <a:solidFill>
            <a:srgbClr val="FFF3DE"/>
          </a:solidFill>
          <a:ln w="10160">
            <a:solidFill>
              <a:srgbClr val="F0D5A6"/>
            </a:solidFill>
            <a:prstDash val="solid"/>
          </a:ln>
        </p:spPr>
      </p:sp>
      <p:sp>
        <p:nvSpPr>
          <p:cNvPr id="78" name="Text 74"/>
          <p:cNvSpPr/>
          <p:nvPr/>
        </p:nvSpPr>
        <p:spPr>
          <a:xfrm>
            <a:off x="9144000" y="5010912"/>
            <a:ext cx="2587752" cy="228600"/>
          </a:xfrm>
          <a:prstGeom prst="rect">
            <a:avLst/>
          </a:prstGeom>
          <a:noFill/>
          <a:ln/>
        </p:spPr>
        <p:txBody>
          <a:bodyPr wrap="square" lIns="0" tIns="0" rIns="0" bIns="0" rtlCol="0" anchor="ctr"/>
          <a:lstStyle/>
          <a:p>
            <a:pPr indent="0" marL="0">
              <a:buNone/>
            </a:pPr>
            <a:r>
              <a:rPr lang="en-US" sz="1200" b="1" dirty="0">
                <a:solidFill>
                  <a:srgbClr val="B46B12"/>
                </a:solidFill>
                <a:latin typeface="Arial" pitchFamily="34" charset="0"/>
                <a:ea typeface="Arial" pitchFamily="34" charset="-122"/>
                <a:cs typeface="Arial" pitchFamily="34" charset="-120"/>
              </a:rPr>
              <a:t>RECOVERY / HOLD</a:t>
            </a:r>
            <a:endParaRPr lang="en-US" sz="1200" dirty="0"/>
          </a:p>
        </p:txBody>
      </p:sp>
      <p:sp>
        <p:nvSpPr>
          <p:cNvPr id="79" name="Text 75"/>
          <p:cNvSpPr/>
          <p:nvPr/>
        </p:nvSpPr>
        <p:spPr>
          <a:xfrm>
            <a:off x="9144000" y="5349240"/>
            <a:ext cx="2560320" cy="530352"/>
          </a:xfrm>
          <a:prstGeom prst="rect">
            <a:avLst/>
          </a:prstGeom>
          <a:noFill/>
          <a:ln/>
        </p:spPr>
        <p:txBody>
          <a:bodyPr wrap="square" lIns="0" tIns="0" rIns="0" bIns="0" rtlCol="0" anchor="ctr"/>
          <a:lstStyle/>
          <a:p>
            <a:pPr indent="0" marL="0">
              <a:buNone/>
            </a:pPr>
            <a:r>
              <a:rPr lang="en-US" sz="1040" dirty="0">
                <a:solidFill>
                  <a:srgbClr val="233B4C"/>
                </a:solidFill>
                <a:latin typeface="Arial" pitchFamily="34" charset="0"/>
                <a:ea typeface="Arial" pitchFamily="34" charset="-122"/>
                <a:cs typeface="Arial" pitchFamily="34" charset="-120"/>
              </a:rPr>
              <a:t>Low OCR confidence → correct / re-upload.</a:t>
            </a:r>
            <a:endParaRPr lang="en-US" sz="1040" dirty="0"/>
          </a:p>
          <a:p>
            <a:pPr indent="0" marL="0">
              <a:buNone/>
            </a:pPr>
            <a:r>
              <a:rPr lang="en-US" sz="1040" dirty="0">
                <a:solidFill>
                  <a:srgbClr val="233B4C"/>
                </a:solidFill>
                <a:latin typeface="Arial" pitchFamily="34" charset="0"/>
                <a:ea typeface="Arial" pitchFamily="34" charset="-122"/>
                <a:cs typeface="Arial" pitchFamily="34" charset="-120"/>
              </a:rPr>
              <a:t>Missing consent → block access.</a:t>
            </a:r>
            <a:endParaRPr lang="en-US" sz="1040" dirty="0"/>
          </a:p>
          <a:p>
            <a:pPr indent="0" marL="0">
              <a:buNone/>
            </a:pPr>
            <a:r>
              <a:rPr lang="en-US" sz="1040" dirty="0">
                <a:solidFill>
                  <a:srgbClr val="233B4C"/>
                </a:solidFill>
                <a:latin typeface="Arial" pitchFamily="34" charset="0"/>
                <a:ea typeface="Arial" pitchFamily="34" charset="-122"/>
                <a:cs typeface="Arial" pitchFamily="34" charset="-120"/>
              </a:rPr>
              <a:t>Unverified summary → not a clinical decision.</a:t>
            </a:r>
            <a:endParaRPr lang="en-US" sz="1040" dirty="0"/>
          </a:p>
        </p:txBody>
      </p:sp>
      <p:sp>
        <p:nvSpPr>
          <p:cNvPr id="80" name="Shape 76"/>
          <p:cNvSpPr/>
          <p:nvPr/>
        </p:nvSpPr>
        <p:spPr>
          <a:xfrm>
            <a:off x="7470648" y="2798064"/>
            <a:ext cx="914" cy="219456"/>
          </a:xfrm>
          <a:prstGeom prst="line">
            <a:avLst/>
          </a:prstGeom>
          <a:noFill/>
          <a:ln w="13970">
            <a:solidFill>
              <a:srgbClr val="B46B12"/>
            </a:solidFill>
            <a:prstDash val="solid"/>
          </a:ln>
        </p:spPr>
      </p:sp>
      <p:sp>
        <p:nvSpPr>
          <p:cNvPr id="81" name="Text 77"/>
          <p:cNvSpPr/>
          <p:nvPr/>
        </p:nvSpPr>
        <p:spPr>
          <a:xfrm>
            <a:off x="4572000" y="2898648"/>
            <a:ext cx="3977640" cy="182880"/>
          </a:xfrm>
          <a:prstGeom prst="rect">
            <a:avLst/>
          </a:prstGeom>
          <a:noFill/>
          <a:ln/>
        </p:spPr>
        <p:txBody>
          <a:bodyPr wrap="square" lIns="0" tIns="0" rIns="0" bIns="0" rtlCol="0" anchor="ctr"/>
          <a:lstStyle/>
          <a:p>
            <a:pPr indent="0" marL="0">
              <a:buNone/>
            </a:pPr>
            <a:r>
              <a:rPr lang="en-US" sz="1010" b="1" dirty="0">
                <a:solidFill>
                  <a:srgbClr val="B46B12"/>
                </a:solidFill>
                <a:latin typeface="Arial" pitchFamily="34" charset="0"/>
                <a:ea typeface="Arial" pitchFamily="34" charset="-122"/>
                <a:cs typeface="Arial" pitchFamily="34" charset="-120"/>
              </a:rPr>
              <a:t>uncertain extraction → hold / human correction</a:t>
            </a:r>
            <a:endParaRPr lang="en-US" sz="10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TECHNICAL APPROACH</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An auditable AI pipeline—not a black-box diagnosis</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Proposed implementation • extracted data, summaries and original files are distinct, linked and versioned.</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05 / 12</a:t>
            </a:r>
            <a:endParaRPr lang="en-US" sz="950" dirty="0"/>
          </a:p>
        </p:txBody>
      </p:sp>
      <p:sp>
        <p:nvSpPr>
          <p:cNvPr id="22" name="Text 18"/>
          <p:cNvSpPr/>
          <p:nvPr/>
        </p:nvSpPr>
        <p:spPr>
          <a:xfrm>
            <a:off x="502920" y="1380744"/>
            <a:ext cx="38404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INGEST &amp; NORMALIZE</a:t>
            </a:r>
            <a:endParaRPr lang="en-US" sz="1050" dirty="0"/>
          </a:p>
        </p:txBody>
      </p:sp>
      <p:sp>
        <p:nvSpPr>
          <p:cNvPr id="23" name="Shape 19"/>
          <p:cNvSpPr/>
          <p:nvPr/>
        </p:nvSpPr>
        <p:spPr>
          <a:xfrm>
            <a:off x="502920" y="1700784"/>
            <a:ext cx="2688336" cy="1271016"/>
          </a:xfrm>
          <a:prstGeom prst="roundRect">
            <a:avLst>
              <a:gd name="adj" fmla="val 8633"/>
            </a:avLst>
          </a:prstGeom>
          <a:solidFill>
            <a:srgbClr val="EAF4FA"/>
          </a:solidFill>
          <a:ln w="10160">
            <a:solidFill>
              <a:srgbClr val="C5D9E3"/>
            </a:solidFill>
            <a:prstDash val="solid"/>
          </a:ln>
        </p:spPr>
      </p:sp>
      <p:sp>
        <p:nvSpPr>
          <p:cNvPr id="24" name="Shape 20"/>
          <p:cNvSpPr/>
          <p:nvPr/>
        </p:nvSpPr>
        <p:spPr>
          <a:xfrm>
            <a:off x="612648" y="1810512"/>
            <a:ext cx="347472" cy="246888"/>
          </a:xfrm>
          <a:prstGeom prst="roundRect">
            <a:avLst>
              <a:gd name="adj" fmla="val 44444"/>
            </a:avLst>
          </a:prstGeom>
          <a:solidFill>
            <a:srgbClr val="FFFFFF"/>
          </a:solidFill>
          <a:ln w="10160">
            <a:solidFill>
              <a:srgbClr val="FFFFFF"/>
            </a:solidFill>
            <a:prstDash val="solid"/>
          </a:ln>
        </p:spPr>
      </p:sp>
      <p:sp>
        <p:nvSpPr>
          <p:cNvPr id="25" name="Text 21"/>
          <p:cNvSpPr/>
          <p:nvPr/>
        </p:nvSpPr>
        <p:spPr>
          <a:xfrm>
            <a:off x="676656" y="183337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01</a:t>
            </a:r>
            <a:endParaRPr lang="en-US" sz="1000" dirty="0"/>
          </a:p>
        </p:txBody>
      </p:sp>
      <p:sp>
        <p:nvSpPr>
          <p:cNvPr id="26" name="Text 22"/>
          <p:cNvSpPr/>
          <p:nvPr/>
        </p:nvSpPr>
        <p:spPr>
          <a:xfrm>
            <a:off x="1060704" y="179222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Validate upload</a:t>
            </a:r>
            <a:endParaRPr lang="en-US" sz="1400" dirty="0"/>
          </a:p>
        </p:txBody>
      </p:sp>
      <p:sp>
        <p:nvSpPr>
          <p:cNvPr id="27" name="Text 23"/>
          <p:cNvSpPr/>
          <p:nvPr/>
        </p:nvSpPr>
        <p:spPr>
          <a:xfrm>
            <a:off x="630936" y="2231136"/>
            <a:ext cx="2432304" cy="649224"/>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Type / size / malware checks; identity and consent metadata.</a:t>
            </a:r>
            <a:endParaRPr lang="en-US" sz="1170" dirty="0"/>
          </a:p>
        </p:txBody>
      </p:sp>
      <p:sp>
        <p:nvSpPr>
          <p:cNvPr id="28" name="Shape 24"/>
          <p:cNvSpPr/>
          <p:nvPr/>
        </p:nvSpPr>
        <p:spPr>
          <a:xfrm>
            <a:off x="3200400" y="2331720"/>
            <a:ext cx="155448" cy="914"/>
          </a:xfrm>
          <a:prstGeom prst="line">
            <a:avLst/>
          </a:prstGeom>
          <a:noFill/>
          <a:ln w="17780">
            <a:solidFill>
              <a:srgbClr val="087FB8"/>
            </a:solidFill>
            <a:prstDash val="solid"/>
            <a:tailEnd type="triangle"/>
          </a:ln>
        </p:spPr>
      </p:sp>
      <p:sp>
        <p:nvSpPr>
          <p:cNvPr id="29" name="Shape 25"/>
          <p:cNvSpPr/>
          <p:nvPr/>
        </p:nvSpPr>
        <p:spPr>
          <a:xfrm>
            <a:off x="3383280" y="1700784"/>
            <a:ext cx="2688336" cy="1271016"/>
          </a:xfrm>
          <a:prstGeom prst="roundRect">
            <a:avLst>
              <a:gd name="adj" fmla="val 8633"/>
            </a:avLst>
          </a:prstGeom>
          <a:solidFill>
            <a:srgbClr val="EAF4FA"/>
          </a:solidFill>
          <a:ln w="10160">
            <a:solidFill>
              <a:srgbClr val="C5D9E3"/>
            </a:solidFill>
            <a:prstDash val="solid"/>
          </a:ln>
        </p:spPr>
      </p:sp>
      <p:sp>
        <p:nvSpPr>
          <p:cNvPr id="30" name="Shape 26"/>
          <p:cNvSpPr/>
          <p:nvPr/>
        </p:nvSpPr>
        <p:spPr>
          <a:xfrm>
            <a:off x="3493008" y="1810512"/>
            <a:ext cx="347472" cy="246888"/>
          </a:xfrm>
          <a:prstGeom prst="roundRect">
            <a:avLst>
              <a:gd name="adj" fmla="val 44444"/>
            </a:avLst>
          </a:prstGeom>
          <a:solidFill>
            <a:srgbClr val="FFFFFF"/>
          </a:solidFill>
          <a:ln w="10160">
            <a:solidFill>
              <a:srgbClr val="FFFFFF"/>
            </a:solidFill>
            <a:prstDash val="solid"/>
          </a:ln>
        </p:spPr>
      </p:sp>
      <p:sp>
        <p:nvSpPr>
          <p:cNvPr id="31" name="Text 27"/>
          <p:cNvSpPr/>
          <p:nvPr/>
        </p:nvSpPr>
        <p:spPr>
          <a:xfrm>
            <a:off x="3557016" y="183337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02</a:t>
            </a:r>
            <a:endParaRPr lang="en-US" sz="1000" dirty="0"/>
          </a:p>
        </p:txBody>
      </p:sp>
      <p:sp>
        <p:nvSpPr>
          <p:cNvPr id="32" name="Text 28"/>
          <p:cNvSpPr/>
          <p:nvPr/>
        </p:nvSpPr>
        <p:spPr>
          <a:xfrm>
            <a:off x="3941064" y="179222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Read document</a:t>
            </a:r>
            <a:endParaRPr lang="en-US" sz="1400" dirty="0"/>
          </a:p>
        </p:txBody>
      </p:sp>
      <p:sp>
        <p:nvSpPr>
          <p:cNvPr id="33" name="Text 29"/>
          <p:cNvSpPr/>
          <p:nvPr/>
        </p:nvSpPr>
        <p:spPr>
          <a:xfrm>
            <a:off x="3511296" y="2231136"/>
            <a:ext cx="2432304" cy="649224"/>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Digital text first; OCR for scanned pages; page coordinates.</a:t>
            </a:r>
            <a:endParaRPr lang="en-US" sz="1170" dirty="0"/>
          </a:p>
        </p:txBody>
      </p:sp>
      <p:sp>
        <p:nvSpPr>
          <p:cNvPr id="34" name="Shape 30"/>
          <p:cNvSpPr/>
          <p:nvPr/>
        </p:nvSpPr>
        <p:spPr>
          <a:xfrm>
            <a:off x="6080760" y="2331720"/>
            <a:ext cx="155448" cy="914"/>
          </a:xfrm>
          <a:prstGeom prst="line">
            <a:avLst/>
          </a:prstGeom>
          <a:noFill/>
          <a:ln w="17780">
            <a:solidFill>
              <a:srgbClr val="087FB8"/>
            </a:solidFill>
            <a:prstDash val="solid"/>
            <a:tailEnd type="triangle"/>
          </a:ln>
        </p:spPr>
      </p:sp>
      <p:sp>
        <p:nvSpPr>
          <p:cNvPr id="35" name="Shape 31"/>
          <p:cNvSpPr/>
          <p:nvPr/>
        </p:nvSpPr>
        <p:spPr>
          <a:xfrm>
            <a:off x="6263640" y="1700784"/>
            <a:ext cx="2688336" cy="1271016"/>
          </a:xfrm>
          <a:prstGeom prst="roundRect">
            <a:avLst>
              <a:gd name="adj" fmla="val 8633"/>
            </a:avLst>
          </a:prstGeom>
          <a:solidFill>
            <a:srgbClr val="EAF4FA"/>
          </a:solidFill>
          <a:ln w="10160">
            <a:solidFill>
              <a:srgbClr val="C5D9E3"/>
            </a:solidFill>
            <a:prstDash val="solid"/>
          </a:ln>
        </p:spPr>
      </p:sp>
      <p:sp>
        <p:nvSpPr>
          <p:cNvPr id="36" name="Shape 32"/>
          <p:cNvSpPr/>
          <p:nvPr/>
        </p:nvSpPr>
        <p:spPr>
          <a:xfrm>
            <a:off x="6373368" y="1810512"/>
            <a:ext cx="347472" cy="246888"/>
          </a:xfrm>
          <a:prstGeom prst="roundRect">
            <a:avLst>
              <a:gd name="adj" fmla="val 44444"/>
            </a:avLst>
          </a:prstGeom>
          <a:solidFill>
            <a:srgbClr val="FFFFFF"/>
          </a:solidFill>
          <a:ln w="10160">
            <a:solidFill>
              <a:srgbClr val="FFFFFF"/>
            </a:solidFill>
            <a:prstDash val="solid"/>
          </a:ln>
        </p:spPr>
      </p:sp>
      <p:sp>
        <p:nvSpPr>
          <p:cNvPr id="37" name="Text 33"/>
          <p:cNvSpPr/>
          <p:nvPr/>
        </p:nvSpPr>
        <p:spPr>
          <a:xfrm>
            <a:off x="6437376" y="183337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03</a:t>
            </a:r>
            <a:endParaRPr lang="en-US" sz="1000" dirty="0"/>
          </a:p>
        </p:txBody>
      </p:sp>
      <p:sp>
        <p:nvSpPr>
          <p:cNvPr id="38" name="Text 34"/>
          <p:cNvSpPr/>
          <p:nvPr/>
        </p:nvSpPr>
        <p:spPr>
          <a:xfrm>
            <a:off x="6821424" y="179222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Organize fields</a:t>
            </a:r>
            <a:endParaRPr lang="en-US" sz="1400" dirty="0"/>
          </a:p>
        </p:txBody>
      </p:sp>
      <p:sp>
        <p:nvSpPr>
          <p:cNvPr id="39" name="Text 35"/>
          <p:cNvSpPr/>
          <p:nvPr/>
        </p:nvSpPr>
        <p:spPr>
          <a:xfrm>
            <a:off x="6391656" y="2231136"/>
            <a:ext cx="2432304" cy="649224"/>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Dates, tests, values, units, document type and source page.</a:t>
            </a:r>
            <a:endParaRPr lang="en-US" sz="1170" dirty="0"/>
          </a:p>
        </p:txBody>
      </p:sp>
      <p:sp>
        <p:nvSpPr>
          <p:cNvPr id="40" name="Shape 36"/>
          <p:cNvSpPr/>
          <p:nvPr/>
        </p:nvSpPr>
        <p:spPr>
          <a:xfrm>
            <a:off x="8961120" y="2331720"/>
            <a:ext cx="155448" cy="914"/>
          </a:xfrm>
          <a:prstGeom prst="line">
            <a:avLst/>
          </a:prstGeom>
          <a:noFill/>
          <a:ln w="17780">
            <a:solidFill>
              <a:srgbClr val="087FB8"/>
            </a:solidFill>
            <a:prstDash val="solid"/>
            <a:tailEnd type="triangle"/>
          </a:ln>
        </p:spPr>
      </p:sp>
      <p:sp>
        <p:nvSpPr>
          <p:cNvPr id="41" name="Shape 37"/>
          <p:cNvSpPr/>
          <p:nvPr/>
        </p:nvSpPr>
        <p:spPr>
          <a:xfrm>
            <a:off x="9144000" y="1700784"/>
            <a:ext cx="2688336" cy="1271016"/>
          </a:xfrm>
          <a:prstGeom prst="roundRect">
            <a:avLst>
              <a:gd name="adj" fmla="val 8633"/>
            </a:avLst>
          </a:prstGeom>
          <a:solidFill>
            <a:srgbClr val="EAF4FA"/>
          </a:solidFill>
          <a:ln w="10160">
            <a:solidFill>
              <a:srgbClr val="C5D9E3"/>
            </a:solidFill>
            <a:prstDash val="solid"/>
          </a:ln>
        </p:spPr>
      </p:sp>
      <p:sp>
        <p:nvSpPr>
          <p:cNvPr id="42" name="Shape 38"/>
          <p:cNvSpPr/>
          <p:nvPr/>
        </p:nvSpPr>
        <p:spPr>
          <a:xfrm>
            <a:off x="9253728" y="1810512"/>
            <a:ext cx="347472" cy="246888"/>
          </a:xfrm>
          <a:prstGeom prst="roundRect">
            <a:avLst>
              <a:gd name="adj" fmla="val 44444"/>
            </a:avLst>
          </a:prstGeom>
          <a:solidFill>
            <a:srgbClr val="FFFFFF"/>
          </a:solidFill>
          <a:ln w="10160">
            <a:solidFill>
              <a:srgbClr val="FFFFFF"/>
            </a:solidFill>
            <a:prstDash val="solid"/>
          </a:ln>
        </p:spPr>
      </p:sp>
      <p:sp>
        <p:nvSpPr>
          <p:cNvPr id="43" name="Text 39"/>
          <p:cNvSpPr/>
          <p:nvPr/>
        </p:nvSpPr>
        <p:spPr>
          <a:xfrm>
            <a:off x="9317736" y="1833372"/>
            <a:ext cx="219456" cy="201168"/>
          </a:xfrm>
          <a:prstGeom prst="rect">
            <a:avLst/>
          </a:prstGeom>
          <a:noFill/>
          <a:ln/>
        </p:spPr>
        <p:txBody>
          <a:bodyPr wrap="square" lIns="0" tIns="0" rIns="0" bIns="0" rtlCol="0" anchor="ctr"/>
          <a:lstStyle/>
          <a:p>
            <a:pPr indent="0" marL="0">
              <a:buNone/>
            </a:pPr>
            <a:r>
              <a:rPr lang="en-US" sz="1000" b="1" dirty="0">
                <a:solidFill>
                  <a:srgbClr val="087FB8"/>
                </a:solidFill>
                <a:latin typeface="Arial" pitchFamily="34" charset="0"/>
                <a:ea typeface="Arial" pitchFamily="34" charset="-122"/>
                <a:cs typeface="Arial" pitchFamily="34" charset="-120"/>
              </a:rPr>
              <a:t>04</a:t>
            </a:r>
            <a:endParaRPr lang="en-US" sz="1000" dirty="0"/>
          </a:p>
        </p:txBody>
      </p:sp>
      <p:sp>
        <p:nvSpPr>
          <p:cNvPr id="44" name="Text 40"/>
          <p:cNvSpPr/>
          <p:nvPr/>
        </p:nvSpPr>
        <p:spPr>
          <a:xfrm>
            <a:off x="9701784" y="1792224"/>
            <a:ext cx="2029968" cy="329184"/>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Normalize safely</a:t>
            </a:r>
            <a:endParaRPr lang="en-US" sz="1400" dirty="0"/>
          </a:p>
        </p:txBody>
      </p:sp>
      <p:sp>
        <p:nvSpPr>
          <p:cNvPr id="45" name="Text 41"/>
          <p:cNvSpPr/>
          <p:nvPr/>
        </p:nvSpPr>
        <p:spPr>
          <a:xfrm>
            <a:off x="9272016" y="2231136"/>
            <a:ext cx="2432304" cy="649224"/>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Date ambiguity, unit compatibility and missing fields; no silent guesses.</a:t>
            </a:r>
            <a:endParaRPr lang="en-US" sz="1170" dirty="0"/>
          </a:p>
        </p:txBody>
      </p:sp>
      <p:sp>
        <p:nvSpPr>
          <p:cNvPr id="46" name="Shape 42"/>
          <p:cNvSpPr/>
          <p:nvPr/>
        </p:nvSpPr>
        <p:spPr>
          <a:xfrm>
            <a:off x="10497312" y="2980944"/>
            <a:ext cx="914" cy="466344"/>
          </a:xfrm>
          <a:prstGeom prst="line">
            <a:avLst/>
          </a:prstGeom>
          <a:noFill/>
          <a:ln w="17780">
            <a:solidFill>
              <a:srgbClr val="087FB8"/>
            </a:solidFill>
            <a:prstDash val="solid"/>
            <a:tailEnd type="triangle"/>
          </a:ln>
        </p:spPr>
      </p:sp>
      <p:sp>
        <p:nvSpPr>
          <p:cNvPr id="47" name="Text 43"/>
          <p:cNvSpPr/>
          <p:nvPr/>
        </p:nvSpPr>
        <p:spPr>
          <a:xfrm>
            <a:off x="8878824" y="3145536"/>
            <a:ext cx="1417320" cy="182880"/>
          </a:xfrm>
          <a:prstGeom prst="rect">
            <a:avLst/>
          </a:prstGeom>
          <a:noFill/>
          <a:ln/>
        </p:spPr>
        <p:txBody>
          <a:bodyPr wrap="square" lIns="0" tIns="0" rIns="0" bIns="0" rtlCol="0" anchor="ctr"/>
          <a:lstStyle/>
          <a:p>
            <a:pPr indent="0" marL="0">
              <a:buNone/>
            </a:pPr>
            <a:r>
              <a:rPr lang="en-US" sz="1000" dirty="0">
                <a:solidFill>
                  <a:srgbClr val="087FB8"/>
                </a:solidFill>
                <a:latin typeface="Arial" pitchFamily="34" charset="0"/>
                <a:ea typeface="Arial" pitchFamily="34" charset="-122"/>
                <a:cs typeface="Arial" pitchFamily="34" charset="-120"/>
              </a:rPr>
              <a:t>preserve provenance</a:t>
            </a:r>
            <a:endParaRPr lang="en-US" sz="1000" dirty="0"/>
          </a:p>
        </p:txBody>
      </p:sp>
      <p:sp>
        <p:nvSpPr>
          <p:cNvPr id="48" name="Text 44"/>
          <p:cNvSpPr/>
          <p:nvPr/>
        </p:nvSpPr>
        <p:spPr>
          <a:xfrm>
            <a:off x="502920" y="3145536"/>
            <a:ext cx="4389120"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CHECK, GROUND &amp; REVIEW</a:t>
            </a:r>
            <a:endParaRPr lang="en-US" sz="1050" dirty="0"/>
          </a:p>
        </p:txBody>
      </p:sp>
      <p:sp>
        <p:nvSpPr>
          <p:cNvPr id="49" name="Shape 45"/>
          <p:cNvSpPr/>
          <p:nvPr/>
        </p:nvSpPr>
        <p:spPr>
          <a:xfrm>
            <a:off x="502920" y="3493008"/>
            <a:ext cx="2688336" cy="1280160"/>
          </a:xfrm>
          <a:prstGeom prst="roundRect">
            <a:avLst>
              <a:gd name="adj" fmla="val 8571"/>
            </a:avLst>
          </a:prstGeom>
          <a:solidFill>
            <a:srgbClr val="DFF5F3"/>
          </a:solidFill>
          <a:ln w="10160">
            <a:solidFill>
              <a:srgbClr val="C5D9E3"/>
            </a:solidFill>
            <a:prstDash val="solid"/>
          </a:ln>
        </p:spPr>
      </p:sp>
      <p:sp>
        <p:nvSpPr>
          <p:cNvPr id="50" name="Shape 46"/>
          <p:cNvSpPr/>
          <p:nvPr/>
        </p:nvSpPr>
        <p:spPr>
          <a:xfrm>
            <a:off x="612648" y="3602736"/>
            <a:ext cx="347472" cy="246888"/>
          </a:xfrm>
          <a:prstGeom prst="roundRect">
            <a:avLst>
              <a:gd name="adj" fmla="val 44444"/>
            </a:avLst>
          </a:prstGeom>
          <a:solidFill>
            <a:srgbClr val="FFFFFF"/>
          </a:solidFill>
          <a:ln w="10160">
            <a:solidFill>
              <a:srgbClr val="FFFFFF"/>
            </a:solidFill>
            <a:prstDash val="solid"/>
          </a:ln>
        </p:spPr>
      </p:sp>
      <p:sp>
        <p:nvSpPr>
          <p:cNvPr id="51" name="Text 47"/>
          <p:cNvSpPr/>
          <p:nvPr/>
        </p:nvSpPr>
        <p:spPr>
          <a:xfrm>
            <a:off x="676656" y="3625596"/>
            <a:ext cx="219456" cy="201168"/>
          </a:xfrm>
          <a:prstGeom prst="rect">
            <a:avLst/>
          </a:prstGeom>
          <a:noFill/>
          <a:ln/>
        </p:spPr>
        <p:txBody>
          <a:bodyPr wrap="square" lIns="0" tIns="0" rIns="0" bIns="0" rtlCol="0" anchor="ctr"/>
          <a:lstStyle/>
          <a:p>
            <a:pPr indent="0" marL="0">
              <a:buNone/>
            </a:pPr>
            <a:r>
              <a:rPr lang="en-US" sz="1000" b="1" dirty="0">
                <a:solidFill>
                  <a:srgbClr val="008F8B"/>
                </a:solidFill>
                <a:latin typeface="Arial" pitchFamily="34" charset="0"/>
                <a:ea typeface="Arial" pitchFamily="34" charset="-122"/>
                <a:cs typeface="Arial" pitchFamily="34" charset="-120"/>
              </a:rPr>
              <a:t>08</a:t>
            </a:r>
            <a:endParaRPr lang="en-US" sz="1000" dirty="0"/>
          </a:p>
        </p:txBody>
      </p:sp>
      <p:sp>
        <p:nvSpPr>
          <p:cNvPr id="52" name="Text 48"/>
          <p:cNvSpPr/>
          <p:nvPr/>
        </p:nvSpPr>
        <p:spPr>
          <a:xfrm>
            <a:off x="1060704" y="3584448"/>
            <a:ext cx="2029968" cy="329184"/>
          </a:xfrm>
          <a:prstGeom prst="rect">
            <a:avLst/>
          </a:prstGeom>
          <a:noFill/>
          <a:ln/>
        </p:spPr>
        <p:txBody>
          <a:bodyPr wrap="square" lIns="0" tIns="0" rIns="0" bIns="0" rtlCol="0" anchor="ctr"/>
          <a:lstStyle/>
          <a:p>
            <a:pPr indent="0" marL="0">
              <a:buNone/>
            </a:pPr>
            <a:r>
              <a:rPr lang="en-US" sz="1400" b="1" dirty="0">
                <a:solidFill>
                  <a:srgbClr val="008F8B"/>
                </a:solidFill>
                <a:latin typeface="Arial" pitchFamily="34" charset="0"/>
                <a:ea typeface="Arial" pitchFamily="34" charset="-122"/>
                <a:cs typeface="Arial" pitchFamily="34" charset="-120"/>
              </a:rPr>
              <a:t>Review &amp; version</a:t>
            </a:r>
            <a:endParaRPr lang="en-US" sz="1400" dirty="0"/>
          </a:p>
        </p:txBody>
      </p:sp>
      <p:sp>
        <p:nvSpPr>
          <p:cNvPr id="53" name="Text 49"/>
          <p:cNvSpPr/>
          <p:nvPr/>
        </p:nvSpPr>
        <p:spPr>
          <a:xfrm>
            <a:off x="630936" y="4023360"/>
            <a:ext cx="2432304" cy="65836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Clinician accepts / edits / rejects; store version, reviewer and timestamp.</a:t>
            </a:r>
            <a:endParaRPr lang="en-US" sz="1170" dirty="0"/>
          </a:p>
        </p:txBody>
      </p:sp>
      <p:sp>
        <p:nvSpPr>
          <p:cNvPr id="54" name="Shape 50"/>
          <p:cNvSpPr/>
          <p:nvPr/>
        </p:nvSpPr>
        <p:spPr>
          <a:xfrm flipH="1">
            <a:off x="3200400" y="4114800"/>
            <a:ext cx="155448" cy="914"/>
          </a:xfrm>
          <a:prstGeom prst="line">
            <a:avLst/>
          </a:prstGeom>
          <a:noFill/>
          <a:ln w="17780">
            <a:solidFill>
              <a:srgbClr val="008F8B"/>
            </a:solidFill>
            <a:prstDash val="solid"/>
            <a:tailEnd type="triangle"/>
          </a:ln>
        </p:spPr>
      </p:sp>
      <p:sp>
        <p:nvSpPr>
          <p:cNvPr id="55" name="Shape 51"/>
          <p:cNvSpPr/>
          <p:nvPr/>
        </p:nvSpPr>
        <p:spPr>
          <a:xfrm>
            <a:off x="3383280" y="3493008"/>
            <a:ext cx="2688336" cy="1280160"/>
          </a:xfrm>
          <a:prstGeom prst="roundRect">
            <a:avLst>
              <a:gd name="adj" fmla="val 8571"/>
            </a:avLst>
          </a:prstGeom>
          <a:solidFill>
            <a:srgbClr val="DFF5F3"/>
          </a:solidFill>
          <a:ln w="10160">
            <a:solidFill>
              <a:srgbClr val="C5D9E3"/>
            </a:solidFill>
            <a:prstDash val="solid"/>
          </a:ln>
        </p:spPr>
      </p:sp>
      <p:sp>
        <p:nvSpPr>
          <p:cNvPr id="56" name="Shape 52"/>
          <p:cNvSpPr/>
          <p:nvPr/>
        </p:nvSpPr>
        <p:spPr>
          <a:xfrm>
            <a:off x="3493008" y="3602736"/>
            <a:ext cx="347472" cy="246888"/>
          </a:xfrm>
          <a:prstGeom prst="roundRect">
            <a:avLst>
              <a:gd name="adj" fmla="val 44444"/>
            </a:avLst>
          </a:prstGeom>
          <a:solidFill>
            <a:srgbClr val="FFFFFF"/>
          </a:solidFill>
          <a:ln w="10160">
            <a:solidFill>
              <a:srgbClr val="FFFFFF"/>
            </a:solidFill>
            <a:prstDash val="solid"/>
          </a:ln>
        </p:spPr>
      </p:sp>
      <p:sp>
        <p:nvSpPr>
          <p:cNvPr id="57" name="Text 53"/>
          <p:cNvSpPr/>
          <p:nvPr/>
        </p:nvSpPr>
        <p:spPr>
          <a:xfrm>
            <a:off x="3557016" y="3625596"/>
            <a:ext cx="219456" cy="201168"/>
          </a:xfrm>
          <a:prstGeom prst="rect">
            <a:avLst/>
          </a:prstGeom>
          <a:noFill/>
          <a:ln/>
        </p:spPr>
        <p:txBody>
          <a:bodyPr wrap="square" lIns="0" tIns="0" rIns="0" bIns="0" rtlCol="0" anchor="ctr"/>
          <a:lstStyle/>
          <a:p>
            <a:pPr indent="0" marL="0">
              <a:buNone/>
            </a:pPr>
            <a:r>
              <a:rPr lang="en-US" sz="1000" b="1" dirty="0">
                <a:solidFill>
                  <a:srgbClr val="008F8B"/>
                </a:solidFill>
                <a:latin typeface="Arial" pitchFamily="34" charset="0"/>
                <a:ea typeface="Arial" pitchFamily="34" charset="-122"/>
                <a:cs typeface="Arial" pitchFamily="34" charset="-120"/>
              </a:rPr>
              <a:t>07</a:t>
            </a:r>
            <a:endParaRPr lang="en-US" sz="1000" dirty="0"/>
          </a:p>
        </p:txBody>
      </p:sp>
      <p:sp>
        <p:nvSpPr>
          <p:cNvPr id="58" name="Text 54"/>
          <p:cNvSpPr/>
          <p:nvPr/>
        </p:nvSpPr>
        <p:spPr>
          <a:xfrm>
            <a:off x="3941064" y="3584448"/>
            <a:ext cx="2029968" cy="329184"/>
          </a:xfrm>
          <a:prstGeom prst="rect">
            <a:avLst/>
          </a:prstGeom>
          <a:noFill/>
          <a:ln/>
        </p:spPr>
        <p:txBody>
          <a:bodyPr wrap="square" lIns="0" tIns="0" rIns="0" bIns="0" rtlCol="0" anchor="ctr"/>
          <a:lstStyle/>
          <a:p>
            <a:pPr indent="0" marL="0">
              <a:buNone/>
            </a:pPr>
            <a:r>
              <a:rPr lang="en-US" sz="1400" b="1" dirty="0">
                <a:solidFill>
                  <a:srgbClr val="008F8B"/>
                </a:solidFill>
                <a:latin typeface="Arial" pitchFamily="34" charset="0"/>
                <a:ea typeface="Arial" pitchFamily="34" charset="-122"/>
                <a:cs typeface="Arial" pitchFamily="34" charset="-120"/>
              </a:rPr>
              <a:t>Draft brief</a:t>
            </a:r>
            <a:endParaRPr lang="en-US" sz="1400" dirty="0"/>
          </a:p>
        </p:txBody>
      </p:sp>
      <p:sp>
        <p:nvSpPr>
          <p:cNvPr id="59" name="Text 55"/>
          <p:cNvSpPr/>
          <p:nvPr/>
        </p:nvSpPr>
        <p:spPr>
          <a:xfrm>
            <a:off x="3511296" y="4023360"/>
            <a:ext cx="2432304" cy="65836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Summarize supplied evidence; link each finding to original page / field.</a:t>
            </a:r>
            <a:endParaRPr lang="en-US" sz="1170" dirty="0"/>
          </a:p>
        </p:txBody>
      </p:sp>
      <p:sp>
        <p:nvSpPr>
          <p:cNvPr id="60" name="Shape 56"/>
          <p:cNvSpPr/>
          <p:nvPr/>
        </p:nvSpPr>
        <p:spPr>
          <a:xfrm flipH="1">
            <a:off x="6080760" y="4114800"/>
            <a:ext cx="155448" cy="914"/>
          </a:xfrm>
          <a:prstGeom prst="line">
            <a:avLst/>
          </a:prstGeom>
          <a:noFill/>
          <a:ln w="17780">
            <a:solidFill>
              <a:srgbClr val="008F8B"/>
            </a:solidFill>
            <a:prstDash val="solid"/>
            <a:tailEnd type="triangle"/>
          </a:ln>
        </p:spPr>
      </p:sp>
      <p:sp>
        <p:nvSpPr>
          <p:cNvPr id="61" name="Shape 57"/>
          <p:cNvSpPr/>
          <p:nvPr/>
        </p:nvSpPr>
        <p:spPr>
          <a:xfrm>
            <a:off x="6263640" y="3493008"/>
            <a:ext cx="2688336" cy="1280160"/>
          </a:xfrm>
          <a:prstGeom prst="roundRect">
            <a:avLst>
              <a:gd name="adj" fmla="val 8571"/>
            </a:avLst>
          </a:prstGeom>
          <a:solidFill>
            <a:srgbClr val="DFF5F3"/>
          </a:solidFill>
          <a:ln w="10160">
            <a:solidFill>
              <a:srgbClr val="C5D9E3"/>
            </a:solidFill>
            <a:prstDash val="solid"/>
          </a:ln>
        </p:spPr>
      </p:sp>
      <p:sp>
        <p:nvSpPr>
          <p:cNvPr id="62" name="Shape 58"/>
          <p:cNvSpPr/>
          <p:nvPr/>
        </p:nvSpPr>
        <p:spPr>
          <a:xfrm>
            <a:off x="6373368" y="3602736"/>
            <a:ext cx="347472" cy="246888"/>
          </a:xfrm>
          <a:prstGeom prst="roundRect">
            <a:avLst>
              <a:gd name="adj" fmla="val 44444"/>
            </a:avLst>
          </a:prstGeom>
          <a:solidFill>
            <a:srgbClr val="FFFFFF"/>
          </a:solidFill>
          <a:ln w="10160">
            <a:solidFill>
              <a:srgbClr val="FFFFFF"/>
            </a:solidFill>
            <a:prstDash val="solid"/>
          </a:ln>
        </p:spPr>
      </p:sp>
      <p:sp>
        <p:nvSpPr>
          <p:cNvPr id="63" name="Text 59"/>
          <p:cNvSpPr/>
          <p:nvPr/>
        </p:nvSpPr>
        <p:spPr>
          <a:xfrm>
            <a:off x="6437376" y="3625596"/>
            <a:ext cx="219456" cy="201168"/>
          </a:xfrm>
          <a:prstGeom prst="rect">
            <a:avLst/>
          </a:prstGeom>
          <a:noFill/>
          <a:ln/>
        </p:spPr>
        <p:txBody>
          <a:bodyPr wrap="square" lIns="0" tIns="0" rIns="0" bIns="0" rtlCol="0" anchor="ctr"/>
          <a:lstStyle/>
          <a:p>
            <a:pPr indent="0" marL="0">
              <a:buNone/>
            </a:pPr>
            <a:r>
              <a:rPr lang="en-US" sz="1000" b="1" dirty="0">
                <a:solidFill>
                  <a:srgbClr val="008F8B"/>
                </a:solidFill>
                <a:latin typeface="Arial" pitchFamily="34" charset="0"/>
                <a:ea typeface="Arial" pitchFamily="34" charset="-122"/>
                <a:cs typeface="Arial" pitchFamily="34" charset="-120"/>
              </a:rPr>
              <a:t>06</a:t>
            </a:r>
            <a:endParaRPr lang="en-US" sz="1000" dirty="0"/>
          </a:p>
        </p:txBody>
      </p:sp>
      <p:sp>
        <p:nvSpPr>
          <p:cNvPr id="64" name="Text 60"/>
          <p:cNvSpPr/>
          <p:nvPr/>
        </p:nvSpPr>
        <p:spPr>
          <a:xfrm>
            <a:off x="6821424" y="3584448"/>
            <a:ext cx="2029968" cy="329184"/>
          </a:xfrm>
          <a:prstGeom prst="rect">
            <a:avLst/>
          </a:prstGeom>
          <a:noFill/>
          <a:ln/>
        </p:spPr>
        <p:txBody>
          <a:bodyPr wrap="square" lIns="0" tIns="0" rIns="0" bIns="0" rtlCol="0" anchor="ctr"/>
          <a:lstStyle/>
          <a:p>
            <a:pPr indent="0" marL="0">
              <a:buNone/>
            </a:pPr>
            <a:r>
              <a:rPr lang="en-US" sz="1400" b="1" dirty="0">
                <a:solidFill>
                  <a:srgbClr val="008F8B"/>
                </a:solidFill>
                <a:latin typeface="Arial" pitchFamily="34" charset="0"/>
                <a:ea typeface="Arial" pitchFamily="34" charset="-122"/>
                <a:cs typeface="Arial" pitchFamily="34" charset="-120"/>
              </a:rPr>
              <a:t>Check inconsistencies</a:t>
            </a:r>
            <a:endParaRPr lang="en-US" sz="1400" dirty="0"/>
          </a:p>
        </p:txBody>
      </p:sp>
      <p:sp>
        <p:nvSpPr>
          <p:cNvPr id="65" name="Text 61"/>
          <p:cNvSpPr/>
          <p:nvPr/>
        </p:nvSpPr>
        <p:spPr>
          <a:xfrm>
            <a:off x="6391656" y="4023360"/>
            <a:ext cx="2432304" cy="65836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Conflicting dates / values, missing history or uncertain extraction → flag.</a:t>
            </a:r>
            <a:endParaRPr lang="en-US" sz="1170" dirty="0"/>
          </a:p>
        </p:txBody>
      </p:sp>
      <p:sp>
        <p:nvSpPr>
          <p:cNvPr id="66" name="Shape 62"/>
          <p:cNvSpPr/>
          <p:nvPr/>
        </p:nvSpPr>
        <p:spPr>
          <a:xfrm flipH="1">
            <a:off x="8961120" y="4114800"/>
            <a:ext cx="155448" cy="914"/>
          </a:xfrm>
          <a:prstGeom prst="line">
            <a:avLst/>
          </a:prstGeom>
          <a:noFill/>
          <a:ln w="17780">
            <a:solidFill>
              <a:srgbClr val="008F8B"/>
            </a:solidFill>
            <a:prstDash val="solid"/>
            <a:tailEnd type="triangle"/>
          </a:ln>
        </p:spPr>
      </p:sp>
      <p:sp>
        <p:nvSpPr>
          <p:cNvPr id="67" name="Shape 63"/>
          <p:cNvSpPr/>
          <p:nvPr/>
        </p:nvSpPr>
        <p:spPr>
          <a:xfrm>
            <a:off x="9144000" y="3493008"/>
            <a:ext cx="2688336" cy="1280160"/>
          </a:xfrm>
          <a:prstGeom prst="roundRect">
            <a:avLst>
              <a:gd name="adj" fmla="val 8571"/>
            </a:avLst>
          </a:prstGeom>
          <a:solidFill>
            <a:srgbClr val="DFF5F3"/>
          </a:solidFill>
          <a:ln w="10160">
            <a:solidFill>
              <a:srgbClr val="C5D9E3"/>
            </a:solidFill>
            <a:prstDash val="solid"/>
          </a:ln>
        </p:spPr>
      </p:sp>
      <p:sp>
        <p:nvSpPr>
          <p:cNvPr id="68" name="Shape 64"/>
          <p:cNvSpPr/>
          <p:nvPr/>
        </p:nvSpPr>
        <p:spPr>
          <a:xfrm>
            <a:off x="9253728" y="3602736"/>
            <a:ext cx="347472" cy="246888"/>
          </a:xfrm>
          <a:prstGeom prst="roundRect">
            <a:avLst>
              <a:gd name="adj" fmla="val 44444"/>
            </a:avLst>
          </a:prstGeom>
          <a:solidFill>
            <a:srgbClr val="FFFFFF"/>
          </a:solidFill>
          <a:ln w="10160">
            <a:solidFill>
              <a:srgbClr val="FFFFFF"/>
            </a:solidFill>
            <a:prstDash val="solid"/>
          </a:ln>
        </p:spPr>
      </p:sp>
      <p:sp>
        <p:nvSpPr>
          <p:cNvPr id="69" name="Text 65"/>
          <p:cNvSpPr/>
          <p:nvPr/>
        </p:nvSpPr>
        <p:spPr>
          <a:xfrm>
            <a:off x="9317736" y="3625596"/>
            <a:ext cx="219456" cy="201168"/>
          </a:xfrm>
          <a:prstGeom prst="rect">
            <a:avLst/>
          </a:prstGeom>
          <a:noFill/>
          <a:ln/>
        </p:spPr>
        <p:txBody>
          <a:bodyPr wrap="square" lIns="0" tIns="0" rIns="0" bIns="0" rtlCol="0" anchor="ctr"/>
          <a:lstStyle/>
          <a:p>
            <a:pPr indent="0" marL="0">
              <a:buNone/>
            </a:pPr>
            <a:r>
              <a:rPr lang="en-US" sz="1000" b="1" dirty="0">
                <a:solidFill>
                  <a:srgbClr val="008F8B"/>
                </a:solidFill>
                <a:latin typeface="Arial" pitchFamily="34" charset="0"/>
                <a:ea typeface="Arial" pitchFamily="34" charset="-122"/>
                <a:cs typeface="Arial" pitchFamily="34" charset="-120"/>
              </a:rPr>
              <a:t>05</a:t>
            </a:r>
            <a:endParaRPr lang="en-US" sz="1000" dirty="0"/>
          </a:p>
        </p:txBody>
      </p:sp>
      <p:sp>
        <p:nvSpPr>
          <p:cNvPr id="70" name="Text 66"/>
          <p:cNvSpPr/>
          <p:nvPr/>
        </p:nvSpPr>
        <p:spPr>
          <a:xfrm>
            <a:off x="9701784" y="3584448"/>
            <a:ext cx="2029968" cy="329184"/>
          </a:xfrm>
          <a:prstGeom prst="rect">
            <a:avLst/>
          </a:prstGeom>
          <a:noFill/>
          <a:ln/>
        </p:spPr>
        <p:txBody>
          <a:bodyPr wrap="square" lIns="0" tIns="0" rIns="0" bIns="0" rtlCol="0" anchor="ctr"/>
          <a:lstStyle/>
          <a:p>
            <a:pPr indent="0" marL="0">
              <a:buNone/>
            </a:pPr>
            <a:r>
              <a:rPr lang="en-US" sz="1400" b="1" dirty="0">
                <a:solidFill>
                  <a:srgbClr val="008F8B"/>
                </a:solidFill>
                <a:latin typeface="Arial" pitchFamily="34" charset="0"/>
                <a:ea typeface="Arial" pitchFamily="34" charset="-122"/>
                <a:cs typeface="Arial" pitchFamily="34" charset="-120"/>
              </a:rPr>
              <a:t>Secure record links</a:t>
            </a:r>
            <a:endParaRPr lang="en-US" sz="1400" dirty="0"/>
          </a:p>
        </p:txBody>
      </p:sp>
      <p:sp>
        <p:nvSpPr>
          <p:cNvPr id="71" name="Text 67"/>
          <p:cNvSpPr/>
          <p:nvPr/>
        </p:nvSpPr>
        <p:spPr>
          <a:xfrm>
            <a:off x="9272016" y="4023360"/>
            <a:ext cx="2432304" cy="658368"/>
          </a:xfrm>
          <a:prstGeom prst="rect">
            <a:avLst/>
          </a:prstGeom>
          <a:noFill/>
          <a:ln/>
        </p:spPr>
        <p:txBody>
          <a:bodyPr wrap="square" lIns="0" tIns="0" rIns="0" bIns="0" rtlCol="0" anchor="t"/>
          <a:lstStyle/>
          <a:p>
            <a:pPr indent="0" marL="0">
              <a:buNone/>
            </a:pPr>
            <a:r>
              <a:rPr lang="en-US" sz="1170" dirty="0">
                <a:solidFill>
                  <a:srgbClr val="233B4C"/>
                </a:solidFill>
                <a:latin typeface="Arial" pitchFamily="34" charset="0"/>
                <a:ea typeface="Arial" pitchFamily="34" charset="-122"/>
                <a:cs typeface="Arial" pitchFamily="34" charset="-120"/>
              </a:rPr>
              <a:t>Encrypted originals + structured fields + permission-filtered evidence.</a:t>
            </a:r>
            <a:endParaRPr lang="en-US" sz="1170" dirty="0"/>
          </a:p>
        </p:txBody>
      </p:sp>
      <p:sp>
        <p:nvSpPr>
          <p:cNvPr id="72" name="Shape 68"/>
          <p:cNvSpPr/>
          <p:nvPr/>
        </p:nvSpPr>
        <p:spPr>
          <a:xfrm>
            <a:off x="502920" y="5129784"/>
            <a:ext cx="4590288" cy="914400"/>
          </a:xfrm>
          <a:prstGeom prst="roundRect">
            <a:avLst>
              <a:gd name="adj" fmla="val 12000"/>
            </a:avLst>
          </a:prstGeom>
          <a:solidFill>
            <a:srgbClr val="EAF4FA"/>
          </a:solidFill>
          <a:ln w="10160">
            <a:solidFill>
              <a:srgbClr val="C5D9E3"/>
            </a:solidFill>
            <a:prstDash val="solid"/>
          </a:ln>
        </p:spPr>
      </p:sp>
      <p:sp>
        <p:nvSpPr>
          <p:cNvPr id="73" name="Shape 69"/>
          <p:cNvSpPr/>
          <p:nvPr/>
        </p:nvSpPr>
        <p:spPr>
          <a:xfrm>
            <a:off x="730788" y="5340096"/>
            <a:ext cx="261518" cy="394289"/>
          </a:xfrm>
          <a:prstGeom prst="rect">
            <a:avLst>
              <a:gd name="adj" fmla="val 41958"/>
            </a:avLst>
          </a:prstGeom>
          <a:solidFill>
            <a:srgbClr val="FFFFFF"/>
          </a:solidFill>
          <a:ln w="10160">
            <a:solidFill>
              <a:srgbClr val="008F8B"/>
            </a:solidFill>
            <a:prstDash val="solid"/>
          </a:ln>
        </p:spPr>
      </p:sp>
      <p:sp>
        <p:nvSpPr>
          <p:cNvPr id="74" name="Shape 70"/>
          <p:cNvSpPr/>
          <p:nvPr/>
        </p:nvSpPr>
        <p:spPr>
          <a:xfrm>
            <a:off x="779069" y="5460797"/>
            <a:ext cx="156911" cy="914"/>
          </a:xfrm>
          <a:prstGeom prst="line">
            <a:avLst/>
          </a:prstGeom>
          <a:noFill/>
          <a:ln w="12700">
            <a:solidFill>
              <a:srgbClr val="008F8B"/>
            </a:solidFill>
            <a:prstDash val="solid"/>
          </a:ln>
        </p:spPr>
      </p:sp>
      <p:sp>
        <p:nvSpPr>
          <p:cNvPr id="75" name="Shape 71"/>
          <p:cNvSpPr/>
          <p:nvPr/>
        </p:nvSpPr>
        <p:spPr>
          <a:xfrm>
            <a:off x="779069" y="5541264"/>
            <a:ext cx="156911" cy="914"/>
          </a:xfrm>
          <a:prstGeom prst="line">
            <a:avLst/>
          </a:prstGeom>
          <a:noFill/>
          <a:ln w="12700">
            <a:solidFill>
              <a:srgbClr val="008F8B"/>
            </a:solidFill>
            <a:prstDash val="solid"/>
          </a:ln>
        </p:spPr>
      </p:sp>
      <p:sp>
        <p:nvSpPr>
          <p:cNvPr id="76" name="Shape 72"/>
          <p:cNvSpPr/>
          <p:nvPr/>
        </p:nvSpPr>
        <p:spPr>
          <a:xfrm>
            <a:off x="779069" y="5621731"/>
            <a:ext cx="156911" cy="914"/>
          </a:xfrm>
          <a:prstGeom prst="line">
            <a:avLst/>
          </a:prstGeom>
          <a:noFill/>
          <a:ln w="12700">
            <a:solidFill>
              <a:srgbClr val="008F8B"/>
            </a:solidFill>
            <a:prstDash val="solid"/>
          </a:ln>
        </p:spPr>
      </p:sp>
      <p:sp>
        <p:nvSpPr>
          <p:cNvPr id="77" name="Text 73"/>
          <p:cNvSpPr/>
          <p:nvPr/>
        </p:nvSpPr>
        <p:spPr>
          <a:xfrm>
            <a:off x="1179576" y="5230368"/>
            <a:ext cx="3685032" cy="246888"/>
          </a:xfrm>
          <a:prstGeom prst="rect">
            <a:avLst/>
          </a:prstGeom>
          <a:noFill/>
          <a:ln/>
        </p:spPr>
        <p:txBody>
          <a:bodyPr wrap="square" lIns="0" tIns="0" rIns="0" bIns="0" rtlCol="0" anchor="ctr"/>
          <a:lstStyle/>
          <a:p>
            <a:pPr indent="0" marL="0">
              <a:buNone/>
            </a:pPr>
            <a:r>
              <a:rPr lang="en-US" sz="1400" b="1" dirty="0">
                <a:solidFill>
                  <a:srgbClr val="087FB8"/>
                </a:solidFill>
                <a:latin typeface="Arial" pitchFamily="34" charset="0"/>
                <a:ea typeface="Arial" pitchFamily="34" charset="-122"/>
                <a:cs typeface="Arial" pitchFamily="34" charset="-120"/>
              </a:rPr>
              <a:t>Source-grounded output contract</a:t>
            </a:r>
            <a:endParaRPr lang="en-US" sz="1400" dirty="0"/>
          </a:p>
        </p:txBody>
      </p:sp>
      <p:sp>
        <p:nvSpPr>
          <p:cNvPr id="78" name="Text 74"/>
          <p:cNvSpPr/>
          <p:nvPr/>
        </p:nvSpPr>
        <p:spPr>
          <a:xfrm>
            <a:off x="1179576" y="5596128"/>
            <a:ext cx="3712464" cy="265176"/>
          </a:xfrm>
          <a:prstGeom prst="rect">
            <a:avLst/>
          </a:prstGeom>
          <a:noFill/>
          <a:ln/>
        </p:spPr>
        <p:txBody>
          <a:bodyPr wrap="square" lIns="0" tIns="0" rIns="0" bIns="0" rtlCol="0" anchor="ctr"/>
          <a:lstStyle/>
          <a:p>
            <a:pPr indent="0" marL="0">
              <a:buNone/>
            </a:pPr>
            <a:r>
              <a:rPr lang="en-US" sz="1120" dirty="0">
                <a:solidFill>
                  <a:srgbClr val="233B4C"/>
                </a:solidFill>
                <a:latin typeface="Arial" pitchFamily="34" charset="0"/>
                <a:ea typeface="Arial" pitchFamily="34" charset="-122"/>
                <a:cs typeface="Arial" pitchFamily="34" charset="-120"/>
              </a:rPr>
              <a:t>Finding → value + unit → document ID / page → confidence → review status</a:t>
            </a:r>
            <a:endParaRPr lang="en-US" sz="1120" dirty="0"/>
          </a:p>
        </p:txBody>
      </p:sp>
      <p:sp>
        <p:nvSpPr>
          <p:cNvPr id="79" name="Shape 75"/>
          <p:cNvSpPr/>
          <p:nvPr/>
        </p:nvSpPr>
        <p:spPr>
          <a:xfrm>
            <a:off x="5321808" y="5129784"/>
            <a:ext cx="3767328" cy="914400"/>
          </a:xfrm>
          <a:prstGeom prst="roundRect">
            <a:avLst>
              <a:gd name="adj" fmla="val 12000"/>
            </a:avLst>
          </a:prstGeom>
          <a:solidFill>
            <a:srgbClr val="FFF3DE"/>
          </a:solidFill>
          <a:ln w="10160">
            <a:solidFill>
              <a:srgbClr val="C5D9E3"/>
            </a:solidFill>
            <a:prstDash val="solid"/>
          </a:ln>
        </p:spPr>
      </p:sp>
      <p:sp>
        <p:nvSpPr>
          <p:cNvPr id="80" name="Text 76"/>
          <p:cNvSpPr/>
          <p:nvPr/>
        </p:nvSpPr>
        <p:spPr>
          <a:xfrm>
            <a:off x="5486400" y="5239512"/>
            <a:ext cx="3419856" cy="201168"/>
          </a:xfrm>
          <a:prstGeom prst="rect">
            <a:avLst/>
          </a:prstGeom>
          <a:noFill/>
          <a:ln/>
        </p:spPr>
        <p:txBody>
          <a:bodyPr wrap="square" lIns="0" tIns="0" rIns="0" bIns="0" rtlCol="0" anchor="ctr"/>
          <a:lstStyle/>
          <a:p>
            <a:pPr indent="0" marL="0">
              <a:buNone/>
            </a:pPr>
            <a:r>
              <a:rPr lang="en-US" sz="1180" b="1" dirty="0">
                <a:solidFill>
                  <a:srgbClr val="B46B12"/>
                </a:solidFill>
                <a:latin typeface="Arial" pitchFamily="34" charset="0"/>
                <a:ea typeface="Arial" pitchFamily="34" charset="-122"/>
                <a:cs typeface="Arial" pitchFamily="34" charset="-120"/>
              </a:rPr>
              <a:t>UNCERTAINTY GATE</a:t>
            </a:r>
            <a:endParaRPr lang="en-US" sz="1180" dirty="0"/>
          </a:p>
        </p:txBody>
      </p:sp>
      <p:sp>
        <p:nvSpPr>
          <p:cNvPr id="81" name="Text 77"/>
          <p:cNvSpPr/>
          <p:nvPr/>
        </p:nvSpPr>
        <p:spPr>
          <a:xfrm>
            <a:off x="5486400" y="5559552"/>
            <a:ext cx="3419856" cy="320040"/>
          </a:xfrm>
          <a:prstGeom prst="rect">
            <a:avLst/>
          </a:prstGeom>
          <a:noFill/>
          <a:ln/>
        </p:spPr>
        <p:txBody>
          <a:bodyPr wrap="square" lIns="0" tIns="0" rIns="0" bIns="0" rtlCol="0" anchor="ctr"/>
          <a:lstStyle/>
          <a:p>
            <a:pPr indent="0" marL="0">
              <a:buNone/>
            </a:pPr>
            <a:r>
              <a:rPr lang="en-US" sz="1120" dirty="0">
                <a:solidFill>
                  <a:srgbClr val="233B4C"/>
                </a:solidFill>
                <a:latin typeface="Arial" pitchFamily="34" charset="0"/>
                <a:ea typeface="Arial" pitchFamily="34" charset="-122"/>
                <a:cs typeface="Arial" pitchFamily="34" charset="-120"/>
              </a:rPr>
              <a:t>Illegible / ambiguous evidence is shown as unresolved; clinician or patient corrects it.</a:t>
            </a:r>
            <a:endParaRPr lang="en-US" sz="1120" dirty="0"/>
          </a:p>
        </p:txBody>
      </p:sp>
      <p:sp>
        <p:nvSpPr>
          <p:cNvPr id="82" name="Shape 78"/>
          <p:cNvSpPr/>
          <p:nvPr/>
        </p:nvSpPr>
        <p:spPr>
          <a:xfrm>
            <a:off x="9317736" y="5129784"/>
            <a:ext cx="2569464" cy="914400"/>
          </a:xfrm>
          <a:prstGeom prst="roundRect">
            <a:avLst>
              <a:gd name="adj" fmla="val 12000"/>
            </a:avLst>
          </a:prstGeom>
          <a:solidFill>
            <a:srgbClr val="103A59"/>
          </a:solidFill>
          <a:ln w="10160">
            <a:solidFill>
              <a:srgbClr val="103A59"/>
            </a:solidFill>
            <a:prstDash val="solid"/>
          </a:ln>
        </p:spPr>
      </p:sp>
      <p:sp>
        <p:nvSpPr>
          <p:cNvPr id="83" name="Text 79"/>
          <p:cNvSpPr/>
          <p:nvPr/>
        </p:nvSpPr>
        <p:spPr>
          <a:xfrm>
            <a:off x="9454896" y="5239512"/>
            <a:ext cx="2295144" cy="219456"/>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NEVER</a:t>
            </a:r>
            <a:endParaRPr lang="en-US" sz="1200" dirty="0"/>
          </a:p>
        </p:txBody>
      </p:sp>
      <p:sp>
        <p:nvSpPr>
          <p:cNvPr id="84" name="Text 80"/>
          <p:cNvSpPr/>
          <p:nvPr/>
        </p:nvSpPr>
        <p:spPr>
          <a:xfrm>
            <a:off x="9454896" y="5522976"/>
            <a:ext cx="2295144" cy="411480"/>
          </a:xfrm>
          <a:prstGeom prst="rect">
            <a:avLst/>
          </a:prstGeom>
          <a:noFill/>
          <a:ln/>
        </p:spPr>
        <p:txBody>
          <a:bodyPr wrap="square" lIns="0" tIns="0" rIns="0" bIns="0" rtlCol="0" anchor="ctr"/>
          <a:lstStyle/>
          <a:p>
            <a:pPr indent="0" marL="0">
              <a:buNone/>
            </a:pPr>
            <a:r>
              <a:rPr lang="en-US" sz="1140" dirty="0">
                <a:solidFill>
                  <a:srgbClr val="FFFFFF"/>
                </a:solidFill>
                <a:latin typeface="Arial" pitchFamily="34" charset="0"/>
                <a:ea typeface="Arial" pitchFamily="34" charset="-122"/>
                <a:cs typeface="Arial" pitchFamily="34" charset="-120"/>
              </a:rPr>
              <a:t>Alter originals</a:t>
            </a:r>
            <a:endParaRPr lang="en-US" sz="1140" dirty="0"/>
          </a:p>
          <a:p>
            <a:pPr indent="0" marL="0">
              <a:buNone/>
            </a:pPr>
            <a:r>
              <a:rPr lang="en-US" sz="1140" dirty="0">
                <a:solidFill>
                  <a:srgbClr val="FFFFFF"/>
                </a:solidFill>
                <a:latin typeface="Arial" pitchFamily="34" charset="0"/>
                <a:ea typeface="Arial" pitchFamily="34" charset="-122"/>
                <a:cs typeface="Arial" pitchFamily="34" charset="-120"/>
              </a:rPr>
              <a:t>Invent missing findings</a:t>
            </a:r>
            <a:endParaRPr lang="en-US" sz="1140" dirty="0"/>
          </a:p>
          <a:p>
            <a:pPr indent="0" marL="0">
              <a:buNone/>
            </a:pPr>
            <a:r>
              <a:rPr lang="en-US" sz="1140" dirty="0">
                <a:solidFill>
                  <a:srgbClr val="FFFFFF"/>
                </a:solidFill>
                <a:latin typeface="Arial" pitchFamily="34" charset="0"/>
                <a:ea typeface="Arial" pitchFamily="34" charset="-122"/>
                <a:cs typeface="Arial" pitchFamily="34" charset="-120"/>
              </a:rPr>
              <a:t>Auto-prescribe</a:t>
            </a:r>
            <a:endParaRPr lang="en-US" sz="11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SYSTEM ARCHITECTURE</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Modular services around a consent-aware data core</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Candidate stack inherited from the uploaded project deck; provider selection and deployment remain unfinalized.</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06 / 12</a:t>
            </a:r>
            <a:endParaRPr lang="en-US" sz="950" dirty="0"/>
          </a:p>
        </p:txBody>
      </p:sp>
      <p:sp>
        <p:nvSpPr>
          <p:cNvPr id="22" name="Text 18"/>
          <p:cNvSpPr/>
          <p:nvPr/>
        </p:nvSpPr>
        <p:spPr>
          <a:xfrm>
            <a:off x="502920" y="1371600"/>
            <a:ext cx="5486400"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ROLE-SPECIFIC INTERFACES</a:t>
            </a:r>
            <a:endParaRPr lang="en-US" sz="1050" dirty="0"/>
          </a:p>
        </p:txBody>
      </p:sp>
      <p:sp>
        <p:nvSpPr>
          <p:cNvPr id="23" name="Shape 19"/>
          <p:cNvSpPr/>
          <p:nvPr/>
        </p:nvSpPr>
        <p:spPr>
          <a:xfrm>
            <a:off x="502920" y="1673352"/>
            <a:ext cx="2459736" cy="448056"/>
          </a:xfrm>
          <a:prstGeom prst="roundRect">
            <a:avLst>
              <a:gd name="adj" fmla="val 24490"/>
            </a:avLst>
          </a:prstGeom>
          <a:solidFill>
            <a:srgbClr val="EAF4FA"/>
          </a:solidFill>
          <a:ln w="10160">
            <a:solidFill>
              <a:srgbClr val="C5D9E3"/>
            </a:solidFill>
            <a:prstDash val="solid"/>
          </a:ln>
        </p:spPr>
      </p:sp>
      <p:sp>
        <p:nvSpPr>
          <p:cNvPr id="24" name="Text 20"/>
          <p:cNvSpPr/>
          <p:nvPr/>
        </p:nvSpPr>
        <p:spPr>
          <a:xfrm>
            <a:off x="594360" y="1773936"/>
            <a:ext cx="2276856" cy="219456"/>
          </a:xfrm>
          <a:prstGeom prst="rect">
            <a:avLst/>
          </a:prstGeom>
          <a:noFill/>
          <a:ln/>
        </p:spPr>
        <p:txBody>
          <a:bodyPr wrap="square" lIns="0" tIns="0" rIns="0" bIns="0" rtlCol="0" anchor="ctr"/>
          <a:lstStyle/>
          <a:p>
            <a:pPr algn="ctr" indent="0" marL="0">
              <a:buNone/>
            </a:pPr>
            <a:r>
              <a:rPr lang="en-US" sz="1300" b="1" dirty="0">
                <a:solidFill>
                  <a:srgbClr val="087FB8"/>
                </a:solidFill>
                <a:latin typeface="Arial" pitchFamily="34" charset="0"/>
                <a:ea typeface="Arial" pitchFamily="34" charset="-122"/>
                <a:cs typeface="Arial" pitchFamily="34" charset="-120"/>
              </a:rPr>
              <a:t>Patient web / app</a:t>
            </a:r>
            <a:endParaRPr lang="en-US" sz="1300" dirty="0"/>
          </a:p>
        </p:txBody>
      </p:sp>
      <p:sp>
        <p:nvSpPr>
          <p:cNvPr id="25" name="Shape 21"/>
          <p:cNvSpPr/>
          <p:nvPr/>
        </p:nvSpPr>
        <p:spPr>
          <a:xfrm>
            <a:off x="1737360" y="2139696"/>
            <a:ext cx="914" cy="283464"/>
          </a:xfrm>
          <a:prstGeom prst="line">
            <a:avLst/>
          </a:prstGeom>
          <a:noFill/>
          <a:ln w="13970">
            <a:solidFill>
              <a:srgbClr val="087FB8"/>
            </a:solidFill>
            <a:prstDash val="solid"/>
            <a:tailEnd type="triangle"/>
          </a:ln>
        </p:spPr>
      </p:sp>
      <p:sp>
        <p:nvSpPr>
          <p:cNvPr id="26" name="Shape 22"/>
          <p:cNvSpPr/>
          <p:nvPr/>
        </p:nvSpPr>
        <p:spPr>
          <a:xfrm>
            <a:off x="3127248" y="1673352"/>
            <a:ext cx="2459736" cy="448056"/>
          </a:xfrm>
          <a:prstGeom prst="roundRect">
            <a:avLst>
              <a:gd name="adj" fmla="val 24490"/>
            </a:avLst>
          </a:prstGeom>
          <a:solidFill>
            <a:srgbClr val="EAF4FA"/>
          </a:solidFill>
          <a:ln w="10160">
            <a:solidFill>
              <a:srgbClr val="C5D9E3"/>
            </a:solidFill>
            <a:prstDash val="solid"/>
          </a:ln>
        </p:spPr>
      </p:sp>
      <p:sp>
        <p:nvSpPr>
          <p:cNvPr id="27" name="Text 23"/>
          <p:cNvSpPr/>
          <p:nvPr/>
        </p:nvSpPr>
        <p:spPr>
          <a:xfrm>
            <a:off x="3218688" y="1773936"/>
            <a:ext cx="2276856" cy="219456"/>
          </a:xfrm>
          <a:prstGeom prst="rect">
            <a:avLst/>
          </a:prstGeom>
          <a:noFill/>
          <a:ln/>
        </p:spPr>
        <p:txBody>
          <a:bodyPr wrap="square" lIns="0" tIns="0" rIns="0" bIns="0" rtlCol="0" anchor="ctr"/>
          <a:lstStyle/>
          <a:p>
            <a:pPr algn="ctr" indent="0" marL="0">
              <a:buNone/>
            </a:pPr>
            <a:r>
              <a:rPr lang="en-US" sz="1300" b="1" dirty="0">
                <a:solidFill>
                  <a:srgbClr val="087FB8"/>
                </a:solidFill>
                <a:latin typeface="Arial" pitchFamily="34" charset="0"/>
                <a:ea typeface="Arial" pitchFamily="34" charset="-122"/>
                <a:cs typeface="Arial" pitchFamily="34" charset="-120"/>
              </a:rPr>
              <a:t>Doctor portal</a:t>
            </a:r>
            <a:endParaRPr lang="en-US" sz="1300" dirty="0"/>
          </a:p>
        </p:txBody>
      </p:sp>
      <p:sp>
        <p:nvSpPr>
          <p:cNvPr id="28" name="Shape 24"/>
          <p:cNvSpPr/>
          <p:nvPr/>
        </p:nvSpPr>
        <p:spPr>
          <a:xfrm>
            <a:off x="4361688" y="2139696"/>
            <a:ext cx="914" cy="283464"/>
          </a:xfrm>
          <a:prstGeom prst="line">
            <a:avLst/>
          </a:prstGeom>
          <a:noFill/>
          <a:ln w="13970">
            <a:solidFill>
              <a:srgbClr val="087FB8"/>
            </a:solidFill>
            <a:prstDash val="solid"/>
            <a:tailEnd type="triangle"/>
          </a:ln>
        </p:spPr>
      </p:sp>
      <p:sp>
        <p:nvSpPr>
          <p:cNvPr id="29" name="Shape 25"/>
          <p:cNvSpPr/>
          <p:nvPr/>
        </p:nvSpPr>
        <p:spPr>
          <a:xfrm>
            <a:off x="5751576" y="1673352"/>
            <a:ext cx="2459736" cy="448056"/>
          </a:xfrm>
          <a:prstGeom prst="roundRect">
            <a:avLst>
              <a:gd name="adj" fmla="val 24490"/>
            </a:avLst>
          </a:prstGeom>
          <a:solidFill>
            <a:srgbClr val="EAF4FA"/>
          </a:solidFill>
          <a:ln w="10160">
            <a:solidFill>
              <a:srgbClr val="C5D9E3"/>
            </a:solidFill>
            <a:prstDash val="solid"/>
          </a:ln>
        </p:spPr>
      </p:sp>
      <p:sp>
        <p:nvSpPr>
          <p:cNvPr id="30" name="Text 26"/>
          <p:cNvSpPr/>
          <p:nvPr/>
        </p:nvSpPr>
        <p:spPr>
          <a:xfrm>
            <a:off x="5843016" y="1773936"/>
            <a:ext cx="2276856" cy="219456"/>
          </a:xfrm>
          <a:prstGeom prst="rect">
            <a:avLst/>
          </a:prstGeom>
          <a:noFill/>
          <a:ln/>
        </p:spPr>
        <p:txBody>
          <a:bodyPr wrap="square" lIns="0" tIns="0" rIns="0" bIns="0" rtlCol="0" anchor="ctr"/>
          <a:lstStyle/>
          <a:p>
            <a:pPr algn="ctr" indent="0" marL="0">
              <a:buNone/>
            </a:pPr>
            <a:r>
              <a:rPr lang="en-US" sz="1300" b="1" dirty="0">
                <a:solidFill>
                  <a:srgbClr val="087FB8"/>
                </a:solidFill>
                <a:latin typeface="Arial" pitchFamily="34" charset="0"/>
                <a:ea typeface="Arial" pitchFamily="34" charset="-122"/>
                <a:cs typeface="Arial" pitchFamily="34" charset="-120"/>
              </a:rPr>
              <a:t>Hospital / admin</a:t>
            </a:r>
            <a:endParaRPr lang="en-US" sz="1300" dirty="0"/>
          </a:p>
        </p:txBody>
      </p:sp>
      <p:sp>
        <p:nvSpPr>
          <p:cNvPr id="31" name="Shape 27"/>
          <p:cNvSpPr/>
          <p:nvPr/>
        </p:nvSpPr>
        <p:spPr>
          <a:xfrm>
            <a:off x="6986016" y="2139696"/>
            <a:ext cx="914" cy="283464"/>
          </a:xfrm>
          <a:prstGeom prst="line">
            <a:avLst/>
          </a:prstGeom>
          <a:noFill/>
          <a:ln w="13970">
            <a:solidFill>
              <a:srgbClr val="087FB8"/>
            </a:solidFill>
            <a:prstDash val="solid"/>
            <a:tailEnd type="triangle"/>
          </a:ln>
        </p:spPr>
      </p:sp>
      <p:sp>
        <p:nvSpPr>
          <p:cNvPr id="32" name="Shape 28"/>
          <p:cNvSpPr/>
          <p:nvPr/>
        </p:nvSpPr>
        <p:spPr>
          <a:xfrm>
            <a:off x="502920" y="2468880"/>
            <a:ext cx="7708392" cy="530352"/>
          </a:xfrm>
          <a:prstGeom prst="roundRect">
            <a:avLst>
              <a:gd name="adj" fmla="val 20690"/>
            </a:avLst>
          </a:prstGeom>
          <a:solidFill>
            <a:srgbClr val="103A59"/>
          </a:solidFill>
          <a:ln w="10160">
            <a:solidFill>
              <a:srgbClr val="103A59"/>
            </a:solidFill>
            <a:prstDash val="solid"/>
          </a:ln>
        </p:spPr>
      </p:sp>
      <p:sp>
        <p:nvSpPr>
          <p:cNvPr id="33" name="Text 29"/>
          <p:cNvSpPr/>
          <p:nvPr/>
        </p:nvSpPr>
        <p:spPr>
          <a:xfrm>
            <a:off x="630936" y="2615184"/>
            <a:ext cx="7452360" cy="246888"/>
          </a:xfrm>
          <a:prstGeom prst="rect">
            <a:avLst/>
          </a:prstGeom>
          <a:noFill/>
          <a:ln/>
        </p:spPr>
        <p:txBody>
          <a:bodyPr wrap="square" lIns="0" tIns="0" rIns="0" bIns="0" rtlCol="0" anchor="ctr"/>
          <a:lstStyle/>
          <a:p>
            <a:pPr algn="ctr" indent="0" marL="0">
              <a:buNone/>
            </a:pPr>
            <a:r>
              <a:rPr lang="en-US" sz="1330" b="1" dirty="0">
                <a:solidFill>
                  <a:srgbClr val="FFFFFF"/>
                </a:solidFill>
                <a:latin typeface="Arial" pitchFamily="34" charset="0"/>
                <a:ea typeface="Arial" pitchFamily="34" charset="-122"/>
                <a:cs typeface="Arial" pitchFamily="34" charset="-120"/>
              </a:rPr>
              <a:t>API layer  •  Authentication  •  Consent policy  •  Role / record authorization</a:t>
            </a:r>
            <a:endParaRPr lang="en-US" sz="1330" dirty="0"/>
          </a:p>
        </p:txBody>
      </p:sp>
      <p:sp>
        <p:nvSpPr>
          <p:cNvPr id="34" name="Shape 30"/>
          <p:cNvSpPr/>
          <p:nvPr/>
        </p:nvSpPr>
        <p:spPr>
          <a:xfrm>
            <a:off x="1737360" y="3017520"/>
            <a:ext cx="914" cy="237744"/>
          </a:xfrm>
          <a:prstGeom prst="line">
            <a:avLst/>
          </a:prstGeom>
          <a:noFill/>
          <a:ln w="13970">
            <a:solidFill>
              <a:srgbClr val="087FB8"/>
            </a:solidFill>
            <a:prstDash val="solid"/>
            <a:tailEnd type="triangle"/>
          </a:ln>
        </p:spPr>
      </p:sp>
      <p:sp>
        <p:nvSpPr>
          <p:cNvPr id="35" name="Shape 31"/>
          <p:cNvSpPr/>
          <p:nvPr/>
        </p:nvSpPr>
        <p:spPr>
          <a:xfrm>
            <a:off x="502920" y="3300984"/>
            <a:ext cx="2459736" cy="649224"/>
          </a:xfrm>
          <a:prstGeom prst="roundRect">
            <a:avLst>
              <a:gd name="adj" fmla="val 16901"/>
            </a:avLst>
          </a:prstGeom>
          <a:solidFill>
            <a:srgbClr val="FFFFFF"/>
          </a:solidFill>
          <a:ln w="10160">
            <a:solidFill>
              <a:srgbClr val="C5D9E3"/>
            </a:solidFill>
            <a:prstDash val="solid"/>
          </a:ln>
        </p:spPr>
      </p:sp>
      <p:sp>
        <p:nvSpPr>
          <p:cNvPr id="36" name="Text 32"/>
          <p:cNvSpPr/>
          <p:nvPr/>
        </p:nvSpPr>
        <p:spPr>
          <a:xfrm>
            <a:off x="594360" y="3392424"/>
            <a:ext cx="2276856" cy="210312"/>
          </a:xfrm>
          <a:prstGeom prst="rect">
            <a:avLst/>
          </a:prstGeom>
          <a:noFill/>
          <a:ln/>
        </p:spPr>
        <p:txBody>
          <a:bodyPr wrap="square" lIns="0" tIns="0" rIns="0" bIns="0" rtlCol="0" anchor="ctr"/>
          <a:lstStyle/>
          <a:p>
            <a:pPr algn="ctr" indent="0" marL="0">
              <a:buNone/>
            </a:pPr>
            <a:r>
              <a:rPr lang="en-US" sz="1270" b="1" dirty="0">
                <a:solidFill>
                  <a:srgbClr val="103A59"/>
                </a:solidFill>
                <a:latin typeface="Arial" pitchFamily="34" charset="0"/>
                <a:ea typeface="Arial" pitchFamily="34" charset="-122"/>
                <a:cs typeface="Arial" pitchFamily="34" charset="-120"/>
              </a:rPr>
              <a:t>Records &amp; versions</a:t>
            </a:r>
            <a:endParaRPr lang="en-US" sz="1270" dirty="0"/>
          </a:p>
        </p:txBody>
      </p:sp>
      <p:sp>
        <p:nvSpPr>
          <p:cNvPr id="37" name="Text 33"/>
          <p:cNvSpPr/>
          <p:nvPr/>
        </p:nvSpPr>
        <p:spPr>
          <a:xfrm>
            <a:off x="594360" y="3703320"/>
            <a:ext cx="2276856" cy="173736"/>
          </a:xfrm>
          <a:prstGeom prst="rect">
            <a:avLst/>
          </a:prstGeom>
          <a:noFill/>
          <a:ln/>
        </p:spPr>
        <p:txBody>
          <a:bodyPr wrap="square" lIns="0" tIns="0" rIns="0" bIns="0" rtlCol="0" anchor="ctr"/>
          <a:lstStyle/>
          <a:p>
            <a:pPr algn="ctr" indent="0" marL="0">
              <a:buNone/>
            </a:pPr>
            <a:r>
              <a:rPr lang="en-US" sz="1060" dirty="0">
                <a:solidFill>
                  <a:srgbClr val="5E7281"/>
                </a:solidFill>
                <a:latin typeface="Arial" pitchFamily="34" charset="0"/>
                <a:ea typeface="Arial" pitchFamily="34" charset="-122"/>
                <a:cs typeface="Arial" pitchFamily="34" charset="-120"/>
              </a:rPr>
              <a:t>Upload / history / brief</a:t>
            </a:r>
            <a:endParaRPr lang="en-US" sz="1060" dirty="0"/>
          </a:p>
        </p:txBody>
      </p:sp>
      <p:sp>
        <p:nvSpPr>
          <p:cNvPr id="38" name="Shape 34"/>
          <p:cNvSpPr/>
          <p:nvPr/>
        </p:nvSpPr>
        <p:spPr>
          <a:xfrm>
            <a:off x="4361688" y="3017520"/>
            <a:ext cx="914" cy="237744"/>
          </a:xfrm>
          <a:prstGeom prst="line">
            <a:avLst/>
          </a:prstGeom>
          <a:noFill/>
          <a:ln w="13970">
            <a:solidFill>
              <a:srgbClr val="087FB8"/>
            </a:solidFill>
            <a:prstDash val="solid"/>
            <a:tailEnd type="triangle"/>
          </a:ln>
        </p:spPr>
      </p:sp>
      <p:sp>
        <p:nvSpPr>
          <p:cNvPr id="39" name="Shape 35"/>
          <p:cNvSpPr/>
          <p:nvPr/>
        </p:nvSpPr>
        <p:spPr>
          <a:xfrm>
            <a:off x="3127248" y="3300984"/>
            <a:ext cx="2459736" cy="649224"/>
          </a:xfrm>
          <a:prstGeom prst="roundRect">
            <a:avLst>
              <a:gd name="adj" fmla="val 16901"/>
            </a:avLst>
          </a:prstGeom>
          <a:solidFill>
            <a:srgbClr val="FFFFFF"/>
          </a:solidFill>
          <a:ln w="10160">
            <a:solidFill>
              <a:srgbClr val="C5D9E3"/>
            </a:solidFill>
            <a:prstDash val="solid"/>
          </a:ln>
        </p:spPr>
      </p:sp>
      <p:sp>
        <p:nvSpPr>
          <p:cNvPr id="40" name="Text 36"/>
          <p:cNvSpPr/>
          <p:nvPr/>
        </p:nvSpPr>
        <p:spPr>
          <a:xfrm>
            <a:off x="3218688" y="3392424"/>
            <a:ext cx="2276856" cy="210312"/>
          </a:xfrm>
          <a:prstGeom prst="rect">
            <a:avLst/>
          </a:prstGeom>
          <a:noFill/>
          <a:ln/>
        </p:spPr>
        <p:txBody>
          <a:bodyPr wrap="square" lIns="0" tIns="0" rIns="0" bIns="0" rtlCol="0" anchor="ctr"/>
          <a:lstStyle/>
          <a:p>
            <a:pPr algn="ctr" indent="0" marL="0">
              <a:buNone/>
            </a:pPr>
            <a:r>
              <a:rPr lang="en-US" sz="1270" b="1" dirty="0">
                <a:solidFill>
                  <a:srgbClr val="103A59"/>
                </a:solidFill>
                <a:latin typeface="Arial" pitchFamily="34" charset="0"/>
                <a:ea typeface="Arial" pitchFamily="34" charset="-122"/>
                <a:cs typeface="Arial" pitchFamily="34" charset="-120"/>
              </a:rPr>
              <a:t>Care coordination</a:t>
            </a:r>
            <a:endParaRPr lang="en-US" sz="1270" dirty="0"/>
          </a:p>
        </p:txBody>
      </p:sp>
      <p:sp>
        <p:nvSpPr>
          <p:cNvPr id="41" name="Text 37"/>
          <p:cNvSpPr/>
          <p:nvPr/>
        </p:nvSpPr>
        <p:spPr>
          <a:xfrm>
            <a:off x="3218688" y="3703320"/>
            <a:ext cx="2276856" cy="173736"/>
          </a:xfrm>
          <a:prstGeom prst="rect">
            <a:avLst/>
          </a:prstGeom>
          <a:noFill/>
          <a:ln/>
        </p:spPr>
        <p:txBody>
          <a:bodyPr wrap="square" lIns="0" tIns="0" rIns="0" bIns="0" rtlCol="0" anchor="ctr"/>
          <a:lstStyle/>
          <a:p>
            <a:pPr algn="ctr" indent="0" marL="0">
              <a:buNone/>
            </a:pPr>
            <a:r>
              <a:rPr lang="en-US" sz="1060" dirty="0">
                <a:solidFill>
                  <a:srgbClr val="5E7281"/>
                </a:solidFill>
                <a:latin typeface="Arial" pitchFamily="34" charset="0"/>
                <a:ea typeface="Arial" pitchFamily="34" charset="-122"/>
                <a:cs typeface="Arial" pitchFamily="34" charset="-120"/>
              </a:rPr>
              <a:t>Appointments / notes</a:t>
            </a:r>
            <a:endParaRPr lang="en-US" sz="1060" dirty="0"/>
          </a:p>
        </p:txBody>
      </p:sp>
      <p:sp>
        <p:nvSpPr>
          <p:cNvPr id="42" name="Shape 38"/>
          <p:cNvSpPr/>
          <p:nvPr/>
        </p:nvSpPr>
        <p:spPr>
          <a:xfrm>
            <a:off x="6986016" y="3017520"/>
            <a:ext cx="914" cy="237744"/>
          </a:xfrm>
          <a:prstGeom prst="line">
            <a:avLst/>
          </a:prstGeom>
          <a:noFill/>
          <a:ln w="13970">
            <a:solidFill>
              <a:srgbClr val="087FB8"/>
            </a:solidFill>
            <a:prstDash val="solid"/>
            <a:tailEnd type="triangle"/>
          </a:ln>
        </p:spPr>
      </p:sp>
      <p:sp>
        <p:nvSpPr>
          <p:cNvPr id="43" name="Shape 39"/>
          <p:cNvSpPr/>
          <p:nvPr/>
        </p:nvSpPr>
        <p:spPr>
          <a:xfrm>
            <a:off x="5751576" y="3300984"/>
            <a:ext cx="2459736" cy="649224"/>
          </a:xfrm>
          <a:prstGeom prst="roundRect">
            <a:avLst>
              <a:gd name="adj" fmla="val 16901"/>
            </a:avLst>
          </a:prstGeom>
          <a:solidFill>
            <a:srgbClr val="FFFFFF"/>
          </a:solidFill>
          <a:ln w="10160">
            <a:solidFill>
              <a:srgbClr val="C5D9E3"/>
            </a:solidFill>
            <a:prstDash val="solid"/>
          </a:ln>
        </p:spPr>
      </p:sp>
      <p:sp>
        <p:nvSpPr>
          <p:cNvPr id="44" name="Text 40"/>
          <p:cNvSpPr/>
          <p:nvPr/>
        </p:nvSpPr>
        <p:spPr>
          <a:xfrm>
            <a:off x="5843016" y="3392424"/>
            <a:ext cx="2276856" cy="210312"/>
          </a:xfrm>
          <a:prstGeom prst="rect">
            <a:avLst/>
          </a:prstGeom>
          <a:noFill/>
          <a:ln/>
        </p:spPr>
        <p:txBody>
          <a:bodyPr wrap="square" lIns="0" tIns="0" rIns="0" bIns="0" rtlCol="0" anchor="ctr"/>
          <a:lstStyle/>
          <a:p>
            <a:pPr algn="ctr" indent="0" marL="0">
              <a:buNone/>
            </a:pPr>
            <a:r>
              <a:rPr lang="en-US" sz="1270" b="1" dirty="0">
                <a:solidFill>
                  <a:srgbClr val="103A59"/>
                </a:solidFill>
                <a:latin typeface="Arial" pitchFamily="34" charset="0"/>
                <a:ea typeface="Arial" pitchFamily="34" charset="-122"/>
                <a:cs typeface="Arial" pitchFamily="34" charset="-120"/>
              </a:rPr>
              <a:t>Review services</a:t>
            </a:r>
            <a:endParaRPr lang="en-US" sz="1270" dirty="0"/>
          </a:p>
        </p:txBody>
      </p:sp>
      <p:sp>
        <p:nvSpPr>
          <p:cNvPr id="45" name="Text 41"/>
          <p:cNvSpPr/>
          <p:nvPr/>
        </p:nvSpPr>
        <p:spPr>
          <a:xfrm>
            <a:off x="5843016" y="3703320"/>
            <a:ext cx="2276856" cy="173736"/>
          </a:xfrm>
          <a:prstGeom prst="rect">
            <a:avLst/>
          </a:prstGeom>
          <a:noFill/>
          <a:ln/>
        </p:spPr>
        <p:txBody>
          <a:bodyPr wrap="square" lIns="0" tIns="0" rIns="0" bIns="0" rtlCol="0" anchor="ctr"/>
          <a:lstStyle/>
          <a:p>
            <a:pPr algn="ctr" indent="0" marL="0">
              <a:buNone/>
            </a:pPr>
            <a:r>
              <a:rPr lang="en-US" sz="1060" dirty="0">
                <a:solidFill>
                  <a:srgbClr val="5E7281"/>
                </a:solidFill>
                <a:latin typeface="Arial" pitchFamily="34" charset="0"/>
                <a:ea typeface="Arial" pitchFamily="34" charset="-122"/>
                <a:cs typeface="Arial" pitchFamily="34" charset="-120"/>
              </a:rPr>
              <a:t>Extraction / bill flags</a:t>
            </a:r>
            <a:endParaRPr lang="en-US" sz="1060" dirty="0"/>
          </a:p>
        </p:txBody>
      </p:sp>
      <p:sp>
        <p:nvSpPr>
          <p:cNvPr id="46" name="Shape 42"/>
          <p:cNvSpPr/>
          <p:nvPr/>
        </p:nvSpPr>
        <p:spPr>
          <a:xfrm>
            <a:off x="1719072" y="3968496"/>
            <a:ext cx="914" cy="256032"/>
          </a:xfrm>
          <a:prstGeom prst="line">
            <a:avLst/>
          </a:prstGeom>
          <a:noFill/>
          <a:ln w="13970">
            <a:solidFill>
              <a:srgbClr val="008F8B"/>
            </a:solidFill>
            <a:prstDash val="solid"/>
            <a:tailEnd type="triangle"/>
          </a:ln>
        </p:spPr>
      </p:sp>
      <p:sp>
        <p:nvSpPr>
          <p:cNvPr id="47" name="Shape 43"/>
          <p:cNvSpPr/>
          <p:nvPr/>
        </p:nvSpPr>
        <p:spPr>
          <a:xfrm>
            <a:off x="4343400" y="3968496"/>
            <a:ext cx="914" cy="256032"/>
          </a:xfrm>
          <a:prstGeom prst="line">
            <a:avLst/>
          </a:prstGeom>
          <a:noFill/>
          <a:ln w="13970">
            <a:solidFill>
              <a:srgbClr val="008F8B"/>
            </a:solidFill>
            <a:prstDash val="solid"/>
            <a:tailEnd type="triangle"/>
          </a:ln>
        </p:spPr>
      </p:sp>
      <p:sp>
        <p:nvSpPr>
          <p:cNvPr id="48" name="Shape 44"/>
          <p:cNvSpPr/>
          <p:nvPr/>
        </p:nvSpPr>
        <p:spPr>
          <a:xfrm>
            <a:off x="6967728" y="3968496"/>
            <a:ext cx="914" cy="256032"/>
          </a:xfrm>
          <a:prstGeom prst="line">
            <a:avLst/>
          </a:prstGeom>
          <a:noFill/>
          <a:ln w="13970">
            <a:solidFill>
              <a:srgbClr val="008F8B"/>
            </a:solidFill>
            <a:prstDash val="solid"/>
            <a:tailEnd type="triangle"/>
          </a:ln>
        </p:spPr>
      </p:sp>
      <p:sp>
        <p:nvSpPr>
          <p:cNvPr id="49" name="Shape 45"/>
          <p:cNvSpPr/>
          <p:nvPr/>
        </p:nvSpPr>
        <p:spPr>
          <a:xfrm>
            <a:off x="502920" y="4261104"/>
            <a:ext cx="7708392" cy="530352"/>
          </a:xfrm>
          <a:prstGeom prst="roundRect">
            <a:avLst>
              <a:gd name="adj" fmla="val 20690"/>
            </a:avLst>
          </a:prstGeom>
          <a:solidFill>
            <a:srgbClr val="DFF5F3"/>
          </a:solidFill>
          <a:ln w="10160">
            <a:solidFill>
              <a:srgbClr val="C5D9E3"/>
            </a:solidFill>
            <a:prstDash val="solid"/>
          </a:ln>
        </p:spPr>
      </p:sp>
      <p:sp>
        <p:nvSpPr>
          <p:cNvPr id="50" name="Text 46"/>
          <p:cNvSpPr/>
          <p:nvPr/>
        </p:nvSpPr>
        <p:spPr>
          <a:xfrm>
            <a:off x="612648" y="4407408"/>
            <a:ext cx="7488936" cy="237744"/>
          </a:xfrm>
          <a:prstGeom prst="rect">
            <a:avLst/>
          </a:prstGeom>
          <a:noFill/>
          <a:ln/>
        </p:spPr>
        <p:txBody>
          <a:bodyPr wrap="square" lIns="0" tIns="0" rIns="0" bIns="0" rtlCol="0" anchor="ctr"/>
          <a:lstStyle/>
          <a:p>
            <a:pPr algn="ctr" indent="0" marL="0">
              <a:buNone/>
            </a:pPr>
            <a:r>
              <a:rPr lang="en-US" sz="1300" b="1" dirty="0">
                <a:solidFill>
                  <a:srgbClr val="008F8B"/>
                </a:solidFill>
                <a:latin typeface="Arial" pitchFamily="34" charset="0"/>
                <a:ea typeface="Arial" pitchFamily="34" charset="-122"/>
                <a:cs typeface="Arial" pitchFamily="34" charset="-120"/>
              </a:rPr>
              <a:t>Shared services  •  report-only AI / OCR  •  workflow jobs  •  data access</a:t>
            </a:r>
            <a:endParaRPr lang="en-US" sz="1300" dirty="0"/>
          </a:p>
        </p:txBody>
      </p:sp>
      <p:sp>
        <p:nvSpPr>
          <p:cNvPr id="51" name="Shape 47"/>
          <p:cNvSpPr/>
          <p:nvPr/>
        </p:nvSpPr>
        <p:spPr>
          <a:xfrm>
            <a:off x="2340864" y="4809744"/>
            <a:ext cx="914" cy="283464"/>
          </a:xfrm>
          <a:prstGeom prst="line">
            <a:avLst/>
          </a:prstGeom>
          <a:noFill/>
          <a:ln w="13970">
            <a:solidFill>
              <a:srgbClr val="087FB8"/>
            </a:solidFill>
            <a:prstDash val="solid"/>
            <a:tailEnd type="triangle"/>
          </a:ln>
        </p:spPr>
      </p:sp>
      <p:sp>
        <p:nvSpPr>
          <p:cNvPr id="52" name="Shape 48"/>
          <p:cNvSpPr/>
          <p:nvPr/>
        </p:nvSpPr>
        <p:spPr>
          <a:xfrm>
            <a:off x="6318504" y="4809744"/>
            <a:ext cx="914" cy="283464"/>
          </a:xfrm>
          <a:prstGeom prst="line">
            <a:avLst/>
          </a:prstGeom>
          <a:noFill/>
          <a:ln w="13970">
            <a:solidFill>
              <a:srgbClr val="087FB8"/>
            </a:solidFill>
            <a:prstDash val="solid"/>
            <a:tailEnd type="triangle"/>
          </a:ln>
        </p:spPr>
      </p:sp>
      <p:sp>
        <p:nvSpPr>
          <p:cNvPr id="53" name="Shape 49"/>
          <p:cNvSpPr/>
          <p:nvPr/>
        </p:nvSpPr>
        <p:spPr>
          <a:xfrm>
            <a:off x="502920" y="5120640"/>
            <a:ext cx="3758184" cy="566928"/>
          </a:xfrm>
          <a:prstGeom prst="roundRect">
            <a:avLst>
              <a:gd name="adj" fmla="val 19355"/>
            </a:avLst>
          </a:prstGeom>
          <a:solidFill>
            <a:srgbClr val="EAF4FA"/>
          </a:solidFill>
          <a:ln w="10160">
            <a:solidFill>
              <a:srgbClr val="C5D9E3"/>
            </a:solidFill>
            <a:prstDash val="solid"/>
          </a:ln>
        </p:spPr>
      </p:sp>
      <p:sp>
        <p:nvSpPr>
          <p:cNvPr id="54" name="Text 50"/>
          <p:cNvSpPr/>
          <p:nvPr/>
        </p:nvSpPr>
        <p:spPr>
          <a:xfrm>
            <a:off x="594360" y="5285232"/>
            <a:ext cx="3575304" cy="228600"/>
          </a:xfrm>
          <a:prstGeom prst="rect">
            <a:avLst/>
          </a:prstGeom>
          <a:noFill/>
          <a:ln/>
        </p:spPr>
        <p:txBody>
          <a:bodyPr wrap="square" lIns="0" tIns="0" rIns="0" bIns="0" rtlCol="0" anchor="ctr"/>
          <a:lstStyle/>
          <a:p>
            <a:pPr algn="ctr" indent="0" marL="0">
              <a:buNone/>
            </a:pPr>
            <a:r>
              <a:rPr lang="en-US" sz="1170" b="1" dirty="0">
                <a:solidFill>
                  <a:srgbClr val="087FB8"/>
                </a:solidFill>
                <a:latin typeface="Arial" pitchFamily="34" charset="0"/>
                <a:ea typeface="Arial" pitchFamily="34" charset="-122"/>
                <a:cs typeface="Arial" pitchFamily="34" charset="-120"/>
              </a:rPr>
              <a:t>PostgreSQL  •  metadata / consent / audit</a:t>
            </a:r>
            <a:endParaRPr lang="en-US" sz="1170" dirty="0"/>
          </a:p>
        </p:txBody>
      </p:sp>
      <p:sp>
        <p:nvSpPr>
          <p:cNvPr id="55" name="Shape 51"/>
          <p:cNvSpPr/>
          <p:nvPr/>
        </p:nvSpPr>
        <p:spPr>
          <a:xfrm>
            <a:off x="4462272" y="5120640"/>
            <a:ext cx="3749040" cy="566928"/>
          </a:xfrm>
          <a:prstGeom prst="roundRect">
            <a:avLst>
              <a:gd name="adj" fmla="val 19355"/>
            </a:avLst>
          </a:prstGeom>
          <a:solidFill>
            <a:srgbClr val="EAF4FA"/>
          </a:solidFill>
          <a:ln w="10160">
            <a:solidFill>
              <a:srgbClr val="C5D9E3"/>
            </a:solidFill>
            <a:prstDash val="solid"/>
          </a:ln>
        </p:spPr>
      </p:sp>
      <p:sp>
        <p:nvSpPr>
          <p:cNvPr id="56" name="Text 52"/>
          <p:cNvSpPr/>
          <p:nvPr/>
        </p:nvSpPr>
        <p:spPr>
          <a:xfrm>
            <a:off x="4553712" y="5285232"/>
            <a:ext cx="3566160" cy="228600"/>
          </a:xfrm>
          <a:prstGeom prst="rect">
            <a:avLst/>
          </a:prstGeom>
          <a:noFill/>
          <a:ln/>
        </p:spPr>
        <p:txBody>
          <a:bodyPr wrap="square" lIns="0" tIns="0" rIns="0" bIns="0" rtlCol="0" anchor="ctr"/>
          <a:lstStyle/>
          <a:p>
            <a:pPr algn="ctr" indent="0" marL="0">
              <a:buNone/>
            </a:pPr>
            <a:r>
              <a:rPr lang="en-US" sz="1150" b="1" dirty="0">
                <a:solidFill>
                  <a:srgbClr val="087FB8"/>
                </a:solidFill>
                <a:latin typeface="Arial" pitchFamily="34" charset="0"/>
                <a:ea typeface="Arial" pitchFamily="34" charset="-122"/>
                <a:cs typeface="Arial" pitchFamily="34" charset="-120"/>
              </a:rPr>
              <a:t>Encrypted private object storage  •  originals</a:t>
            </a:r>
            <a:endParaRPr lang="en-US" sz="1150" dirty="0"/>
          </a:p>
        </p:txBody>
      </p:sp>
      <p:sp>
        <p:nvSpPr>
          <p:cNvPr id="57" name="Shape 53"/>
          <p:cNvSpPr/>
          <p:nvPr/>
        </p:nvSpPr>
        <p:spPr>
          <a:xfrm>
            <a:off x="502920" y="5916168"/>
            <a:ext cx="7708392" cy="246888"/>
          </a:xfrm>
          <a:prstGeom prst="roundRect">
            <a:avLst>
              <a:gd name="adj" fmla="val 44444"/>
            </a:avLst>
          </a:prstGeom>
          <a:solidFill>
            <a:srgbClr val="DFF5F3"/>
          </a:solidFill>
          <a:ln w="10160">
            <a:solidFill>
              <a:srgbClr val="DFF5F3"/>
            </a:solidFill>
            <a:prstDash val="solid"/>
          </a:ln>
        </p:spPr>
      </p:sp>
      <p:sp>
        <p:nvSpPr>
          <p:cNvPr id="58" name="Text 54"/>
          <p:cNvSpPr/>
          <p:nvPr/>
        </p:nvSpPr>
        <p:spPr>
          <a:xfrm>
            <a:off x="566928" y="5939028"/>
            <a:ext cx="7580376" cy="201168"/>
          </a:xfrm>
          <a:prstGeom prst="rect">
            <a:avLst/>
          </a:prstGeom>
          <a:noFill/>
          <a:ln/>
        </p:spPr>
        <p:txBody>
          <a:bodyPr wrap="square" lIns="0" tIns="0" rIns="0" bIns="0" rtlCol="0" anchor="ctr"/>
          <a:lstStyle/>
          <a:p>
            <a:pPr indent="0" marL="0">
              <a:buNone/>
            </a:pPr>
            <a:r>
              <a:rPr lang="en-US" sz="980" b="1" dirty="0">
                <a:solidFill>
                  <a:srgbClr val="008F8B"/>
                </a:solidFill>
                <a:latin typeface="Arial" pitchFamily="34" charset="0"/>
                <a:ea typeface="Arial" pitchFamily="34" charset="-122"/>
                <a:cs typeface="Arial" pitchFamily="34" charset="-120"/>
              </a:rPr>
              <a:t>CROSS-CUTTING: ENCRYPTION • AUDIT • BACKUPS • RETENTION • MONITORING</a:t>
            </a:r>
            <a:endParaRPr lang="en-US" sz="980" dirty="0"/>
          </a:p>
        </p:txBody>
      </p:sp>
      <p:sp>
        <p:nvSpPr>
          <p:cNvPr id="59" name="Shape 55"/>
          <p:cNvSpPr/>
          <p:nvPr/>
        </p:nvSpPr>
        <p:spPr>
          <a:xfrm>
            <a:off x="8467344" y="1463040"/>
            <a:ext cx="3392424" cy="2807208"/>
          </a:xfrm>
          <a:prstGeom prst="roundRect">
            <a:avLst>
              <a:gd name="adj" fmla="val 3909"/>
            </a:avLst>
          </a:prstGeom>
          <a:solidFill>
            <a:srgbClr val="F3F6F9"/>
          </a:solidFill>
          <a:ln w="10160">
            <a:solidFill>
              <a:srgbClr val="C5D9E3"/>
            </a:solidFill>
            <a:prstDash val="solid"/>
          </a:ln>
        </p:spPr>
      </p:sp>
      <p:sp>
        <p:nvSpPr>
          <p:cNvPr id="60" name="Text 56"/>
          <p:cNvSpPr/>
          <p:nvPr/>
        </p:nvSpPr>
        <p:spPr>
          <a:xfrm>
            <a:off x="8622792" y="1627632"/>
            <a:ext cx="3072384" cy="210312"/>
          </a:xfrm>
          <a:prstGeom prst="rect">
            <a:avLst/>
          </a:prstGeom>
          <a:noFill/>
          <a:ln/>
        </p:spPr>
        <p:txBody>
          <a:bodyPr wrap="square" lIns="0" tIns="0" rIns="0" bIns="0" rtlCol="0" anchor="ctr"/>
          <a:lstStyle/>
          <a:p>
            <a:pPr indent="0" marL="0">
              <a:buNone/>
            </a:pPr>
            <a:r>
              <a:rPr lang="en-US" sz="1050" b="1" spc="70" kern="0" dirty="0">
                <a:solidFill>
                  <a:srgbClr val="103A59"/>
                </a:solidFill>
                <a:latin typeface="Arial" pitchFamily="34" charset="0"/>
                <a:ea typeface="Arial" pitchFamily="34" charset="-122"/>
                <a:cs typeface="Arial" pitchFamily="34" charset="-120"/>
              </a:rPr>
              <a:t>PROPOSED STACK</a:t>
            </a:r>
            <a:endParaRPr lang="en-US" sz="1050" dirty="0"/>
          </a:p>
        </p:txBody>
      </p:sp>
      <p:sp>
        <p:nvSpPr>
          <p:cNvPr id="61" name="Text 57"/>
          <p:cNvSpPr/>
          <p:nvPr/>
        </p:nvSpPr>
        <p:spPr>
          <a:xfrm>
            <a:off x="8622792" y="1984248"/>
            <a:ext cx="548640" cy="228600"/>
          </a:xfrm>
          <a:prstGeom prst="rect">
            <a:avLst/>
          </a:prstGeom>
          <a:noFill/>
          <a:ln/>
        </p:spPr>
        <p:txBody>
          <a:bodyPr wrap="square" lIns="0" tIns="0" rIns="0" bIns="0" rtlCol="0" anchor="ctr"/>
          <a:lstStyle/>
          <a:p>
            <a:pPr indent="0" marL="0">
              <a:buNone/>
            </a:pPr>
            <a:r>
              <a:rPr lang="en-US" sz="1040" b="1" dirty="0">
                <a:solidFill>
                  <a:srgbClr val="087FB8"/>
                </a:solidFill>
                <a:latin typeface="Arial" pitchFamily="34" charset="0"/>
                <a:ea typeface="Arial" pitchFamily="34" charset="-122"/>
                <a:cs typeface="Arial" pitchFamily="34" charset="-120"/>
              </a:rPr>
              <a:t>UI</a:t>
            </a:r>
            <a:endParaRPr lang="en-US" sz="1040" dirty="0"/>
          </a:p>
        </p:txBody>
      </p:sp>
      <p:sp>
        <p:nvSpPr>
          <p:cNvPr id="62" name="Text 58"/>
          <p:cNvSpPr/>
          <p:nvPr/>
        </p:nvSpPr>
        <p:spPr>
          <a:xfrm>
            <a:off x="9235440" y="1984248"/>
            <a:ext cx="2441448" cy="237744"/>
          </a:xfrm>
          <a:prstGeom prst="rect">
            <a:avLst/>
          </a:prstGeom>
          <a:noFill/>
          <a:ln/>
        </p:spPr>
        <p:txBody>
          <a:bodyPr wrap="square" lIns="0" tIns="0" rIns="0" bIns="0" rtlCol="0" anchor="ctr"/>
          <a:lstStyle/>
          <a:p>
            <a:pPr indent="0" marL="0">
              <a:buNone/>
            </a:pPr>
            <a:r>
              <a:rPr lang="en-US" sz="1110" dirty="0">
                <a:solidFill>
                  <a:srgbClr val="233B4C"/>
                </a:solidFill>
                <a:latin typeface="Arial" pitchFamily="34" charset="0"/>
                <a:ea typeface="Arial" pitchFamily="34" charset="-122"/>
                <a:cs typeface="Arial" pitchFamily="34" charset="-120"/>
              </a:rPr>
              <a:t>React + Tailwind</a:t>
            </a:r>
            <a:endParaRPr lang="en-US" sz="1110" dirty="0"/>
          </a:p>
        </p:txBody>
      </p:sp>
      <p:sp>
        <p:nvSpPr>
          <p:cNvPr id="63" name="Text 59"/>
          <p:cNvSpPr/>
          <p:nvPr/>
        </p:nvSpPr>
        <p:spPr>
          <a:xfrm>
            <a:off x="8622792" y="2322576"/>
            <a:ext cx="548640" cy="228600"/>
          </a:xfrm>
          <a:prstGeom prst="rect">
            <a:avLst/>
          </a:prstGeom>
          <a:noFill/>
          <a:ln/>
        </p:spPr>
        <p:txBody>
          <a:bodyPr wrap="square" lIns="0" tIns="0" rIns="0" bIns="0" rtlCol="0" anchor="ctr"/>
          <a:lstStyle/>
          <a:p>
            <a:pPr indent="0" marL="0">
              <a:buNone/>
            </a:pPr>
            <a:r>
              <a:rPr lang="en-US" sz="1040" b="1" dirty="0">
                <a:solidFill>
                  <a:srgbClr val="087FB8"/>
                </a:solidFill>
                <a:latin typeface="Arial" pitchFamily="34" charset="0"/>
                <a:ea typeface="Arial" pitchFamily="34" charset="-122"/>
                <a:cs typeface="Arial" pitchFamily="34" charset="-120"/>
              </a:rPr>
              <a:t>API</a:t>
            </a:r>
            <a:endParaRPr lang="en-US" sz="1040" dirty="0"/>
          </a:p>
        </p:txBody>
      </p:sp>
      <p:sp>
        <p:nvSpPr>
          <p:cNvPr id="64" name="Text 60"/>
          <p:cNvSpPr/>
          <p:nvPr/>
        </p:nvSpPr>
        <p:spPr>
          <a:xfrm>
            <a:off x="9235440" y="2322576"/>
            <a:ext cx="2441448" cy="237744"/>
          </a:xfrm>
          <a:prstGeom prst="rect">
            <a:avLst/>
          </a:prstGeom>
          <a:noFill/>
          <a:ln/>
        </p:spPr>
        <p:txBody>
          <a:bodyPr wrap="square" lIns="0" tIns="0" rIns="0" bIns="0" rtlCol="0" anchor="ctr"/>
          <a:lstStyle/>
          <a:p>
            <a:pPr indent="0" marL="0">
              <a:buNone/>
            </a:pPr>
            <a:r>
              <a:rPr lang="en-US" sz="1110" dirty="0">
                <a:solidFill>
                  <a:srgbClr val="233B4C"/>
                </a:solidFill>
                <a:latin typeface="Arial" pitchFamily="34" charset="0"/>
                <a:ea typeface="Arial" pitchFamily="34" charset="-122"/>
                <a:cs typeface="Arial" pitchFamily="34" charset="-120"/>
              </a:rPr>
              <a:t>Python + FastAPI</a:t>
            </a:r>
            <a:endParaRPr lang="en-US" sz="1110" dirty="0"/>
          </a:p>
        </p:txBody>
      </p:sp>
      <p:sp>
        <p:nvSpPr>
          <p:cNvPr id="65" name="Text 61"/>
          <p:cNvSpPr/>
          <p:nvPr/>
        </p:nvSpPr>
        <p:spPr>
          <a:xfrm>
            <a:off x="8622792" y="2660904"/>
            <a:ext cx="548640" cy="228600"/>
          </a:xfrm>
          <a:prstGeom prst="rect">
            <a:avLst/>
          </a:prstGeom>
          <a:noFill/>
          <a:ln/>
        </p:spPr>
        <p:txBody>
          <a:bodyPr wrap="square" lIns="0" tIns="0" rIns="0" bIns="0" rtlCol="0" anchor="ctr"/>
          <a:lstStyle/>
          <a:p>
            <a:pPr indent="0" marL="0">
              <a:buNone/>
            </a:pPr>
            <a:r>
              <a:rPr lang="en-US" sz="1040" b="1" dirty="0">
                <a:solidFill>
                  <a:srgbClr val="087FB8"/>
                </a:solidFill>
                <a:latin typeface="Arial" pitchFamily="34" charset="0"/>
                <a:ea typeface="Arial" pitchFamily="34" charset="-122"/>
                <a:cs typeface="Arial" pitchFamily="34" charset="-120"/>
              </a:rPr>
              <a:t>Data</a:t>
            </a:r>
            <a:endParaRPr lang="en-US" sz="1040" dirty="0"/>
          </a:p>
        </p:txBody>
      </p:sp>
      <p:sp>
        <p:nvSpPr>
          <p:cNvPr id="66" name="Text 62"/>
          <p:cNvSpPr/>
          <p:nvPr/>
        </p:nvSpPr>
        <p:spPr>
          <a:xfrm>
            <a:off x="9235440" y="2660904"/>
            <a:ext cx="2441448" cy="237744"/>
          </a:xfrm>
          <a:prstGeom prst="rect">
            <a:avLst/>
          </a:prstGeom>
          <a:noFill/>
          <a:ln/>
        </p:spPr>
        <p:txBody>
          <a:bodyPr wrap="square" lIns="0" tIns="0" rIns="0" bIns="0" rtlCol="0" anchor="ctr"/>
          <a:lstStyle/>
          <a:p>
            <a:pPr indent="0" marL="0">
              <a:buNone/>
            </a:pPr>
            <a:r>
              <a:rPr lang="en-US" sz="1110" dirty="0">
                <a:solidFill>
                  <a:srgbClr val="233B4C"/>
                </a:solidFill>
                <a:latin typeface="Arial" pitchFamily="34" charset="0"/>
                <a:ea typeface="Arial" pitchFamily="34" charset="-122"/>
                <a:cs typeface="Arial" pitchFamily="34" charset="-120"/>
              </a:rPr>
              <a:t>PostgreSQL + private storage</a:t>
            </a:r>
            <a:endParaRPr lang="en-US" sz="1110" dirty="0"/>
          </a:p>
        </p:txBody>
      </p:sp>
      <p:sp>
        <p:nvSpPr>
          <p:cNvPr id="67" name="Text 63"/>
          <p:cNvSpPr/>
          <p:nvPr/>
        </p:nvSpPr>
        <p:spPr>
          <a:xfrm>
            <a:off x="8622792" y="2999232"/>
            <a:ext cx="548640" cy="228600"/>
          </a:xfrm>
          <a:prstGeom prst="rect">
            <a:avLst/>
          </a:prstGeom>
          <a:noFill/>
          <a:ln/>
        </p:spPr>
        <p:txBody>
          <a:bodyPr wrap="square" lIns="0" tIns="0" rIns="0" bIns="0" rtlCol="0" anchor="ctr"/>
          <a:lstStyle/>
          <a:p>
            <a:pPr indent="0" marL="0">
              <a:buNone/>
            </a:pPr>
            <a:r>
              <a:rPr lang="en-US" sz="1040" b="1" dirty="0">
                <a:solidFill>
                  <a:srgbClr val="087FB8"/>
                </a:solidFill>
                <a:latin typeface="Arial" pitchFamily="34" charset="0"/>
                <a:ea typeface="Arial" pitchFamily="34" charset="-122"/>
                <a:cs typeface="Arial" pitchFamily="34" charset="-120"/>
              </a:rPr>
              <a:t>OCR</a:t>
            </a:r>
            <a:endParaRPr lang="en-US" sz="1040" dirty="0"/>
          </a:p>
        </p:txBody>
      </p:sp>
      <p:sp>
        <p:nvSpPr>
          <p:cNvPr id="68" name="Text 64"/>
          <p:cNvSpPr/>
          <p:nvPr/>
        </p:nvSpPr>
        <p:spPr>
          <a:xfrm>
            <a:off x="9235440" y="2999232"/>
            <a:ext cx="2441448" cy="237744"/>
          </a:xfrm>
          <a:prstGeom prst="rect">
            <a:avLst/>
          </a:prstGeom>
          <a:noFill/>
          <a:ln/>
        </p:spPr>
        <p:txBody>
          <a:bodyPr wrap="square" lIns="0" tIns="0" rIns="0" bIns="0" rtlCol="0" anchor="ctr"/>
          <a:lstStyle/>
          <a:p>
            <a:pPr indent="0" marL="0">
              <a:buNone/>
            </a:pPr>
            <a:r>
              <a:rPr lang="en-US" sz="1110" dirty="0">
                <a:solidFill>
                  <a:srgbClr val="233B4C"/>
                </a:solidFill>
                <a:latin typeface="Arial" pitchFamily="34" charset="0"/>
                <a:ea typeface="Arial" pitchFamily="34" charset="-122"/>
                <a:cs typeface="Arial" pitchFamily="34" charset="-120"/>
              </a:rPr>
              <a:t>PaddleOCR OR Tesseract</a:t>
            </a:r>
            <a:endParaRPr lang="en-US" sz="1110" dirty="0"/>
          </a:p>
        </p:txBody>
      </p:sp>
      <p:sp>
        <p:nvSpPr>
          <p:cNvPr id="69" name="Text 65"/>
          <p:cNvSpPr/>
          <p:nvPr/>
        </p:nvSpPr>
        <p:spPr>
          <a:xfrm>
            <a:off x="8622792" y="3337560"/>
            <a:ext cx="548640" cy="228600"/>
          </a:xfrm>
          <a:prstGeom prst="rect">
            <a:avLst/>
          </a:prstGeom>
          <a:noFill/>
          <a:ln/>
        </p:spPr>
        <p:txBody>
          <a:bodyPr wrap="square" lIns="0" tIns="0" rIns="0" bIns="0" rtlCol="0" anchor="ctr"/>
          <a:lstStyle/>
          <a:p>
            <a:pPr indent="0" marL="0">
              <a:buNone/>
            </a:pPr>
            <a:r>
              <a:rPr lang="en-US" sz="1040" b="1" dirty="0">
                <a:solidFill>
                  <a:srgbClr val="087FB8"/>
                </a:solidFill>
                <a:latin typeface="Arial" pitchFamily="34" charset="0"/>
                <a:ea typeface="Arial" pitchFamily="34" charset="-122"/>
                <a:cs typeface="Arial" pitchFamily="34" charset="-120"/>
              </a:rPr>
              <a:t>AI</a:t>
            </a:r>
            <a:endParaRPr lang="en-US" sz="1040" dirty="0"/>
          </a:p>
        </p:txBody>
      </p:sp>
      <p:sp>
        <p:nvSpPr>
          <p:cNvPr id="70" name="Text 66"/>
          <p:cNvSpPr/>
          <p:nvPr/>
        </p:nvSpPr>
        <p:spPr>
          <a:xfrm>
            <a:off x="9235440" y="3337560"/>
            <a:ext cx="2441448" cy="237744"/>
          </a:xfrm>
          <a:prstGeom prst="rect">
            <a:avLst/>
          </a:prstGeom>
          <a:noFill/>
          <a:ln/>
        </p:spPr>
        <p:txBody>
          <a:bodyPr wrap="square" lIns="0" tIns="0" rIns="0" bIns="0" rtlCol="0" anchor="ctr"/>
          <a:lstStyle/>
          <a:p>
            <a:pPr indent="0" marL="0">
              <a:buNone/>
            </a:pPr>
            <a:r>
              <a:rPr lang="en-US" sz="1110" dirty="0">
                <a:solidFill>
                  <a:srgbClr val="233B4C"/>
                </a:solidFill>
                <a:latin typeface="Arial" pitchFamily="34" charset="0"/>
                <a:ea typeface="Arial" pitchFamily="34" charset="-122"/>
                <a:cs typeface="Arial" pitchFamily="34" charset="-120"/>
              </a:rPr>
              <a:t>LLM provider: to be evaluated</a:t>
            </a:r>
            <a:endParaRPr lang="en-US" sz="1110" dirty="0"/>
          </a:p>
        </p:txBody>
      </p:sp>
      <p:sp>
        <p:nvSpPr>
          <p:cNvPr id="71" name="Text 67"/>
          <p:cNvSpPr/>
          <p:nvPr/>
        </p:nvSpPr>
        <p:spPr>
          <a:xfrm>
            <a:off x="8622792" y="3675888"/>
            <a:ext cx="548640" cy="228600"/>
          </a:xfrm>
          <a:prstGeom prst="rect">
            <a:avLst/>
          </a:prstGeom>
          <a:noFill/>
          <a:ln/>
        </p:spPr>
        <p:txBody>
          <a:bodyPr wrap="square" lIns="0" tIns="0" rIns="0" bIns="0" rtlCol="0" anchor="ctr"/>
          <a:lstStyle/>
          <a:p>
            <a:pPr indent="0" marL="0">
              <a:buNone/>
            </a:pPr>
            <a:r>
              <a:rPr lang="en-US" sz="1040" b="1" dirty="0">
                <a:solidFill>
                  <a:srgbClr val="087FB8"/>
                </a:solidFill>
                <a:latin typeface="Arial" pitchFamily="34" charset="0"/>
                <a:ea typeface="Arial" pitchFamily="34" charset="-122"/>
                <a:cs typeface="Arial" pitchFamily="34" charset="-120"/>
              </a:rPr>
              <a:t>Runtime</a:t>
            </a:r>
            <a:endParaRPr lang="en-US" sz="1040" dirty="0"/>
          </a:p>
        </p:txBody>
      </p:sp>
      <p:sp>
        <p:nvSpPr>
          <p:cNvPr id="72" name="Text 68"/>
          <p:cNvSpPr/>
          <p:nvPr/>
        </p:nvSpPr>
        <p:spPr>
          <a:xfrm>
            <a:off x="9235440" y="3675888"/>
            <a:ext cx="2441448" cy="237744"/>
          </a:xfrm>
          <a:prstGeom prst="rect">
            <a:avLst/>
          </a:prstGeom>
          <a:noFill/>
          <a:ln/>
        </p:spPr>
        <p:txBody>
          <a:bodyPr wrap="square" lIns="0" tIns="0" rIns="0" bIns="0" rtlCol="0" anchor="ctr"/>
          <a:lstStyle/>
          <a:p>
            <a:pPr indent="0" marL="0">
              <a:buNone/>
            </a:pPr>
            <a:r>
              <a:rPr lang="en-US" sz="1110" dirty="0">
                <a:solidFill>
                  <a:srgbClr val="233B4C"/>
                </a:solidFill>
                <a:latin typeface="Arial" pitchFamily="34" charset="0"/>
                <a:ea typeface="Arial" pitchFamily="34" charset="-122"/>
                <a:cs typeface="Arial" pitchFamily="34" charset="-120"/>
              </a:rPr>
              <a:t>Docker; hosting: to be selected</a:t>
            </a:r>
            <a:endParaRPr lang="en-US" sz="1110" dirty="0"/>
          </a:p>
        </p:txBody>
      </p:sp>
      <p:sp>
        <p:nvSpPr>
          <p:cNvPr id="73" name="Shape 69"/>
          <p:cNvSpPr/>
          <p:nvPr/>
        </p:nvSpPr>
        <p:spPr>
          <a:xfrm>
            <a:off x="8467344" y="4480560"/>
            <a:ext cx="3392424" cy="1673352"/>
          </a:xfrm>
          <a:prstGeom prst="roundRect">
            <a:avLst>
              <a:gd name="adj" fmla="val 6557"/>
            </a:avLst>
          </a:prstGeom>
          <a:solidFill>
            <a:srgbClr val="F0ECF8"/>
          </a:solidFill>
          <a:ln w="10160">
            <a:solidFill>
              <a:srgbClr val="C5D9E3"/>
            </a:solidFill>
            <a:prstDash val="solid"/>
          </a:ln>
        </p:spPr>
      </p:sp>
      <p:sp>
        <p:nvSpPr>
          <p:cNvPr id="74" name="Text 70"/>
          <p:cNvSpPr/>
          <p:nvPr/>
        </p:nvSpPr>
        <p:spPr>
          <a:xfrm>
            <a:off x="8622792" y="4636008"/>
            <a:ext cx="3054096" cy="210312"/>
          </a:xfrm>
          <a:prstGeom prst="rect">
            <a:avLst/>
          </a:prstGeom>
          <a:noFill/>
          <a:ln/>
        </p:spPr>
        <p:txBody>
          <a:bodyPr wrap="square" lIns="0" tIns="0" rIns="0" bIns="0" rtlCol="0" anchor="ctr"/>
          <a:lstStyle/>
          <a:p>
            <a:pPr indent="0" marL="0">
              <a:buNone/>
            </a:pPr>
            <a:r>
              <a:rPr lang="en-US" sz="1050" b="1" spc="70" kern="0" dirty="0">
                <a:solidFill>
                  <a:srgbClr val="6C5B96"/>
                </a:solidFill>
                <a:latin typeface="Arial" pitchFamily="34" charset="0"/>
                <a:ea typeface="Arial" pitchFamily="34" charset="-122"/>
                <a:cs typeface="Arial" pitchFamily="34" charset="-120"/>
              </a:rPr>
              <a:t>EVENTS &amp; OPTIONAL ADAPTERS</a:t>
            </a:r>
            <a:endParaRPr lang="en-US" sz="1050" dirty="0"/>
          </a:p>
        </p:txBody>
      </p:sp>
      <p:sp>
        <p:nvSpPr>
          <p:cNvPr id="75" name="Text 71"/>
          <p:cNvSpPr/>
          <p:nvPr/>
        </p:nvSpPr>
        <p:spPr>
          <a:xfrm>
            <a:off x="8622792" y="4974336"/>
            <a:ext cx="3044952" cy="923544"/>
          </a:xfrm>
          <a:prstGeom prst="rect">
            <a:avLst/>
          </a:prstGeom>
          <a:noFill/>
          <a:ln/>
        </p:spPr>
        <p:txBody>
          <a:bodyPr wrap="square" lIns="0" tIns="0" rIns="0" bIns="0" rtlCol="0" anchor="ctr"/>
          <a:lstStyle/>
          <a:p>
            <a:pPr indent="0" marL="0">
              <a:buNone/>
            </a:pPr>
            <a:r>
              <a:rPr lang="en-US" sz="1130" dirty="0">
                <a:solidFill>
                  <a:srgbClr val="233B4C"/>
                </a:solidFill>
                <a:latin typeface="Arial" pitchFamily="34" charset="0"/>
                <a:ea typeface="Arial" pitchFamily="34" charset="-122"/>
                <a:cs typeface="Arial" pitchFamily="34" charset="-120"/>
              </a:rPr>
              <a:t>Notifications: reminders / confirmations</a:t>
            </a:r>
            <a:endParaRPr lang="en-US" sz="1130" dirty="0"/>
          </a:p>
          <a:p>
            <a:pPr indent="0" marL="0">
              <a:buNone/>
            </a:pPr>
            <a:r>
              <a:rPr lang="en-US" sz="1130" dirty="0">
                <a:solidFill>
                  <a:srgbClr val="233B4C"/>
                </a:solidFill>
                <a:latin typeface="Arial" pitchFamily="34" charset="0"/>
                <a:ea typeface="Arial" pitchFamily="34" charset="-122"/>
                <a:cs typeface="Arial" pitchFamily="34" charset="-120"/>
              </a:rPr>
              <a:t>Provider directory: location consent</a:t>
            </a:r>
            <a:endParaRPr lang="en-US" sz="1130" dirty="0"/>
          </a:p>
          <a:p>
            <a:pPr indent="0" marL="0">
              <a:buNone/>
            </a:pPr>
            <a:r>
              <a:rPr lang="en-US" sz="1130" dirty="0">
                <a:solidFill>
                  <a:srgbClr val="233B4C"/>
                </a:solidFill>
                <a:latin typeface="Arial" pitchFamily="34" charset="0"/>
                <a:ea typeface="Arial" pitchFamily="34" charset="-122"/>
                <a:cs typeface="Arial" pitchFamily="34" charset="-120"/>
              </a:rPr>
              <a:t>ABDM / ABHA + HL7 FHIR: planned</a:t>
            </a:r>
            <a:endParaRPr lang="en-US" sz="1130" dirty="0"/>
          </a:p>
          <a:p>
            <a:pPr indent="0" marL="0">
              <a:buNone/>
            </a:pPr>
            <a:r>
              <a:rPr lang="en-US" sz="1130" dirty="0">
                <a:solidFill>
                  <a:srgbClr val="233B4C"/>
                </a:solidFill>
                <a:latin typeface="Arial" pitchFamily="34" charset="0"/>
                <a:ea typeface="Arial" pitchFamily="34" charset="-122"/>
                <a:cs typeface="Arial" pitchFamily="34" charset="-120"/>
              </a:rPr>
              <a:t>Labs / pharmacies: future, authorized</a:t>
            </a:r>
            <a:endParaRPr lang="en-US" sz="1130" dirty="0"/>
          </a:p>
        </p:txBody>
      </p:sp>
      <p:sp>
        <p:nvSpPr>
          <p:cNvPr id="76" name="Shape 72"/>
          <p:cNvSpPr/>
          <p:nvPr/>
        </p:nvSpPr>
        <p:spPr>
          <a:xfrm>
            <a:off x="8220456" y="2743200"/>
            <a:ext cx="201168" cy="914"/>
          </a:xfrm>
          <a:prstGeom prst="line">
            <a:avLst/>
          </a:prstGeom>
          <a:noFill/>
          <a:ln w="13970">
            <a:solidFill>
              <a:srgbClr val="087FB8"/>
            </a:solidFill>
            <a:prstDash val="solid"/>
            <a:tailEnd type="triangle"/>
          </a:ln>
        </p:spPr>
      </p:sp>
      <p:sp>
        <p:nvSpPr>
          <p:cNvPr id="77" name="Shape 73"/>
          <p:cNvSpPr/>
          <p:nvPr/>
        </p:nvSpPr>
        <p:spPr>
          <a:xfrm>
            <a:off x="8220456" y="4526280"/>
            <a:ext cx="192024" cy="429768"/>
          </a:xfrm>
          <a:prstGeom prst="line">
            <a:avLst/>
          </a:prstGeom>
          <a:noFill/>
          <a:ln w="13970">
            <a:solidFill>
              <a:srgbClr val="6C5B96"/>
            </a:solidFill>
            <a:prstDash val="dash"/>
            <a:tailEnd type="triangl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USER ROLES &amp; DASHBOARDS</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Four workspaces. No unrestricted clinical administrator.</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Editable UI concepts with synthetic records; linked controls demonstrate the pitch, not a working software prototype.</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07 / 12</a:t>
            </a:r>
            <a:endParaRPr lang="en-US" sz="950" dirty="0"/>
          </a:p>
        </p:txBody>
      </p:sp>
      <p:sp>
        <p:nvSpPr>
          <p:cNvPr id="22" name="Shape 18"/>
          <p:cNvSpPr/>
          <p:nvPr/>
        </p:nvSpPr>
        <p:spPr>
          <a:xfrm>
            <a:off x="502920" y="1508760"/>
            <a:ext cx="2706624" cy="2551176"/>
          </a:xfrm>
          <a:prstGeom prst="roundRect">
            <a:avLst>
              <a:gd name="adj" fmla="val 4301"/>
            </a:avLst>
          </a:prstGeom>
          <a:solidFill>
            <a:srgbClr val="F3F6F9"/>
          </a:solidFill>
          <a:ln w="10160">
            <a:solidFill>
              <a:srgbClr val="C5D9E3"/>
            </a:solidFill>
            <a:prstDash val="solid"/>
          </a:ln>
        </p:spPr>
      </p:sp>
      <p:sp>
        <p:nvSpPr>
          <p:cNvPr id="23" name="Shape 19"/>
          <p:cNvSpPr/>
          <p:nvPr/>
        </p:nvSpPr>
        <p:spPr>
          <a:xfrm>
            <a:off x="512064" y="1517904"/>
            <a:ext cx="2688336" cy="402336"/>
          </a:xfrm>
          <a:prstGeom prst="roundRect">
            <a:avLst>
              <a:gd name="adj" fmla="val 27273"/>
            </a:avLst>
          </a:prstGeom>
          <a:solidFill>
            <a:srgbClr val="103A59"/>
          </a:solidFill>
          <a:ln w="10160">
            <a:solidFill>
              <a:srgbClr val="103A59"/>
            </a:solidFill>
            <a:prstDash val="solid"/>
          </a:ln>
        </p:spPr>
      </p:sp>
      <p:sp>
        <p:nvSpPr>
          <p:cNvPr id="24" name="Text 20"/>
          <p:cNvSpPr/>
          <p:nvPr/>
        </p:nvSpPr>
        <p:spPr>
          <a:xfrm>
            <a:off x="603504" y="1627632"/>
            <a:ext cx="2505456" cy="164592"/>
          </a:xfrm>
          <a:prstGeom prst="rect">
            <a:avLst/>
          </a:prstGeom>
          <a:noFill/>
          <a:ln/>
        </p:spPr>
        <p:txBody>
          <a:bodyPr wrap="square" lIns="0" tIns="0" rIns="0" bIns="0" rtlCol="0" anchor="ctr"/>
          <a:lstStyle/>
          <a:p>
            <a:pPr indent="0" marL="0">
              <a:buNone/>
            </a:pPr>
            <a:r>
              <a:rPr lang="en-US" sz="1080" b="1" dirty="0">
                <a:solidFill>
                  <a:srgbClr val="FFFFFF"/>
                </a:solidFill>
                <a:latin typeface="Arial" pitchFamily="34" charset="0"/>
                <a:ea typeface="Arial" pitchFamily="34" charset="-122"/>
                <a:cs typeface="Arial" pitchFamily="34" charset="-120"/>
              </a:rPr>
              <a:t>PATIENT APP</a:t>
            </a:r>
            <a:endParaRPr lang="en-US" sz="1080" dirty="0"/>
          </a:p>
        </p:txBody>
      </p:sp>
      <p:sp>
        <p:nvSpPr>
          <p:cNvPr id="25" name="Text 21"/>
          <p:cNvSpPr/>
          <p:nvPr/>
        </p:nvSpPr>
        <p:spPr>
          <a:xfrm>
            <a:off x="612648" y="2039112"/>
            <a:ext cx="2487168" cy="173736"/>
          </a:xfrm>
          <a:prstGeom prst="rect">
            <a:avLst/>
          </a:prstGeom>
          <a:noFill/>
          <a:ln/>
        </p:spPr>
        <p:txBody>
          <a:bodyPr wrap="square" lIns="0" tIns="0" rIns="0" bIns="0" rtlCol="0" anchor="ctr"/>
          <a:lstStyle/>
          <a:p>
            <a:pPr indent="0" marL="0">
              <a:buNone/>
            </a:pPr>
            <a:r>
              <a:rPr lang="en-US" sz="910" dirty="0">
                <a:solidFill>
                  <a:srgbClr val="5E7281"/>
                </a:solidFill>
                <a:latin typeface="Arial" pitchFamily="34" charset="0"/>
                <a:ea typeface="Arial" pitchFamily="34" charset="-122"/>
                <a:cs typeface="Arial" pitchFamily="34" charset="-120"/>
              </a:rPr>
              <a:t>MediConnect AI  •  DEMO</a:t>
            </a:r>
            <a:endParaRPr lang="en-US" sz="910" dirty="0"/>
          </a:p>
        </p:txBody>
      </p:sp>
      <p:sp>
        <p:nvSpPr>
          <p:cNvPr id="26" name="Shape 22"/>
          <p:cNvSpPr/>
          <p:nvPr/>
        </p:nvSpPr>
        <p:spPr>
          <a:xfrm>
            <a:off x="3392424" y="1508760"/>
            <a:ext cx="2706624" cy="2551176"/>
          </a:xfrm>
          <a:prstGeom prst="roundRect">
            <a:avLst>
              <a:gd name="adj" fmla="val 4301"/>
            </a:avLst>
          </a:prstGeom>
          <a:solidFill>
            <a:srgbClr val="F3F6F9"/>
          </a:solidFill>
          <a:ln w="10160">
            <a:solidFill>
              <a:srgbClr val="C5D9E3"/>
            </a:solidFill>
            <a:prstDash val="solid"/>
          </a:ln>
        </p:spPr>
      </p:sp>
      <p:sp>
        <p:nvSpPr>
          <p:cNvPr id="27" name="Shape 23"/>
          <p:cNvSpPr/>
          <p:nvPr/>
        </p:nvSpPr>
        <p:spPr>
          <a:xfrm>
            <a:off x="3401568" y="1517904"/>
            <a:ext cx="2688336" cy="402336"/>
          </a:xfrm>
          <a:prstGeom prst="roundRect">
            <a:avLst>
              <a:gd name="adj" fmla="val 27273"/>
            </a:avLst>
          </a:prstGeom>
          <a:solidFill>
            <a:srgbClr val="008F8B"/>
          </a:solidFill>
          <a:ln w="10160">
            <a:solidFill>
              <a:srgbClr val="008F8B"/>
            </a:solidFill>
            <a:prstDash val="solid"/>
          </a:ln>
        </p:spPr>
      </p:sp>
      <p:sp>
        <p:nvSpPr>
          <p:cNvPr id="28" name="Text 24"/>
          <p:cNvSpPr/>
          <p:nvPr/>
        </p:nvSpPr>
        <p:spPr>
          <a:xfrm>
            <a:off x="3493008" y="1627632"/>
            <a:ext cx="2505456" cy="164592"/>
          </a:xfrm>
          <a:prstGeom prst="rect">
            <a:avLst/>
          </a:prstGeom>
          <a:noFill/>
          <a:ln/>
        </p:spPr>
        <p:txBody>
          <a:bodyPr wrap="square" lIns="0" tIns="0" rIns="0" bIns="0" rtlCol="0" anchor="ctr"/>
          <a:lstStyle/>
          <a:p>
            <a:pPr indent="0" marL="0">
              <a:buNone/>
            </a:pPr>
            <a:r>
              <a:rPr lang="en-US" sz="1080" b="1" dirty="0">
                <a:solidFill>
                  <a:srgbClr val="FFFFFF"/>
                </a:solidFill>
                <a:latin typeface="Arial" pitchFamily="34" charset="0"/>
                <a:ea typeface="Arial" pitchFamily="34" charset="-122"/>
                <a:cs typeface="Arial" pitchFamily="34" charset="-120"/>
              </a:rPr>
              <a:t>DOCTOR PORTAL</a:t>
            </a:r>
            <a:endParaRPr lang="en-US" sz="1080" dirty="0"/>
          </a:p>
        </p:txBody>
      </p:sp>
      <p:sp>
        <p:nvSpPr>
          <p:cNvPr id="29" name="Text 25"/>
          <p:cNvSpPr/>
          <p:nvPr/>
        </p:nvSpPr>
        <p:spPr>
          <a:xfrm>
            <a:off x="3502152" y="2039112"/>
            <a:ext cx="2487168" cy="173736"/>
          </a:xfrm>
          <a:prstGeom prst="rect">
            <a:avLst/>
          </a:prstGeom>
          <a:noFill/>
          <a:ln/>
        </p:spPr>
        <p:txBody>
          <a:bodyPr wrap="square" lIns="0" tIns="0" rIns="0" bIns="0" rtlCol="0" anchor="ctr"/>
          <a:lstStyle/>
          <a:p>
            <a:pPr indent="0" marL="0">
              <a:buNone/>
            </a:pPr>
            <a:r>
              <a:rPr lang="en-US" sz="910" dirty="0">
                <a:solidFill>
                  <a:srgbClr val="5E7281"/>
                </a:solidFill>
                <a:latin typeface="Arial" pitchFamily="34" charset="0"/>
                <a:ea typeface="Arial" pitchFamily="34" charset="-122"/>
                <a:cs typeface="Arial" pitchFamily="34" charset="-120"/>
              </a:rPr>
              <a:t>MediConnect AI  •  DEMO</a:t>
            </a:r>
            <a:endParaRPr lang="en-US" sz="910" dirty="0"/>
          </a:p>
        </p:txBody>
      </p:sp>
      <p:sp>
        <p:nvSpPr>
          <p:cNvPr id="30" name="Shape 26"/>
          <p:cNvSpPr/>
          <p:nvPr/>
        </p:nvSpPr>
        <p:spPr>
          <a:xfrm>
            <a:off x="6281928" y="1508760"/>
            <a:ext cx="2706624" cy="2551176"/>
          </a:xfrm>
          <a:prstGeom prst="roundRect">
            <a:avLst>
              <a:gd name="adj" fmla="val 4301"/>
            </a:avLst>
          </a:prstGeom>
          <a:solidFill>
            <a:srgbClr val="F3F6F9"/>
          </a:solidFill>
          <a:ln w="10160">
            <a:solidFill>
              <a:srgbClr val="C5D9E3"/>
            </a:solidFill>
            <a:prstDash val="solid"/>
          </a:ln>
        </p:spPr>
      </p:sp>
      <p:sp>
        <p:nvSpPr>
          <p:cNvPr id="31" name="Shape 27"/>
          <p:cNvSpPr/>
          <p:nvPr/>
        </p:nvSpPr>
        <p:spPr>
          <a:xfrm>
            <a:off x="6291072" y="1517904"/>
            <a:ext cx="2688336" cy="402336"/>
          </a:xfrm>
          <a:prstGeom prst="roundRect">
            <a:avLst>
              <a:gd name="adj" fmla="val 27273"/>
            </a:avLst>
          </a:prstGeom>
          <a:solidFill>
            <a:srgbClr val="103A59"/>
          </a:solidFill>
          <a:ln w="10160">
            <a:solidFill>
              <a:srgbClr val="103A59"/>
            </a:solidFill>
            <a:prstDash val="solid"/>
          </a:ln>
        </p:spPr>
      </p:sp>
      <p:sp>
        <p:nvSpPr>
          <p:cNvPr id="32" name="Text 28"/>
          <p:cNvSpPr/>
          <p:nvPr/>
        </p:nvSpPr>
        <p:spPr>
          <a:xfrm>
            <a:off x="6382512" y="1627632"/>
            <a:ext cx="2505456" cy="164592"/>
          </a:xfrm>
          <a:prstGeom prst="rect">
            <a:avLst/>
          </a:prstGeom>
          <a:noFill/>
          <a:ln/>
        </p:spPr>
        <p:txBody>
          <a:bodyPr wrap="square" lIns="0" tIns="0" rIns="0" bIns="0" rtlCol="0" anchor="ctr"/>
          <a:lstStyle/>
          <a:p>
            <a:pPr indent="0" marL="0">
              <a:buNone/>
            </a:pPr>
            <a:r>
              <a:rPr lang="en-US" sz="1080" b="1" dirty="0">
                <a:solidFill>
                  <a:srgbClr val="FFFFFF"/>
                </a:solidFill>
                <a:latin typeface="Arial" pitchFamily="34" charset="0"/>
                <a:ea typeface="Arial" pitchFamily="34" charset="-122"/>
                <a:cs typeface="Arial" pitchFamily="34" charset="-120"/>
              </a:rPr>
              <a:t>HOSPITAL WORKSPACE</a:t>
            </a:r>
            <a:endParaRPr lang="en-US" sz="1080" dirty="0"/>
          </a:p>
        </p:txBody>
      </p:sp>
      <p:sp>
        <p:nvSpPr>
          <p:cNvPr id="33" name="Text 29"/>
          <p:cNvSpPr/>
          <p:nvPr/>
        </p:nvSpPr>
        <p:spPr>
          <a:xfrm>
            <a:off x="6391656" y="2039112"/>
            <a:ext cx="2487168" cy="173736"/>
          </a:xfrm>
          <a:prstGeom prst="rect">
            <a:avLst/>
          </a:prstGeom>
          <a:noFill/>
          <a:ln/>
        </p:spPr>
        <p:txBody>
          <a:bodyPr wrap="square" lIns="0" tIns="0" rIns="0" bIns="0" rtlCol="0" anchor="ctr"/>
          <a:lstStyle/>
          <a:p>
            <a:pPr indent="0" marL="0">
              <a:buNone/>
            </a:pPr>
            <a:r>
              <a:rPr lang="en-US" sz="910" dirty="0">
                <a:solidFill>
                  <a:srgbClr val="5E7281"/>
                </a:solidFill>
                <a:latin typeface="Arial" pitchFamily="34" charset="0"/>
                <a:ea typeface="Arial" pitchFamily="34" charset="-122"/>
                <a:cs typeface="Arial" pitchFamily="34" charset="-120"/>
              </a:rPr>
              <a:t>MediConnect AI  •  DEMO</a:t>
            </a:r>
            <a:endParaRPr lang="en-US" sz="910" dirty="0"/>
          </a:p>
        </p:txBody>
      </p:sp>
      <p:sp>
        <p:nvSpPr>
          <p:cNvPr id="34" name="Shape 30"/>
          <p:cNvSpPr/>
          <p:nvPr/>
        </p:nvSpPr>
        <p:spPr>
          <a:xfrm>
            <a:off x="9171432" y="1508760"/>
            <a:ext cx="2706624" cy="2551176"/>
          </a:xfrm>
          <a:prstGeom prst="roundRect">
            <a:avLst>
              <a:gd name="adj" fmla="val 4301"/>
            </a:avLst>
          </a:prstGeom>
          <a:solidFill>
            <a:srgbClr val="F3F6F9"/>
          </a:solidFill>
          <a:ln w="10160">
            <a:solidFill>
              <a:srgbClr val="C5D9E3"/>
            </a:solidFill>
            <a:prstDash val="solid"/>
          </a:ln>
        </p:spPr>
      </p:sp>
      <p:sp>
        <p:nvSpPr>
          <p:cNvPr id="35" name="Shape 31"/>
          <p:cNvSpPr/>
          <p:nvPr/>
        </p:nvSpPr>
        <p:spPr>
          <a:xfrm>
            <a:off x="9180576" y="1517904"/>
            <a:ext cx="2688336" cy="402336"/>
          </a:xfrm>
          <a:prstGeom prst="roundRect">
            <a:avLst>
              <a:gd name="adj" fmla="val 27273"/>
            </a:avLst>
          </a:prstGeom>
          <a:solidFill>
            <a:srgbClr val="103A59"/>
          </a:solidFill>
          <a:ln w="10160">
            <a:solidFill>
              <a:srgbClr val="103A59"/>
            </a:solidFill>
            <a:prstDash val="solid"/>
          </a:ln>
        </p:spPr>
      </p:sp>
      <p:sp>
        <p:nvSpPr>
          <p:cNvPr id="36" name="Text 32"/>
          <p:cNvSpPr/>
          <p:nvPr/>
        </p:nvSpPr>
        <p:spPr>
          <a:xfrm>
            <a:off x="9272016" y="1627632"/>
            <a:ext cx="2505456" cy="164592"/>
          </a:xfrm>
          <a:prstGeom prst="rect">
            <a:avLst/>
          </a:prstGeom>
          <a:noFill/>
          <a:ln/>
        </p:spPr>
        <p:txBody>
          <a:bodyPr wrap="square" lIns="0" tIns="0" rIns="0" bIns="0" rtlCol="0" anchor="ctr"/>
          <a:lstStyle/>
          <a:p>
            <a:pPr indent="0" marL="0">
              <a:buNone/>
            </a:pPr>
            <a:r>
              <a:rPr lang="en-US" sz="1080" b="1" dirty="0">
                <a:solidFill>
                  <a:srgbClr val="FFFFFF"/>
                </a:solidFill>
                <a:latin typeface="Arial" pitchFamily="34" charset="0"/>
                <a:ea typeface="Arial" pitchFamily="34" charset="-122"/>
                <a:cs typeface="Arial" pitchFamily="34" charset="-120"/>
              </a:rPr>
              <a:t>ADMIN ANALYTICS</a:t>
            </a:r>
            <a:endParaRPr lang="en-US" sz="1080" dirty="0"/>
          </a:p>
        </p:txBody>
      </p:sp>
      <p:sp>
        <p:nvSpPr>
          <p:cNvPr id="37" name="Text 33"/>
          <p:cNvSpPr/>
          <p:nvPr/>
        </p:nvSpPr>
        <p:spPr>
          <a:xfrm>
            <a:off x="9281160" y="2039112"/>
            <a:ext cx="2487168" cy="173736"/>
          </a:xfrm>
          <a:prstGeom prst="rect">
            <a:avLst/>
          </a:prstGeom>
          <a:noFill/>
          <a:ln/>
        </p:spPr>
        <p:txBody>
          <a:bodyPr wrap="square" lIns="0" tIns="0" rIns="0" bIns="0" rtlCol="0" anchor="ctr"/>
          <a:lstStyle/>
          <a:p>
            <a:pPr indent="0" marL="0">
              <a:buNone/>
            </a:pPr>
            <a:r>
              <a:rPr lang="en-US" sz="910" dirty="0">
                <a:solidFill>
                  <a:srgbClr val="5E7281"/>
                </a:solidFill>
                <a:latin typeface="Arial" pitchFamily="34" charset="0"/>
                <a:ea typeface="Arial" pitchFamily="34" charset="-122"/>
                <a:cs typeface="Arial" pitchFamily="34" charset="-120"/>
              </a:rPr>
              <a:t>MediConnect AI  •  DEMO</a:t>
            </a:r>
            <a:endParaRPr lang="en-US" sz="910" dirty="0"/>
          </a:p>
        </p:txBody>
      </p:sp>
      <p:sp>
        <p:nvSpPr>
          <p:cNvPr id="38" name="Text 34"/>
          <p:cNvSpPr/>
          <p:nvPr/>
        </p:nvSpPr>
        <p:spPr>
          <a:xfrm>
            <a:off x="630936" y="2322576"/>
            <a:ext cx="2441448" cy="228600"/>
          </a:xfrm>
          <a:prstGeom prst="rect">
            <a:avLst/>
          </a:prstGeom>
          <a:noFill/>
          <a:ln/>
        </p:spPr>
        <p:txBody>
          <a:bodyPr wrap="square" lIns="0" tIns="0" rIns="0" bIns="0" rtlCol="0" anchor="ctr"/>
          <a:lstStyle/>
          <a:p>
            <a:pPr indent="0" marL="0">
              <a:buNone/>
            </a:pPr>
            <a:r>
              <a:rPr lang="en-US" sz="1400" b="1" dirty="0">
                <a:solidFill>
                  <a:srgbClr val="103A59"/>
                </a:solidFill>
                <a:latin typeface="Arial" pitchFamily="34" charset="0"/>
                <a:ea typeface="Arial" pitchFamily="34" charset="-122"/>
                <a:cs typeface="Arial" pitchFamily="34" charset="-120"/>
              </a:rPr>
              <a:t>Your health record</a:t>
            </a:r>
            <a:endParaRPr lang="en-US" sz="1400" dirty="0"/>
          </a:p>
        </p:txBody>
      </p:sp>
      <p:sp>
        <p:nvSpPr>
          <p:cNvPr id="39" name="Text 35"/>
          <p:cNvSpPr/>
          <p:nvPr/>
        </p:nvSpPr>
        <p:spPr>
          <a:xfrm>
            <a:off x="630936" y="2660904"/>
            <a:ext cx="2441448" cy="173736"/>
          </a:xfrm>
          <a:prstGeom prst="rect">
            <a:avLst/>
          </a:prstGeom>
          <a:noFill/>
          <a:ln/>
        </p:spPr>
        <p:txBody>
          <a:bodyPr wrap="square" lIns="0" tIns="0" rIns="0" bIns="0" rtlCol="0" anchor="ctr"/>
          <a:lstStyle/>
          <a:p>
            <a:pPr indent="0" marL="0">
              <a:buNone/>
            </a:pPr>
            <a:r>
              <a:rPr lang="en-US" sz="1020" dirty="0">
                <a:solidFill>
                  <a:srgbClr val="5E7281"/>
                </a:solidFill>
                <a:latin typeface="Arial" pitchFamily="34" charset="0"/>
                <a:ea typeface="Arial" pitchFamily="34" charset="-122"/>
                <a:cs typeface="Arial" pitchFamily="34" charset="-120"/>
              </a:rPr>
              <a:t>A-001  •  fictional patient</a:t>
            </a:r>
            <a:endParaRPr lang="en-US" sz="1020" dirty="0"/>
          </a:p>
        </p:txBody>
      </p:sp>
      <p:sp>
        <p:nvSpPr>
          <p:cNvPr id="40" name="Shape 36"/>
          <p:cNvSpPr/>
          <p:nvPr/>
        </p:nvSpPr>
        <p:spPr>
          <a:xfrm>
            <a:off x="630936" y="2935224"/>
            <a:ext cx="2423160" cy="320040"/>
          </a:xfrm>
          <a:prstGeom prst="roundRect">
            <a:avLst>
              <a:gd name="adj" fmla="val 34286"/>
            </a:avLst>
          </a:prstGeom>
          <a:solidFill>
            <a:srgbClr val="087FB8"/>
          </a:solidFill>
          <a:ln w="10160">
            <a:solidFill>
              <a:srgbClr val="087FB8"/>
            </a:solidFill>
            <a:prstDash val="solid"/>
          </a:ln>
        </p:spPr>
      </p:sp>
      <p:sp>
        <p:nvSpPr>
          <p:cNvPr id="41" name="Text 37">
            <a:hlinkClick r:id="rId11" tooltip="Open slide 5" action="ppaction://hlinksldjump"/>
          </p:cNvPr>
          <p:cNvSpPr/>
          <p:nvPr/>
        </p:nvSpPr>
        <p:spPr>
          <a:xfrm>
            <a:off x="704088" y="2971800"/>
            <a:ext cx="2276856" cy="246888"/>
          </a:xfrm>
          <a:prstGeom prst="rect">
            <a:avLst/>
          </a:prstGeom>
          <a:noFill/>
          <a:ln/>
        </p:spPr>
        <p:txBody>
          <a:bodyPr wrap="square" lIns="0" tIns="0" rIns="0" bIns="0" rtlCol="0" anchor="ctr"/>
          <a:lstStyle/>
          <a:p>
            <a:pPr algn="ctr" indent="0" marL="0">
              <a:buNone/>
            </a:pPr>
            <a:r>
              <a:rPr lang="en-US" sz="1050" b="1" u="sng" dirty="0">
                <a:solidFill>
                  <a:srgbClr val="FFFFFF"/>
                </a:solidFill>
                <a:latin typeface="Arial" pitchFamily="34" charset="0"/>
                <a:ea typeface="Arial" pitchFamily="34" charset="-122"/>
                <a:cs typeface="Arial" pitchFamily="34" charset="-120"/>
                <a:hlinkClick r:id="rId11" action="ppaction://hlinksldjump" tooltip="Open slide 5">
                  <a:extLst>
                    <a:ext uri="{A12FA001-AC4F-418D-AE19-62706E023703}">
                      <ahyp:hlinkClr xmlns:ahyp="http://schemas.microsoft.com/office/drawing/2018/hyperlinkcolor" val="tx"/>
                    </a:ext>
                  </a:extLst>
                </a:hlinkClick>
              </a:rPr>
              <a:t>Upload report  →</a:t>
            </a:r>
            <a:endParaRPr lang="en-US" sz="1050" dirty="0"/>
          </a:p>
        </p:txBody>
      </p:sp>
      <p:sp>
        <p:nvSpPr>
          <p:cNvPr id="42" name="Shape 38"/>
          <p:cNvSpPr/>
          <p:nvPr/>
        </p:nvSpPr>
        <p:spPr>
          <a:xfrm>
            <a:off x="630936" y="3355848"/>
            <a:ext cx="1380744" cy="320040"/>
          </a:xfrm>
          <a:prstGeom prst="roundRect">
            <a:avLst>
              <a:gd name="adj" fmla="val 34286"/>
            </a:avLst>
          </a:prstGeom>
          <a:solidFill>
            <a:srgbClr val="008F8B"/>
          </a:solidFill>
          <a:ln w="10160">
            <a:solidFill>
              <a:srgbClr val="008F8B"/>
            </a:solidFill>
            <a:prstDash val="solid"/>
          </a:ln>
        </p:spPr>
      </p:sp>
      <p:sp>
        <p:nvSpPr>
          <p:cNvPr id="43" name="Text 39">
            <a:hlinkClick r:id="rId12" tooltip="Open slide 8" action="ppaction://hlinksldjump"/>
          </p:cNvPr>
          <p:cNvSpPr/>
          <p:nvPr/>
        </p:nvSpPr>
        <p:spPr>
          <a:xfrm>
            <a:off x="704088" y="3392424"/>
            <a:ext cx="1234440" cy="246888"/>
          </a:xfrm>
          <a:prstGeom prst="rect">
            <a:avLst/>
          </a:prstGeom>
          <a:noFill/>
          <a:ln/>
        </p:spPr>
        <p:txBody>
          <a:bodyPr wrap="square" lIns="0" tIns="0" rIns="0" bIns="0" rtlCol="0" anchor="ctr"/>
          <a:lstStyle/>
          <a:p>
            <a:pPr algn="ctr" indent="0" marL="0">
              <a:buNone/>
            </a:pPr>
            <a:r>
              <a:rPr lang="en-US" sz="1050" b="1" u="sng" dirty="0">
                <a:solidFill>
                  <a:srgbClr val="FFFFFF"/>
                </a:solidFill>
                <a:latin typeface="Arial" pitchFamily="34" charset="0"/>
                <a:ea typeface="Arial" pitchFamily="34" charset="-122"/>
                <a:cs typeface="Arial" pitchFamily="34" charset="-120"/>
                <a:hlinkClick r:id="rId12" action="ppaction://hlinksldjump" tooltip="Open slide 8">
                  <a:extLst>
                    <a:ext uri="{A12FA001-AC4F-418D-AE19-62706E023703}">
                      <ahyp:hlinkClr xmlns:ahyp="http://schemas.microsoft.com/office/drawing/2018/hyperlinkcolor" val="tx"/>
                    </a:ext>
                  </a:extLst>
                </a:hlinkClick>
              </a:rPr>
              <a:t>History / trends  →</a:t>
            </a:r>
            <a:endParaRPr lang="en-US" sz="1050" dirty="0"/>
          </a:p>
        </p:txBody>
      </p:sp>
      <p:sp>
        <p:nvSpPr>
          <p:cNvPr id="44" name="Shape 40"/>
          <p:cNvSpPr/>
          <p:nvPr/>
        </p:nvSpPr>
        <p:spPr>
          <a:xfrm>
            <a:off x="2103120" y="3355848"/>
            <a:ext cx="950976" cy="320040"/>
          </a:xfrm>
          <a:prstGeom prst="roundRect">
            <a:avLst>
              <a:gd name="adj" fmla="val 34286"/>
            </a:avLst>
          </a:prstGeom>
          <a:solidFill>
            <a:srgbClr val="087FB8"/>
          </a:solidFill>
          <a:ln w="10160">
            <a:solidFill>
              <a:srgbClr val="087FB8"/>
            </a:solidFill>
            <a:prstDash val="solid"/>
          </a:ln>
        </p:spPr>
      </p:sp>
      <p:sp>
        <p:nvSpPr>
          <p:cNvPr id="45" name="Text 41">
            <a:hlinkClick r:id="rId13" tooltip="Open slide 4" action="ppaction://hlinksldjump"/>
          </p:cNvPr>
          <p:cNvSpPr/>
          <p:nvPr/>
        </p:nvSpPr>
        <p:spPr>
          <a:xfrm>
            <a:off x="2176272" y="3392424"/>
            <a:ext cx="804672" cy="246888"/>
          </a:xfrm>
          <a:prstGeom prst="rect">
            <a:avLst/>
          </a:prstGeom>
          <a:noFill/>
          <a:ln/>
        </p:spPr>
        <p:txBody>
          <a:bodyPr wrap="square" lIns="0" tIns="0" rIns="0" bIns="0" rtlCol="0" anchor="ctr"/>
          <a:lstStyle/>
          <a:p>
            <a:pPr algn="ctr" indent="0" marL="0">
              <a:buNone/>
            </a:pPr>
            <a:r>
              <a:rPr lang="en-US" sz="1050" b="1" u="sng" dirty="0">
                <a:solidFill>
                  <a:srgbClr val="FFFFFF"/>
                </a:solidFill>
                <a:latin typeface="Arial" pitchFamily="34" charset="0"/>
                <a:ea typeface="Arial" pitchFamily="34" charset="-122"/>
                <a:cs typeface="Arial" pitchFamily="34" charset="-120"/>
                <a:hlinkClick r:id="rId13" action="ppaction://hlinksldjump" tooltip="Open slide 4">
                  <a:extLst>
                    <a:ext uri="{A12FA001-AC4F-418D-AE19-62706E023703}">
                      <ahyp:hlinkClr xmlns:ahyp="http://schemas.microsoft.com/office/drawing/2018/hyperlinkcolor" val="tx"/>
                    </a:ext>
                  </a:extLst>
                </a:hlinkClick>
              </a:rPr>
              <a:t>Visits  →</a:t>
            </a:r>
            <a:endParaRPr lang="en-US" sz="1050" dirty="0"/>
          </a:p>
        </p:txBody>
      </p:sp>
      <p:sp>
        <p:nvSpPr>
          <p:cNvPr id="46" name="Text 42"/>
          <p:cNvSpPr/>
          <p:nvPr/>
        </p:nvSpPr>
        <p:spPr>
          <a:xfrm>
            <a:off x="630936" y="3803904"/>
            <a:ext cx="2432304" cy="155448"/>
          </a:xfrm>
          <a:prstGeom prst="rect">
            <a:avLst/>
          </a:prstGeom>
          <a:noFill/>
          <a:ln/>
        </p:spPr>
        <p:txBody>
          <a:bodyPr wrap="square" lIns="0" tIns="0" rIns="0" bIns="0" rtlCol="0" anchor="ctr"/>
          <a:lstStyle/>
          <a:p>
            <a:pPr indent="0" marL="0">
              <a:buNone/>
            </a:pPr>
            <a:r>
              <a:rPr lang="en-US" sz="900" dirty="0">
                <a:solidFill>
                  <a:srgbClr val="5E7281"/>
                </a:solidFill>
                <a:latin typeface="Arial" pitchFamily="34" charset="0"/>
                <a:ea typeface="Arial" pitchFamily="34" charset="-122"/>
                <a:cs typeface="Arial" pitchFamily="34" charset="-120"/>
              </a:rPr>
              <a:t>08:00 • clinician-set medication reminder</a:t>
            </a:r>
            <a:endParaRPr lang="en-US" sz="900" dirty="0"/>
          </a:p>
        </p:txBody>
      </p:sp>
      <p:sp>
        <p:nvSpPr>
          <p:cNvPr id="47" name="Text 43"/>
          <p:cNvSpPr/>
          <p:nvPr/>
        </p:nvSpPr>
        <p:spPr>
          <a:xfrm>
            <a:off x="3520440" y="2340864"/>
            <a:ext cx="2459736" cy="219456"/>
          </a:xfrm>
          <a:prstGeom prst="rect">
            <a:avLst/>
          </a:prstGeom>
          <a:noFill/>
          <a:ln/>
        </p:spPr>
        <p:txBody>
          <a:bodyPr wrap="square" lIns="0" tIns="0" rIns="0" bIns="0" rtlCol="0" anchor="ctr"/>
          <a:lstStyle/>
          <a:p>
            <a:pPr indent="0" marL="0">
              <a:buNone/>
            </a:pPr>
            <a:r>
              <a:rPr lang="en-US" sz="1240" b="1" dirty="0">
                <a:solidFill>
                  <a:srgbClr val="103A59"/>
                </a:solidFill>
                <a:latin typeface="Arial" pitchFamily="34" charset="0"/>
                <a:ea typeface="Arial" pitchFamily="34" charset="-122"/>
                <a:cs typeface="Arial" pitchFamily="34" charset="-120"/>
              </a:rPr>
              <a:t>A-001  |  Authorized view</a:t>
            </a:r>
            <a:endParaRPr lang="en-US" sz="1240" dirty="0"/>
          </a:p>
        </p:txBody>
      </p:sp>
      <p:sp>
        <p:nvSpPr>
          <p:cNvPr id="48" name="Shape 44"/>
          <p:cNvSpPr/>
          <p:nvPr/>
        </p:nvSpPr>
        <p:spPr>
          <a:xfrm>
            <a:off x="3511296" y="2688336"/>
            <a:ext cx="2459736" cy="630936"/>
          </a:xfrm>
          <a:prstGeom prst="roundRect">
            <a:avLst>
              <a:gd name="adj" fmla="val 17391"/>
            </a:avLst>
          </a:prstGeom>
          <a:solidFill>
            <a:srgbClr val="DFF5F3"/>
          </a:solidFill>
          <a:ln w="10160">
            <a:solidFill>
              <a:srgbClr val="C5D9E3"/>
            </a:solidFill>
            <a:prstDash val="solid"/>
          </a:ln>
        </p:spPr>
      </p:sp>
      <p:sp>
        <p:nvSpPr>
          <p:cNvPr id="49" name="Text 45"/>
          <p:cNvSpPr/>
          <p:nvPr/>
        </p:nvSpPr>
        <p:spPr>
          <a:xfrm>
            <a:off x="3602736" y="2770632"/>
            <a:ext cx="2276856" cy="429768"/>
          </a:xfrm>
          <a:prstGeom prst="rect">
            <a:avLst/>
          </a:prstGeom>
          <a:noFill/>
          <a:ln/>
        </p:spPr>
        <p:txBody>
          <a:bodyPr wrap="square" lIns="0" tIns="0" rIns="0" bIns="0" rtlCol="0" anchor="ctr"/>
          <a:lstStyle/>
          <a:p>
            <a:pPr indent="0" marL="0">
              <a:buNone/>
            </a:pPr>
            <a:r>
              <a:rPr lang="en-US" sz="1070" b="1" dirty="0">
                <a:solidFill>
                  <a:srgbClr val="008F8B"/>
                </a:solidFill>
                <a:latin typeface="Arial" pitchFamily="34" charset="0"/>
                <a:ea typeface="Arial" pitchFamily="34" charset="-122"/>
                <a:cs typeface="Arial" pitchFamily="34" charset="-120"/>
              </a:rPr>
              <a:t>DRAFT • verify against source</a:t>
            </a:r>
            <a:endParaRPr lang="en-US" sz="1070" dirty="0"/>
          </a:p>
          <a:p>
            <a:pPr indent="0" marL="0">
              <a:buNone/>
            </a:pPr>
            <a:r>
              <a:rPr lang="en-US" sz="1070" b="1" dirty="0">
                <a:solidFill>
                  <a:srgbClr val="008F8B"/>
                </a:solidFill>
                <a:latin typeface="Arial" pitchFamily="34" charset="0"/>
                <a:ea typeface="Arial" pitchFamily="34" charset="-122"/>
                <a:cs typeface="Arial" pitchFamily="34" charset="-120"/>
              </a:rPr>
              <a:t>R02: HbA1c 7.7% • 12 Apr 2026</a:t>
            </a:r>
            <a:endParaRPr lang="en-US" sz="1070" dirty="0"/>
          </a:p>
        </p:txBody>
      </p:sp>
      <p:sp>
        <p:nvSpPr>
          <p:cNvPr id="50" name="Text 46"/>
          <p:cNvSpPr/>
          <p:nvPr/>
        </p:nvSpPr>
        <p:spPr>
          <a:xfrm>
            <a:off x="3529584" y="3392424"/>
            <a:ext cx="2423160" cy="274320"/>
          </a:xfrm>
          <a:prstGeom prst="rect">
            <a:avLst/>
          </a:prstGeom>
          <a:noFill/>
          <a:ln/>
        </p:spPr>
        <p:txBody>
          <a:bodyPr wrap="square" lIns="0" tIns="0" rIns="0" bIns="0" rtlCol="0" anchor="ctr"/>
          <a:lstStyle/>
          <a:p>
            <a:pPr indent="0" marL="0">
              <a:buNone/>
            </a:pPr>
            <a:r>
              <a:rPr lang="en-US" sz="960" dirty="0">
                <a:solidFill>
                  <a:srgbClr val="233B4C"/>
                </a:solidFill>
                <a:latin typeface="Arial" pitchFamily="34" charset="0"/>
                <a:ea typeface="Arial" pitchFamily="34" charset="-122"/>
                <a:cs typeface="Arial" pitchFamily="34" charset="-120"/>
              </a:rPr>
              <a:t>Fictional original excerpt • R02 / p1</a:t>
            </a:r>
            <a:endParaRPr lang="en-US" sz="960" dirty="0"/>
          </a:p>
          <a:p>
            <a:pPr indent="0" marL="0">
              <a:buNone/>
            </a:pPr>
            <a:r>
              <a:rPr lang="en-US" sz="960" dirty="0">
                <a:solidFill>
                  <a:srgbClr val="233B4C"/>
                </a:solidFill>
                <a:latin typeface="Arial" pitchFamily="34" charset="0"/>
                <a:ea typeface="Arial" pitchFamily="34" charset="-122"/>
                <a:cs typeface="Arial" pitchFamily="34" charset="-120"/>
              </a:rPr>
              <a:t>HbA1c | Result: 7.7 | Unit: %</a:t>
            </a:r>
            <a:endParaRPr lang="en-US" sz="960" dirty="0"/>
          </a:p>
        </p:txBody>
      </p:sp>
      <p:sp>
        <p:nvSpPr>
          <p:cNvPr id="51" name="Shape 47"/>
          <p:cNvSpPr/>
          <p:nvPr/>
        </p:nvSpPr>
        <p:spPr>
          <a:xfrm>
            <a:off x="3520440" y="3712464"/>
            <a:ext cx="2450592" cy="320040"/>
          </a:xfrm>
          <a:prstGeom prst="roundRect">
            <a:avLst>
              <a:gd name="adj" fmla="val 34286"/>
            </a:avLst>
          </a:prstGeom>
          <a:solidFill>
            <a:srgbClr val="008F8B"/>
          </a:solidFill>
          <a:ln w="10160">
            <a:solidFill>
              <a:srgbClr val="008F8B"/>
            </a:solidFill>
            <a:prstDash val="solid"/>
          </a:ln>
        </p:spPr>
      </p:sp>
      <p:sp>
        <p:nvSpPr>
          <p:cNvPr id="52" name="Text 48">
            <a:hlinkClick r:id="rId14" tooltip="Open slide 5" action="ppaction://hlinksldjump"/>
          </p:cNvPr>
          <p:cNvSpPr/>
          <p:nvPr/>
        </p:nvSpPr>
        <p:spPr>
          <a:xfrm>
            <a:off x="3593592" y="3749040"/>
            <a:ext cx="2304288" cy="246888"/>
          </a:xfrm>
          <a:prstGeom prst="rect">
            <a:avLst/>
          </a:prstGeom>
          <a:noFill/>
          <a:ln/>
        </p:spPr>
        <p:txBody>
          <a:bodyPr wrap="square" lIns="0" tIns="0" rIns="0" bIns="0" rtlCol="0" anchor="ctr"/>
          <a:lstStyle/>
          <a:p>
            <a:pPr algn="ctr" indent="0" marL="0">
              <a:buNone/>
            </a:pPr>
            <a:r>
              <a:rPr lang="en-US" sz="1050" b="1" u="sng" dirty="0">
                <a:solidFill>
                  <a:srgbClr val="FFFFFF"/>
                </a:solidFill>
                <a:latin typeface="Arial" pitchFamily="34" charset="0"/>
                <a:ea typeface="Arial" pitchFamily="34" charset="-122"/>
                <a:cs typeface="Arial" pitchFamily="34" charset="-120"/>
                <a:hlinkClick r:id="rId14" action="ppaction://hlinksldjump" tooltip="Open slide 5">
                  <a:extLst>
                    <a:ext uri="{A12FA001-AC4F-418D-AE19-62706E023703}">
                      <ahyp:hlinkClr xmlns:ahyp="http://schemas.microsoft.com/office/drawing/2018/hyperlinkcolor" val="tx"/>
                    </a:ext>
                  </a:extLst>
                </a:hlinkClick>
              </a:rPr>
              <a:t>Review pipeline  →</a:t>
            </a:r>
            <a:endParaRPr lang="en-US" sz="1050" dirty="0"/>
          </a:p>
        </p:txBody>
      </p:sp>
      <p:sp>
        <p:nvSpPr>
          <p:cNvPr id="53" name="Text 49"/>
          <p:cNvSpPr/>
          <p:nvPr/>
        </p:nvSpPr>
        <p:spPr>
          <a:xfrm>
            <a:off x="6409944" y="2331720"/>
            <a:ext cx="2423160" cy="246888"/>
          </a:xfrm>
          <a:prstGeom prst="rect">
            <a:avLst/>
          </a:prstGeom>
          <a:noFill/>
          <a:ln/>
        </p:spPr>
        <p:txBody>
          <a:bodyPr wrap="square" lIns="0" tIns="0" rIns="0" bIns="0" rtlCol="0" anchor="ctr"/>
          <a:lstStyle/>
          <a:p>
            <a:pPr indent="0" marL="0">
              <a:buNone/>
            </a:pPr>
            <a:r>
              <a:rPr lang="en-US" sz="1300" b="1" dirty="0">
                <a:solidFill>
                  <a:srgbClr val="103A59"/>
                </a:solidFill>
                <a:latin typeface="Arial" pitchFamily="34" charset="0"/>
                <a:ea typeface="Arial" pitchFamily="34" charset="-122"/>
                <a:cs typeface="Arial" pitchFamily="34" charset="-120"/>
              </a:rPr>
              <a:t>Appointments / queue</a:t>
            </a:r>
            <a:endParaRPr lang="en-US" sz="1300" dirty="0"/>
          </a:p>
        </p:txBody>
      </p:sp>
      <p:sp>
        <p:nvSpPr>
          <p:cNvPr id="54" name="Text 50"/>
          <p:cNvSpPr/>
          <p:nvPr/>
        </p:nvSpPr>
        <p:spPr>
          <a:xfrm>
            <a:off x="6428232" y="2743200"/>
            <a:ext cx="438912" cy="182880"/>
          </a:xfrm>
          <a:prstGeom prst="rect">
            <a:avLst/>
          </a:prstGeom>
          <a:noFill/>
          <a:ln/>
        </p:spPr>
        <p:txBody>
          <a:bodyPr wrap="square" lIns="0" tIns="0" rIns="0" bIns="0" rtlCol="0" anchor="ctr"/>
          <a:lstStyle/>
          <a:p>
            <a:pPr indent="0" marL="0">
              <a:buNone/>
            </a:pPr>
            <a:r>
              <a:rPr lang="en-US" sz="1010" b="1" dirty="0">
                <a:solidFill>
                  <a:srgbClr val="087FB8"/>
                </a:solidFill>
                <a:latin typeface="Arial" pitchFamily="34" charset="0"/>
                <a:ea typeface="Arial" pitchFamily="34" charset="-122"/>
                <a:cs typeface="Arial" pitchFamily="34" charset="-120"/>
              </a:rPr>
              <a:t>09:30</a:t>
            </a:r>
            <a:endParaRPr lang="en-US" sz="1010" dirty="0"/>
          </a:p>
        </p:txBody>
      </p:sp>
      <p:sp>
        <p:nvSpPr>
          <p:cNvPr id="55" name="Text 51"/>
          <p:cNvSpPr/>
          <p:nvPr/>
        </p:nvSpPr>
        <p:spPr>
          <a:xfrm>
            <a:off x="6986016" y="2743200"/>
            <a:ext cx="1783080" cy="182880"/>
          </a:xfrm>
          <a:prstGeom prst="rect">
            <a:avLst/>
          </a:prstGeom>
          <a:noFill/>
          <a:ln/>
        </p:spPr>
        <p:txBody>
          <a:bodyPr wrap="square" lIns="0" tIns="0" rIns="0" bIns="0" rtlCol="0" anchor="ctr"/>
          <a:lstStyle/>
          <a:p>
            <a:pPr indent="0" marL="0">
              <a:buNone/>
            </a:pPr>
            <a:r>
              <a:rPr lang="en-US" sz="1010" dirty="0">
                <a:solidFill>
                  <a:srgbClr val="233B4C"/>
                </a:solidFill>
                <a:latin typeface="Arial" pitchFamily="34" charset="0"/>
                <a:ea typeface="Arial" pitchFamily="34" charset="-122"/>
                <a:cs typeface="Arial" pitchFamily="34" charset="-120"/>
              </a:rPr>
              <a:t>A-001 • confirmed</a:t>
            </a:r>
            <a:endParaRPr lang="en-US" sz="1010" dirty="0"/>
          </a:p>
        </p:txBody>
      </p:sp>
      <p:sp>
        <p:nvSpPr>
          <p:cNvPr id="56" name="Text 52"/>
          <p:cNvSpPr/>
          <p:nvPr/>
        </p:nvSpPr>
        <p:spPr>
          <a:xfrm>
            <a:off x="6428232" y="3044952"/>
            <a:ext cx="438912" cy="182880"/>
          </a:xfrm>
          <a:prstGeom prst="rect">
            <a:avLst/>
          </a:prstGeom>
          <a:noFill/>
          <a:ln/>
        </p:spPr>
        <p:txBody>
          <a:bodyPr wrap="square" lIns="0" tIns="0" rIns="0" bIns="0" rtlCol="0" anchor="ctr"/>
          <a:lstStyle/>
          <a:p>
            <a:pPr indent="0" marL="0">
              <a:buNone/>
            </a:pPr>
            <a:r>
              <a:rPr lang="en-US" sz="1010" b="1" dirty="0">
                <a:solidFill>
                  <a:srgbClr val="087FB8"/>
                </a:solidFill>
                <a:latin typeface="Arial" pitchFamily="34" charset="0"/>
                <a:ea typeface="Arial" pitchFamily="34" charset="-122"/>
                <a:cs typeface="Arial" pitchFamily="34" charset="-120"/>
              </a:rPr>
              <a:t>10:00</a:t>
            </a:r>
            <a:endParaRPr lang="en-US" sz="1010" dirty="0"/>
          </a:p>
        </p:txBody>
      </p:sp>
      <p:sp>
        <p:nvSpPr>
          <p:cNvPr id="57" name="Text 53"/>
          <p:cNvSpPr/>
          <p:nvPr/>
        </p:nvSpPr>
        <p:spPr>
          <a:xfrm>
            <a:off x="6986016" y="3044952"/>
            <a:ext cx="1783080" cy="182880"/>
          </a:xfrm>
          <a:prstGeom prst="rect">
            <a:avLst/>
          </a:prstGeom>
          <a:noFill/>
          <a:ln/>
        </p:spPr>
        <p:txBody>
          <a:bodyPr wrap="square" lIns="0" tIns="0" rIns="0" bIns="0" rtlCol="0" anchor="ctr"/>
          <a:lstStyle/>
          <a:p>
            <a:pPr indent="0" marL="0">
              <a:buNone/>
            </a:pPr>
            <a:r>
              <a:rPr lang="en-US" sz="1010" dirty="0">
                <a:solidFill>
                  <a:srgbClr val="233B4C"/>
                </a:solidFill>
                <a:latin typeface="Arial" pitchFamily="34" charset="0"/>
                <a:ea typeface="Arial" pitchFamily="34" charset="-122"/>
                <a:cs typeface="Arial" pitchFamily="34" charset="-120"/>
              </a:rPr>
              <a:t>A-002 • pending</a:t>
            </a:r>
            <a:endParaRPr lang="en-US" sz="1010" dirty="0"/>
          </a:p>
        </p:txBody>
      </p:sp>
      <p:sp>
        <p:nvSpPr>
          <p:cNvPr id="58" name="Text 54"/>
          <p:cNvSpPr/>
          <p:nvPr/>
        </p:nvSpPr>
        <p:spPr>
          <a:xfrm>
            <a:off x="6428232" y="3346704"/>
            <a:ext cx="438912" cy="182880"/>
          </a:xfrm>
          <a:prstGeom prst="rect">
            <a:avLst/>
          </a:prstGeom>
          <a:noFill/>
          <a:ln/>
        </p:spPr>
        <p:txBody>
          <a:bodyPr wrap="square" lIns="0" tIns="0" rIns="0" bIns="0" rtlCol="0" anchor="ctr"/>
          <a:lstStyle/>
          <a:p>
            <a:pPr indent="0" marL="0">
              <a:buNone/>
            </a:pPr>
            <a:r>
              <a:rPr lang="en-US" sz="1010" b="1" dirty="0">
                <a:solidFill>
                  <a:srgbClr val="087FB8"/>
                </a:solidFill>
                <a:latin typeface="Arial" pitchFamily="34" charset="0"/>
                <a:ea typeface="Arial" pitchFamily="34" charset="-122"/>
                <a:cs typeface="Arial" pitchFamily="34" charset="-120"/>
              </a:rPr>
              <a:t>10:30</a:t>
            </a:r>
            <a:endParaRPr lang="en-US" sz="1010" dirty="0"/>
          </a:p>
        </p:txBody>
      </p:sp>
      <p:sp>
        <p:nvSpPr>
          <p:cNvPr id="59" name="Text 55"/>
          <p:cNvSpPr/>
          <p:nvPr/>
        </p:nvSpPr>
        <p:spPr>
          <a:xfrm>
            <a:off x="6986016" y="3346704"/>
            <a:ext cx="1783080" cy="182880"/>
          </a:xfrm>
          <a:prstGeom prst="rect">
            <a:avLst/>
          </a:prstGeom>
          <a:noFill/>
          <a:ln/>
        </p:spPr>
        <p:txBody>
          <a:bodyPr wrap="square" lIns="0" tIns="0" rIns="0" bIns="0" rtlCol="0" anchor="ctr"/>
          <a:lstStyle/>
          <a:p>
            <a:pPr indent="0" marL="0">
              <a:buNone/>
            </a:pPr>
            <a:r>
              <a:rPr lang="en-US" sz="1010" dirty="0">
                <a:solidFill>
                  <a:srgbClr val="233B4C"/>
                </a:solidFill>
                <a:latin typeface="Arial" pitchFamily="34" charset="0"/>
                <a:ea typeface="Arial" pitchFamily="34" charset="-122"/>
                <a:cs typeface="Arial" pitchFamily="34" charset="-120"/>
              </a:rPr>
              <a:t>A-003 • scheduled</a:t>
            </a:r>
            <a:endParaRPr lang="en-US" sz="1010" dirty="0"/>
          </a:p>
        </p:txBody>
      </p:sp>
      <p:sp>
        <p:nvSpPr>
          <p:cNvPr id="60" name="Text 56"/>
          <p:cNvSpPr/>
          <p:nvPr/>
        </p:nvSpPr>
        <p:spPr>
          <a:xfrm>
            <a:off x="6409944" y="3822192"/>
            <a:ext cx="2441448" cy="146304"/>
          </a:xfrm>
          <a:prstGeom prst="rect">
            <a:avLst/>
          </a:prstGeom>
          <a:noFill/>
          <a:ln/>
        </p:spPr>
        <p:txBody>
          <a:bodyPr wrap="square" lIns="0" tIns="0" rIns="0" bIns="0" rtlCol="0" anchor="ctr"/>
          <a:lstStyle/>
          <a:p>
            <a:pPr indent="0" marL="0">
              <a:buNone/>
            </a:pPr>
            <a:r>
              <a:rPr lang="en-US" sz="900" dirty="0">
                <a:solidFill>
                  <a:srgbClr val="5E7281"/>
                </a:solidFill>
                <a:latin typeface="Arial" pitchFamily="34" charset="0"/>
                <a:ea typeface="Arial" pitchFamily="34" charset="-122"/>
                <a:cs typeface="Arial" pitchFamily="34" charset="-120"/>
              </a:rPr>
              <a:t>Schedules • reports • staff tasks (demo)</a:t>
            </a:r>
            <a:endParaRPr lang="en-US" sz="900" dirty="0"/>
          </a:p>
        </p:txBody>
      </p:sp>
      <p:sp>
        <p:nvSpPr>
          <p:cNvPr id="61" name="Text 57"/>
          <p:cNvSpPr/>
          <p:nvPr/>
        </p:nvSpPr>
        <p:spPr>
          <a:xfrm>
            <a:off x="9299448" y="2340864"/>
            <a:ext cx="2414016" cy="237744"/>
          </a:xfrm>
          <a:prstGeom prst="rect">
            <a:avLst/>
          </a:prstGeom>
          <a:noFill/>
          <a:ln/>
        </p:spPr>
        <p:txBody>
          <a:bodyPr wrap="square" lIns="0" tIns="0" rIns="0" bIns="0" rtlCol="0" anchor="ctr"/>
          <a:lstStyle/>
          <a:p>
            <a:pPr indent="0" marL="0">
              <a:buNone/>
            </a:pPr>
            <a:r>
              <a:rPr lang="en-US" sz="1300" b="1" dirty="0">
                <a:solidFill>
                  <a:srgbClr val="103A59"/>
                </a:solidFill>
                <a:latin typeface="Arial" pitchFamily="34" charset="0"/>
                <a:ea typeface="Arial" pitchFamily="34" charset="-122"/>
                <a:cs typeface="Arial" pitchFamily="34" charset="-120"/>
              </a:rPr>
              <a:t>Operational trends</a:t>
            </a:r>
            <a:endParaRPr lang="en-US" sz="1300" dirty="0"/>
          </a:p>
        </p:txBody>
      </p:sp>
      <p:sp>
        <p:nvSpPr>
          <p:cNvPr id="62" name="Shape 58"/>
          <p:cNvSpPr/>
          <p:nvPr/>
        </p:nvSpPr>
        <p:spPr>
          <a:xfrm>
            <a:off x="9299448" y="2743200"/>
            <a:ext cx="2414016" cy="256032"/>
          </a:xfrm>
          <a:prstGeom prst="roundRect">
            <a:avLst>
              <a:gd name="adj" fmla="val 42857"/>
            </a:avLst>
          </a:prstGeom>
          <a:solidFill>
            <a:srgbClr val="FFFFFF"/>
          </a:solidFill>
          <a:ln w="10160">
            <a:solidFill>
              <a:srgbClr val="C5D9E3"/>
            </a:solidFill>
            <a:prstDash val="solid"/>
          </a:ln>
        </p:spPr>
      </p:sp>
      <p:sp>
        <p:nvSpPr>
          <p:cNvPr id="63" name="Text 59"/>
          <p:cNvSpPr/>
          <p:nvPr/>
        </p:nvSpPr>
        <p:spPr>
          <a:xfrm>
            <a:off x="9381744" y="2788920"/>
            <a:ext cx="1088136" cy="137160"/>
          </a:xfrm>
          <a:prstGeom prst="rect">
            <a:avLst/>
          </a:prstGeom>
          <a:noFill/>
          <a:ln/>
        </p:spPr>
        <p:txBody>
          <a:bodyPr wrap="square" lIns="0" tIns="0" rIns="0" bIns="0" rtlCol="0" anchor="ctr"/>
          <a:lstStyle/>
          <a:p>
            <a:pPr indent="0" marL="0">
              <a:buNone/>
            </a:pPr>
            <a:r>
              <a:rPr lang="en-US" sz="980" b="1" dirty="0">
                <a:solidFill>
                  <a:srgbClr val="233B4C"/>
                </a:solidFill>
                <a:latin typeface="Arial" pitchFamily="34" charset="0"/>
                <a:ea typeface="Arial" pitchFamily="34" charset="-122"/>
                <a:cs typeface="Arial" pitchFamily="34" charset="-120"/>
              </a:rPr>
              <a:t>Appointments</a:t>
            </a:r>
            <a:endParaRPr lang="en-US" sz="980" dirty="0"/>
          </a:p>
        </p:txBody>
      </p:sp>
      <p:sp>
        <p:nvSpPr>
          <p:cNvPr id="64" name="Text 60"/>
          <p:cNvSpPr/>
          <p:nvPr/>
        </p:nvSpPr>
        <p:spPr>
          <a:xfrm>
            <a:off x="10515600" y="2788920"/>
            <a:ext cx="1088136" cy="137160"/>
          </a:xfrm>
          <a:prstGeom prst="rect">
            <a:avLst/>
          </a:prstGeom>
          <a:noFill/>
          <a:ln/>
        </p:spPr>
        <p:txBody>
          <a:bodyPr wrap="square" lIns="0" tIns="0" rIns="0" bIns="0" rtlCol="0" anchor="ctr"/>
          <a:lstStyle/>
          <a:p>
            <a:pPr indent="0" marL="0">
              <a:buNone/>
            </a:pPr>
            <a:r>
              <a:rPr lang="en-US" sz="960" dirty="0">
                <a:solidFill>
                  <a:srgbClr val="008F8B"/>
                </a:solidFill>
                <a:latin typeface="Arial" pitchFamily="34" charset="0"/>
                <a:ea typeface="Arial" pitchFamily="34" charset="-122"/>
                <a:cs typeface="Arial" pitchFamily="34" charset="-120"/>
              </a:rPr>
              <a:t>Aggregate only</a:t>
            </a:r>
            <a:endParaRPr lang="en-US" sz="960" dirty="0"/>
          </a:p>
        </p:txBody>
      </p:sp>
      <p:sp>
        <p:nvSpPr>
          <p:cNvPr id="65" name="Shape 61"/>
          <p:cNvSpPr/>
          <p:nvPr/>
        </p:nvSpPr>
        <p:spPr>
          <a:xfrm>
            <a:off x="9299448" y="3054096"/>
            <a:ext cx="2414016" cy="256032"/>
          </a:xfrm>
          <a:prstGeom prst="roundRect">
            <a:avLst>
              <a:gd name="adj" fmla="val 42857"/>
            </a:avLst>
          </a:prstGeom>
          <a:solidFill>
            <a:srgbClr val="FFFFFF"/>
          </a:solidFill>
          <a:ln w="10160">
            <a:solidFill>
              <a:srgbClr val="C5D9E3"/>
            </a:solidFill>
            <a:prstDash val="solid"/>
          </a:ln>
        </p:spPr>
      </p:sp>
      <p:sp>
        <p:nvSpPr>
          <p:cNvPr id="66" name="Text 62"/>
          <p:cNvSpPr/>
          <p:nvPr/>
        </p:nvSpPr>
        <p:spPr>
          <a:xfrm>
            <a:off x="9381744" y="3099816"/>
            <a:ext cx="1088136" cy="137160"/>
          </a:xfrm>
          <a:prstGeom prst="rect">
            <a:avLst/>
          </a:prstGeom>
          <a:noFill/>
          <a:ln/>
        </p:spPr>
        <p:txBody>
          <a:bodyPr wrap="square" lIns="0" tIns="0" rIns="0" bIns="0" rtlCol="0" anchor="ctr"/>
          <a:lstStyle/>
          <a:p>
            <a:pPr indent="0" marL="0">
              <a:buNone/>
            </a:pPr>
            <a:r>
              <a:rPr lang="en-US" sz="980" b="1" dirty="0">
                <a:solidFill>
                  <a:srgbClr val="233B4C"/>
                </a:solidFill>
                <a:latin typeface="Arial" pitchFamily="34" charset="0"/>
                <a:ea typeface="Arial" pitchFamily="34" charset="-122"/>
                <a:cs typeface="Arial" pitchFamily="34" charset="-120"/>
              </a:rPr>
              <a:t>Follow-ups</a:t>
            </a:r>
            <a:endParaRPr lang="en-US" sz="980" dirty="0"/>
          </a:p>
        </p:txBody>
      </p:sp>
      <p:sp>
        <p:nvSpPr>
          <p:cNvPr id="67" name="Text 63"/>
          <p:cNvSpPr/>
          <p:nvPr/>
        </p:nvSpPr>
        <p:spPr>
          <a:xfrm>
            <a:off x="10515600" y="3099816"/>
            <a:ext cx="1088136" cy="137160"/>
          </a:xfrm>
          <a:prstGeom prst="rect">
            <a:avLst/>
          </a:prstGeom>
          <a:noFill/>
          <a:ln/>
        </p:spPr>
        <p:txBody>
          <a:bodyPr wrap="square" lIns="0" tIns="0" rIns="0" bIns="0" rtlCol="0" anchor="ctr"/>
          <a:lstStyle/>
          <a:p>
            <a:pPr indent="0" marL="0">
              <a:buNone/>
            </a:pPr>
            <a:r>
              <a:rPr lang="en-US" sz="960" dirty="0">
                <a:solidFill>
                  <a:srgbClr val="008F8B"/>
                </a:solidFill>
                <a:latin typeface="Arial" pitchFamily="34" charset="0"/>
                <a:ea typeface="Arial" pitchFamily="34" charset="-122"/>
                <a:cs typeface="Arial" pitchFamily="34" charset="-120"/>
              </a:rPr>
              <a:t>Cohort view</a:t>
            </a:r>
            <a:endParaRPr lang="en-US" sz="960" dirty="0"/>
          </a:p>
        </p:txBody>
      </p:sp>
      <p:sp>
        <p:nvSpPr>
          <p:cNvPr id="68" name="Shape 64"/>
          <p:cNvSpPr/>
          <p:nvPr/>
        </p:nvSpPr>
        <p:spPr>
          <a:xfrm>
            <a:off x="9299448" y="3364992"/>
            <a:ext cx="2414016" cy="256032"/>
          </a:xfrm>
          <a:prstGeom prst="roundRect">
            <a:avLst>
              <a:gd name="adj" fmla="val 42857"/>
            </a:avLst>
          </a:prstGeom>
          <a:solidFill>
            <a:srgbClr val="FFFFFF"/>
          </a:solidFill>
          <a:ln w="10160">
            <a:solidFill>
              <a:srgbClr val="C5D9E3"/>
            </a:solidFill>
            <a:prstDash val="solid"/>
          </a:ln>
        </p:spPr>
      </p:sp>
      <p:sp>
        <p:nvSpPr>
          <p:cNvPr id="69" name="Text 65"/>
          <p:cNvSpPr/>
          <p:nvPr/>
        </p:nvSpPr>
        <p:spPr>
          <a:xfrm>
            <a:off x="9381744" y="3410712"/>
            <a:ext cx="1088136" cy="137160"/>
          </a:xfrm>
          <a:prstGeom prst="rect">
            <a:avLst/>
          </a:prstGeom>
          <a:noFill/>
          <a:ln/>
        </p:spPr>
        <p:txBody>
          <a:bodyPr wrap="square" lIns="0" tIns="0" rIns="0" bIns="0" rtlCol="0" anchor="ctr"/>
          <a:lstStyle/>
          <a:p>
            <a:pPr indent="0" marL="0">
              <a:buNone/>
            </a:pPr>
            <a:r>
              <a:rPr lang="en-US" sz="980" b="1" dirty="0">
                <a:solidFill>
                  <a:srgbClr val="233B4C"/>
                </a:solidFill>
                <a:latin typeface="Arial" pitchFamily="34" charset="0"/>
                <a:ea typeface="Arial" pitchFamily="34" charset="-122"/>
                <a:cs typeface="Arial" pitchFamily="34" charset="-120"/>
              </a:rPr>
              <a:t>Processing</a:t>
            </a:r>
            <a:endParaRPr lang="en-US" sz="980" dirty="0"/>
          </a:p>
        </p:txBody>
      </p:sp>
      <p:sp>
        <p:nvSpPr>
          <p:cNvPr id="70" name="Text 66"/>
          <p:cNvSpPr/>
          <p:nvPr/>
        </p:nvSpPr>
        <p:spPr>
          <a:xfrm>
            <a:off x="10515600" y="3410712"/>
            <a:ext cx="1088136" cy="137160"/>
          </a:xfrm>
          <a:prstGeom prst="rect">
            <a:avLst/>
          </a:prstGeom>
          <a:noFill/>
          <a:ln/>
        </p:spPr>
        <p:txBody>
          <a:bodyPr wrap="square" lIns="0" tIns="0" rIns="0" bIns="0" rtlCol="0" anchor="ctr"/>
          <a:lstStyle/>
          <a:p>
            <a:pPr indent="0" marL="0">
              <a:buNone/>
            </a:pPr>
            <a:r>
              <a:rPr lang="en-US" sz="960" dirty="0">
                <a:solidFill>
                  <a:srgbClr val="008F8B"/>
                </a:solidFill>
                <a:latin typeface="Arial" pitchFamily="34" charset="0"/>
                <a:ea typeface="Arial" pitchFamily="34" charset="-122"/>
                <a:cs typeface="Arial" pitchFamily="34" charset="-120"/>
              </a:rPr>
              <a:t>Error categories</a:t>
            </a:r>
            <a:endParaRPr lang="en-US" sz="960" dirty="0"/>
          </a:p>
        </p:txBody>
      </p:sp>
      <p:sp>
        <p:nvSpPr>
          <p:cNvPr id="71" name="Text 67"/>
          <p:cNvSpPr/>
          <p:nvPr/>
        </p:nvSpPr>
        <p:spPr>
          <a:xfrm>
            <a:off x="9308592" y="3813048"/>
            <a:ext cx="2377440" cy="155448"/>
          </a:xfrm>
          <a:prstGeom prst="rect">
            <a:avLst/>
          </a:prstGeom>
          <a:noFill/>
          <a:ln/>
        </p:spPr>
        <p:txBody>
          <a:bodyPr wrap="square" lIns="0" tIns="0" rIns="0" bIns="0" rtlCol="0" anchor="ctr"/>
          <a:lstStyle/>
          <a:p>
            <a:pPr indent="0" marL="0">
              <a:buNone/>
            </a:pPr>
            <a:r>
              <a:rPr lang="en-US" sz="900" b="1" dirty="0">
                <a:solidFill>
                  <a:srgbClr val="B43D52"/>
                </a:solidFill>
                <a:latin typeface="Arial" pitchFamily="34" charset="0"/>
                <a:ea typeface="Arial" pitchFamily="34" charset="-122"/>
                <a:cs typeface="Arial" pitchFamily="34" charset="-120"/>
              </a:rPr>
              <a:t>No direct clinical-document browsing</a:t>
            </a:r>
            <a:endParaRPr lang="en-US" sz="900" dirty="0"/>
          </a:p>
        </p:txBody>
      </p:sp>
      <p:sp>
        <p:nvSpPr>
          <p:cNvPr id="72" name="Text 68"/>
          <p:cNvSpPr/>
          <p:nvPr/>
        </p:nvSpPr>
        <p:spPr>
          <a:xfrm>
            <a:off x="502920" y="4279392"/>
            <a:ext cx="3657600"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ACCESS HIERARCHY</a:t>
            </a:r>
            <a:endParaRPr lang="en-US" sz="1050" dirty="0"/>
          </a:p>
        </p:txBody>
      </p:sp>
      <p:sp>
        <p:nvSpPr>
          <p:cNvPr id="73" name="Shape 69"/>
          <p:cNvSpPr/>
          <p:nvPr/>
        </p:nvSpPr>
        <p:spPr>
          <a:xfrm>
            <a:off x="502920" y="4608576"/>
            <a:ext cx="2057400" cy="512064"/>
          </a:xfrm>
          <a:prstGeom prst="roundRect">
            <a:avLst>
              <a:gd name="adj" fmla="val 21429"/>
            </a:avLst>
          </a:prstGeom>
          <a:solidFill>
            <a:srgbClr val="103A59"/>
          </a:solidFill>
          <a:ln w="10160">
            <a:solidFill>
              <a:srgbClr val="103A59"/>
            </a:solidFill>
            <a:prstDash val="solid"/>
          </a:ln>
        </p:spPr>
      </p:sp>
      <p:sp>
        <p:nvSpPr>
          <p:cNvPr id="74" name="Text 70"/>
          <p:cNvSpPr/>
          <p:nvPr/>
        </p:nvSpPr>
        <p:spPr>
          <a:xfrm>
            <a:off x="612648" y="4736592"/>
            <a:ext cx="1837944" cy="22860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Patient-controlled sharing</a:t>
            </a:r>
            <a:endParaRPr lang="en-US" sz="1150" dirty="0"/>
          </a:p>
        </p:txBody>
      </p:sp>
      <p:sp>
        <p:nvSpPr>
          <p:cNvPr id="75" name="Shape 71"/>
          <p:cNvSpPr/>
          <p:nvPr/>
        </p:nvSpPr>
        <p:spPr>
          <a:xfrm>
            <a:off x="2569464" y="4864608"/>
            <a:ext cx="210312" cy="914"/>
          </a:xfrm>
          <a:prstGeom prst="line">
            <a:avLst/>
          </a:prstGeom>
          <a:noFill/>
          <a:ln w="16510">
            <a:solidFill>
              <a:srgbClr val="087FB8"/>
            </a:solidFill>
            <a:prstDash val="solid"/>
          </a:ln>
        </p:spPr>
      </p:sp>
      <p:sp>
        <p:nvSpPr>
          <p:cNvPr id="76" name="Shape 72"/>
          <p:cNvSpPr/>
          <p:nvPr/>
        </p:nvSpPr>
        <p:spPr>
          <a:xfrm>
            <a:off x="2779776" y="4599432"/>
            <a:ext cx="914" cy="1408176"/>
          </a:xfrm>
          <a:prstGeom prst="line">
            <a:avLst/>
          </a:prstGeom>
          <a:noFill/>
          <a:ln w="16510">
            <a:solidFill>
              <a:srgbClr val="087FB8"/>
            </a:solidFill>
            <a:prstDash val="solid"/>
          </a:ln>
        </p:spPr>
      </p:sp>
      <p:sp>
        <p:nvSpPr>
          <p:cNvPr id="77" name="Shape 73"/>
          <p:cNvSpPr/>
          <p:nvPr/>
        </p:nvSpPr>
        <p:spPr>
          <a:xfrm>
            <a:off x="2779776" y="4636008"/>
            <a:ext cx="219456" cy="914"/>
          </a:xfrm>
          <a:prstGeom prst="line">
            <a:avLst/>
          </a:prstGeom>
          <a:noFill/>
          <a:ln w="12700">
            <a:solidFill>
              <a:srgbClr val="087FB8"/>
            </a:solidFill>
            <a:prstDash val="solid"/>
            <a:tailEnd type="triangle"/>
          </a:ln>
        </p:spPr>
      </p:sp>
      <p:sp>
        <p:nvSpPr>
          <p:cNvPr id="78" name="Text 74"/>
          <p:cNvSpPr/>
          <p:nvPr/>
        </p:nvSpPr>
        <p:spPr>
          <a:xfrm>
            <a:off x="3063240" y="4526280"/>
            <a:ext cx="960120" cy="219456"/>
          </a:xfrm>
          <a:prstGeom prst="rect">
            <a:avLst/>
          </a:prstGeom>
          <a:noFill/>
          <a:ln/>
        </p:spPr>
        <p:txBody>
          <a:bodyPr wrap="square" lIns="0" tIns="0" rIns="0" bIns="0" rtlCol="0" anchor="ctr"/>
          <a:lstStyle/>
          <a:p>
            <a:pPr indent="0" marL="0">
              <a:buNone/>
            </a:pPr>
            <a:r>
              <a:rPr lang="en-US" sz="1100" b="1" dirty="0">
                <a:solidFill>
                  <a:srgbClr val="087FB8"/>
                </a:solidFill>
                <a:latin typeface="Arial" pitchFamily="34" charset="0"/>
                <a:ea typeface="Arial" pitchFamily="34" charset="-122"/>
                <a:cs typeface="Arial" pitchFamily="34" charset="-120"/>
              </a:rPr>
              <a:t>Patient</a:t>
            </a:r>
            <a:endParaRPr lang="en-US" sz="1100" dirty="0"/>
          </a:p>
        </p:txBody>
      </p:sp>
      <p:sp>
        <p:nvSpPr>
          <p:cNvPr id="79" name="Text 75"/>
          <p:cNvSpPr/>
          <p:nvPr/>
        </p:nvSpPr>
        <p:spPr>
          <a:xfrm>
            <a:off x="4041648" y="4526280"/>
            <a:ext cx="3008376" cy="237744"/>
          </a:xfrm>
          <a:prstGeom prst="rect">
            <a:avLst/>
          </a:prstGeom>
          <a:noFill/>
          <a:ln/>
        </p:spPr>
        <p:txBody>
          <a:bodyPr wrap="square" lIns="0" tIns="0" rIns="0" bIns="0" rtlCol="0" anchor="ctr"/>
          <a:lstStyle/>
          <a:p>
            <a:pPr indent="0" marL="0">
              <a:buNone/>
            </a:pPr>
            <a:r>
              <a:rPr lang="en-US" sz="1090" dirty="0">
                <a:solidFill>
                  <a:srgbClr val="233B4C"/>
                </a:solidFill>
                <a:latin typeface="Arial" pitchFamily="34" charset="0"/>
                <a:ea typeface="Arial" pitchFamily="34" charset="-122"/>
                <a:cs typeface="Arial" pitchFamily="34" charset="-120"/>
              </a:rPr>
              <a:t>Own records + consent</a:t>
            </a:r>
            <a:endParaRPr lang="en-US" sz="1090" dirty="0"/>
          </a:p>
        </p:txBody>
      </p:sp>
      <p:sp>
        <p:nvSpPr>
          <p:cNvPr id="80" name="Shape 76"/>
          <p:cNvSpPr/>
          <p:nvPr/>
        </p:nvSpPr>
        <p:spPr>
          <a:xfrm>
            <a:off x="2779776" y="5056632"/>
            <a:ext cx="219456" cy="914"/>
          </a:xfrm>
          <a:prstGeom prst="line">
            <a:avLst/>
          </a:prstGeom>
          <a:noFill/>
          <a:ln w="12700">
            <a:solidFill>
              <a:srgbClr val="087FB8"/>
            </a:solidFill>
            <a:prstDash val="solid"/>
            <a:tailEnd type="triangle"/>
          </a:ln>
        </p:spPr>
      </p:sp>
      <p:sp>
        <p:nvSpPr>
          <p:cNvPr id="81" name="Text 77"/>
          <p:cNvSpPr/>
          <p:nvPr/>
        </p:nvSpPr>
        <p:spPr>
          <a:xfrm>
            <a:off x="3063240" y="4946904"/>
            <a:ext cx="960120" cy="219456"/>
          </a:xfrm>
          <a:prstGeom prst="rect">
            <a:avLst/>
          </a:prstGeom>
          <a:noFill/>
          <a:ln/>
        </p:spPr>
        <p:txBody>
          <a:bodyPr wrap="square" lIns="0" tIns="0" rIns="0" bIns="0" rtlCol="0" anchor="ctr"/>
          <a:lstStyle/>
          <a:p>
            <a:pPr indent="0" marL="0">
              <a:buNone/>
            </a:pPr>
            <a:r>
              <a:rPr lang="en-US" sz="1100" b="1" dirty="0">
                <a:solidFill>
                  <a:srgbClr val="087FB8"/>
                </a:solidFill>
                <a:latin typeface="Arial" pitchFamily="34" charset="0"/>
                <a:ea typeface="Arial" pitchFamily="34" charset="-122"/>
                <a:cs typeface="Arial" pitchFamily="34" charset="-120"/>
              </a:rPr>
              <a:t>Doctor</a:t>
            </a:r>
            <a:endParaRPr lang="en-US" sz="1100" dirty="0"/>
          </a:p>
        </p:txBody>
      </p:sp>
      <p:sp>
        <p:nvSpPr>
          <p:cNvPr id="82" name="Text 78"/>
          <p:cNvSpPr/>
          <p:nvPr/>
        </p:nvSpPr>
        <p:spPr>
          <a:xfrm>
            <a:off x="4041648" y="4946904"/>
            <a:ext cx="3008376" cy="237744"/>
          </a:xfrm>
          <a:prstGeom prst="rect">
            <a:avLst/>
          </a:prstGeom>
          <a:noFill/>
          <a:ln/>
        </p:spPr>
        <p:txBody>
          <a:bodyPr wrap="square" lIns="0" tIns="0" rIns="0" bIns="0" rtlCol="0" anchor="ctr"/>
          <a:lstStyle/>
          <a:p>
            <a:pPr indent="0" marL="0">
              <a:buNone/>
            </a:pPr>
            <a:r>
              <a:rPr lang="en-US" sz="1090" dirty="0">
                <a:solidFill>
                  <a:srgbClr val="233B4C"/>
                </a:solidFill>
                <a:latin typeface="Arial" pitchFamily="34" charset="0"/>
                <a:ea typeface="Arial" pitchFamily="34" charset="-122"/>
                <a:cs typeface="Arial" pitchFamily="34" charset="-120"/>
              </a:rPr>
              <a:t>Consented records + clinical notes</a:t>
            </a:r>
            <a:endParaRPr lang="en-US" sz="1090" dirty="0"/>
          </a:p>
        </p:txBody>
      </p:sp>
      <p:sp>
        <p:nvSpPr>
          <p:cNvPr id="83" name="Shape 79"/>
          <p:cNvSpPr/>
          <p:nvPr/>
        </p:nvSpPr>
        <p:spPr>
          <a:xfrm>
            <a:off x="2779776" y="5477256"/>
            <a:ext cx="219456" cy="914"/>
          </a:xfrm>
          <a:prstGeom prst="line">
            <a:avLst/>
          </a:prstGeom>
          <a:noFill/>
          <a:ln w="12700">
            <a:solidFill>
              <a:srgbClr val="087FB8"/>
            </a:solidFill>
            <a:prstDash val="solid"/>
            <a:tailEnd type="triangle"/>
          </a:ln>
        </p:spPr>
      </p:sp>
      <p:sp>
        <p:nvSpPr>
          <p:cNvPr id="84" name="Text 80"/>
          <p:cNvSpPr/>
          <p:nvPr/>
        </p:nvSpPr>
        <p:spPr>
          <a:xfrm>
            <a:off x="3063240" y="5367528"/>
            <a:ext cx="960120" cy="219456"/>
          </a:xfrm>
          <a:prstGeom prst="rect">
            <a:avLst/>
          </a:prstGeom>
          <a:noFill/>
          <a:ln/>
        </p:spPr>
        <p:txBody>
          <a:bodyPr wrap="square" lIns="0" tIns="0" rIns="0" bIns="0" rtlCol="0" anchor="ctr"/>
          <a:lstStyle/>
          <a:p>
            <a:pPr indent="0" marL="0">
              <a:buNone/>
            </a:pPr>
            <a:r>
              <a:rPr lang="en-US" sz="1100" b="1" dirty="0">
                <a:solidFill>
                  <a:srgbClr val="087FB8"/>
                </a:solidFill>
                <a:latin typeface="Arial" pitchFamily="34" charset="0"/>
                <a:ea typeface="Arial" pitchFamily="34" charset="-122"/>
                <a:cs typeface="Arial" pitchFamily="34" charset="-120"/>
              </a:rPr>
              <a:t>Hospital staff</a:t>
            </a:r>
            <a:endParaRPr lang="en-US" sz="1100" dirty="0"/>
          </a:p>
        </p:txBody>
      </p:sp>
      <p:sp>
        <p:nvSpPr>
          <p:cNvPr id="85" name="Text 81"/>
          <p:cNvSpPr/>
          <p:nvPr/>
        </p:nvSpPr>
        <p:spPr>
          <a:xfrm>
            <a:off x="4041648" y="5367528"/>
            <a:ext cx="3008376" cy="237744"/>
          </a:xfrm>
          <a:prstGeom prst="rect">
            <a:avLst/>
          </a:prstGeom>
          <a:noFill/>
          <a:ln/>
        </p:spPr>
        <p:txBody>
          <a:bodyPr wrap="square" lIns="0" tIns="0" rIns="0" bIns="0" rtlCol="0" anchor="ctr"/>
          <a:lstStyle/>
          <a:p>
            <a:pPr indent="0" marL="0">
              <a:buNone/>
            </a:pPr>
            <a:r>
              <a:rPr lang="en-US" sz="1090" dirty="0">
                <a:solidFill>
                  <a:srgbClr val="233B4C"/>
                </a:solidFill>
                <a:latin typeface="Arial" pitchFamily="34" charset="0"/>
                <a:ea typeface="Arial" pitchFamily="34" charset="-122"/>
                <a:cs typeface="Arial" pitchFamily="34" charset="-120"/>
              </a:rPr>
              <a:t>Schedules / assigned tasks</a:t>
            </a:r>
            <a:endParaRPr lang="en-US" sz="1090" dirty="0"/>
          </a:p>
        </p:txBody>
      </p:sp>
      <p:sp>
        <p:nvSpPr>
          <p:cNvPr id="86" name="Shape 82"/>
          <p:cNvSpPr/>
          <p:nvPr/>
        </p:nvSpPr>
        <p:spPr>
          <a:xfrm>
            <a:off x="2779776" y="5897880"/>
            <a:ext cx="219456" cy="914"/>
          </a:xfrm>
          <a:prstGeom prst="line">
            <a:avLst/>
          </a:prstGeom>
          <a:noFill/>
          <a:ln w="12700">
            <a:solidFill>
              <a:srgbClr val="087FB8"/>
            </a:solidFill>
            <a:prstDash val="solid"/>
            <a:tailEnd type="triangle"/>
          </a:ln>
        </p:spPr>
      </p:sp>
      <p:sp>
        <p:nvSpPr>
          <p:cNvPr id="87" name="Text 83"/>
          <p:cNvSpPr/>
          <p:nvPr/>
        </p:nvSpPr>
        <p:spPr>
          <a:xfrm>
            <a:off x="3063240" y="5788152"/>
            <a:ext cx="960120" cy="219456"/>
          </a:xfrm>
          <a:prstGeom prst="rect">
            <a:avLst/>
          </a:prstGeom>
          <a:noFill/>
          <a:ln/>
        </p:spPr>
        <p:txBody>
          <a:bodyPr wrap="square" lIns="0" tIns="0" rIns="0" bIns="0" rtlCol="0" anchor="ctr"/>
          <a:lstStyle/>
          <a:p>
            <a:pPr indent="0" marL="0">
              <a:buNone/>
            </a:pPr>
            <a:r>
              <a:rPr lang="en-US" sz="1100" b="1" dirty="0">
                <a:solidFill>
                  <a:srgbClr val="087FB8"/>
                </a:solidFill>
                <a:latin typeface="Arial" pitchFamily="34" charset="0"/>
                <a:ea typeface="Arial" pitchFamily="34" charset="-122"/>
                <a:cs typeface="Arial" pitchFamily="34" charset="-120"/>
              </a:rPr>
              <a:t>Admin</a:t>
            </a:r>
            <a:endParaRPr lang="en-US" sz="1100" dirty="0"/>
          </a:p>
        </p:txBody>
      </p:sp>
      <p:sp>
        <p:nvSpPr>
          <p:cNvPr id="88" name="Text 84"/>
          <p:cNvSpPr/>
          <p:nvPr/>
        </p:nvSpPr>
        <p:spPr>
          <a:xfrm>
            <a:off x="4041648" y="5788152"/>
            <a:ext cx="3008376" cy="237744"/>
          </a:xfrm>
          <a:prstGeom prst="rect">
            <a:avLst/>
          </a:prstGeom>
          <a:noFill/>
          <a:ln/>
        </p:spPr>
        <p:txBody>
          <a:bodyPr wrap="square" lIns="0" tIns="0" rIns="0" bIns="0" rtlCol="0" anchor="ctr"/>
          <a:lstStyle/>
          <a:p>
            <a:pPr indent="0" marL="0">
              <a:buNone/>
            </a:pPr>
            <a:r>
              <a:rPr lang="en-US" sz="1090" dirty="0">
                <a:solidFill>
                  <a:srgbClr val="233B4C"/>
                </a:solidFill>
                <a:latin typeface="Arial" pitchFamily="34" charset="0"/>
                <a:ea typeface="Arial" pitchFamily="34" charset="-122"/>
                <a:cs typeface="Arial" pitchFamily="34" charset="-120"/>
              </a:rPr>
              <a:t>Aggregate operations; no default records</a:t>
            </a:r>
            <a:endParaRPr lang="en-US" sz="1090" dirty="0"/>
          </a:p>
        </p:txBody>
      </p:sp>
      <p:sp>
        <p:nvSpPr>
          <p:cNvPr id="89" name="Shape 85"/>
          <p:cNvSpPr/>
          <p:nvPr/>
        </p:nvSpPr>
        <p:spPr>
          <a:xfrm>
            <a:off x="7388352" y="4361688"/>
            <a:ext cx="4471416" cy="1755648"/>
          </a:xfrm>
          <a:prstGeom prst="roundRect">
            <a:avLst>
              <a:gd name="adj" fmla="val 6250"/>
            </a:avLst>
          </a:prstGeom>
          <a:solidFill>
            <a:srgbClr val="EAF4FA"/>
          </a:solidFill>
          <a:ln w="10160">
            <a:solidFill>
              <a:srgbClr val="C5D9E3"/>
            </a:solidFill>
            <a:prstDash val="solid"/>
          </a:ln>
        </p:spPr>
      </p:sp>
      <p:sp>
        <p:nvSpPr>
          <p:cNvPr id="90" name="Text 86"/>
          <p:cNvSpPr/>
          <p:nvPr/>
        </p:nvSpPr>
        <p:spPr>
          <a:xfrm>
            <a:off x="7534656" y="4507992"/>
            <a:ext cx="4178808"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CONSENT → ACCESS WORKFLOW</a:t>
            </a:r>
            <a:endParaRPr lang="en-US" sz="1050" dirty="0"/>
          </a:p>
        </p:txBody>
      </p:sp>
      <p:sp>
        <p:nvSpPr>
          <p:cNvPr id="91" name="Shape 87"/>
          <p:cNvSpPr/>
          <p:nvPr/>
        </p:nvSpPr>
        <p:spPr>
          <a:xfrm>
            <a:off x="7525512" y="4919472"/>
            <a:ext cx="932688" cy="557784"/>
          </a:xfrm>
          <a:prstGeom prst="roundRect">
            <a:avLst>
              <a:gd name="adj" fmla="val 19672"/>
            </a:avLst>
          </a:prstGeom>
          <a:solidFill>
            <a:srgbClr val="FFFFFF"/>
          </a:solidFill>
          <a:ln w="10160">
            <a:solidFill>
              <a:srgbClr val="C5D9E3"/>
            </a:solidFill>
            <a:prstDash val="solid"/>
          </a:ln>
        </p:spPr>
      </p:sp>
      <p:sp>
        <p:nvSpPr>
          <p:cNvPr id="92" name="Text 88"/>
          <p:cNvSpPr/>
          <p:nvPr/>
        </p:nvSpPr>
        <p:spPr>
          <a:xfrm>
            <a:off x="7580376" y="5029200"/>
            <a:ext cx="822960" cy="310896"/>
          </a:xfrm>
          <a:prstGeom prst="rect">
            <a:avLst/>
          </a:prstGeom>
          <a:noFill/>
          <a:ln/>
        </p:spPr>
        <p:txBody>
          <a:bodyPr wrap="square" lIns="0" tIns="0" rIns="0" bIns="0" rtlCol="0" anchor="ctr"/>
          <a:lstStyle/>
          <a:p>
            <a:pPr algn="ctr" indent="0" marL="0">
              <a:buNone/>
            </a:pPr>
            <a:r>
              <a:rPr lang="en-US" sz="980" b="1" dirty="0">
                <a:solidFill>
                  <a:srgbClr val="087FB8"/>
                </a:solidFill>
                <a:latin typeface="Arial" pitchFamily="34" charset="0"/>
                <a:ea typeface="Arial" pitchFamily="34" charset="-122"/>
                <a:cs typeface="Arial" pitchFamily="34" charset="-120"/>
              </a:rPr>
              <a:t>Choose scope</a:t>
            </a:r>
            <a:endParaRPr lang="en-US" sz="980" dirty="0"/>
          </a:p>
        </p:txBody>
      </p:sp>
      <p:sp>
        <p:nvSpPr>
          <p:cNvPr id="93" name="Shape 89"/>
          <p:cNvSpPr/>
          <p:nvPr/>
        </p:nvSpPr>
        <p:spPr>
          <a:xfrm>
            <a:off x="8467344" y="5202936"/>
            <a:ext cx="82296" cy="914"/>
          </a:xfrm>
          <a:prstGeom prst="line">
            <a:avLst/>
          </a:prstGeom>
          <a:noFill/>
          <a:ln w="12700">
            <a:solidFill>
              <a:srgbClr val="087FB8"/>
            </a:solidFill>
            <a:prstDash val="solid"/>
            <a:tailEnd type="triangle"/>
          </a:ln>
        </p:spPr>
      </p:sp>
      <p:sp>
        <p:nvSpPr>
          <p:cNvPr id="94" name="Shape 90"/>
          <p:cNvSpPr/>
          <p:nvPr/>
        </p:nvSpPr>
        <p:spPr>
          <a:xfrm>
            <a:off x="8567928" y="4919472"/>
            <a:ext cx="932688" cy="557784"/>
          </a:xfrm>
          <a:prstGeom prst="roundRect">
            <a:avLst>
              <a:gd name="adj" fmla="val 19672"/>
            </a:avLst>
          </a:prstGeom>
          <a:solidFill>
            <a:srgbClr val="FFFFFF"/>
          </a:solidFill>
          <a:ln w="10160">
            <a:solidFill>
              <a:srgbClr val="C5D9E3"/>
            </a:solidFill>
            <a:prstDash val="solid"/>
          </a:ln>
        </p:spPr>
      </p:sp>
      <p:sp>
        <p:nvSpPr>
          <p:cNvPr id="95" name="Text 91"/>
          <p:cNvSpPr/>
          <p:nvPr/>
        </p:nvSpPr>
        <p:spPr>
          <a:xfrm>
            <a:off x="8622792" y="5029200"/>
            <a:ext cx="822960" cy="310896"/>
          </a:xfrm>
          <a:prstGeom prst="rect">
            <a:avLst/>
          </a:prstGeom>
          <a:noFill/>
          <a:ln/>
        </p:spPr>
        <p:txBody>
          <a:bodyPr wrap="square" lIns="0" tIns="0" rIns="0" bIns="0" rtlCol="0" anchor="ctr"/>
          <a:lstStyle/>
          <a:p>
            <a:pPr algn="ctr" indent="0" marL="0">
              <a:buNone/>
            </a:pPr>
            <a:r>
              <a:rPr lang="en-US" sz="980" b="1" dirty="0">
                <a:solidFill>
                  <a:srgbClr val="087FB8"/>
                </a:solidFill>
                <a:latin typeface="Arial" pitchFamily="34" charset="0"/>
                <a:ea typeface="Arial" pitchFamily="34" charset="-122"/>
                <a:cs typeface="Arial" pitchFamily="34" charset="-120"/>
              </a:rPr>
              <a:t>Grant / log</a:t>
            </a:r>
            <a:endParaRPr lang="en-US" sz="980" dirty="0"/>
          </a:p>
        </p:txBody>
      </p:sp>
      <p:sp>
        <p:nvSpPr>
          <p:cNvPr id="96" name="Shape 92"/>
          <p:cNvSpPr/>
          <p:nvPr/>
        </p:nvSpPr>
        <p:spPr>
          <a:xfrm>
            <a:off x="9509760" y="5202936"/>
            <a:ext cx="82296" cy="914"/>
          </a:xfrm>
          <a:prstGeom prst="line">
            <a:avLst/>
          </a:prstGeom>
          <a:noFill/>
          <a:ln w="12700">
            <a:solidFill>
              <a:srgbClr val="087FB8"/>
            </a:solidFill>
            <a:prstDash val="solid"/>
            <a:tailEnd type="triangle"/>
          </a:ln>
        </p:spPr>
      </p:sp>
      <p:sp>
        <p:nvSpPr>
          <p:cNvPr id="97" name="Shape 93"/>
          <p:cNvSpPr/>
          <p:nvPr/>
        </p:nvSpPr>
        <p:spPr>
          <a:xfrm>
            <a:off x="9610344" y="4919472"/>
            <a:ext cx="932688" cy="557784"/>
          </a:xfrm>
          <a:prstGeom prst="roundRect">
            <a:avLst>
              <a:gd name="adj" fmla="val 19672"/>
            </a:avLst>
          </a:prstGeom>
          <a:solidFill>
            <a:srgbClr val="FFFFFF"/>
          </a:solidFill>
          <a:ln w="10160">
            <a:solidFill>
              <a:srgbClr val="C5D9E3"/>
            </a:solidFill>
            <a:prstDash val="solid"/>
          </a:ln>
        </p:spPr>
      </p:sp>
      <p:sp>
        <p:nvSpPr>
          <p:cNvPr id="98" name="Text 94"/>
          <p:cNvSpPr/>
          <p:nvPr/>
        </p:nvSpPr>
        <p:spPr>
          <a:xfrm>
            <a:off x="9665208" y="5029200"/>
            <a:ext cx="822960" cy="310896"/>
          </a:xfrm>
          <a:prstGeom prst="rect">
            <a:avLst/>
          </a:prstGeom>
          <a:noFill/>
          <a:ln/>
        </p:spPr>
        <p:txBody>
          <a:bodyPr wrap="square" lIns="0" tIns="0" rIns="0" bIns="0" rtlCol="0" anchor="ctr"/>
          <a:lstStyle/>
          <a:p>
            <a:pPr algn="ctr" indent="0" marL="0">
              <a:buNone/>
            </a:pPr>
            <a:r>
              <a:rPr lang="en-US" sz="980" b="1" dirty="0">
                <a:solidFill>
                  <a:srgbClr val="087FB8"/>
                </a:solidFill>
                <a:latin typeface="Arial" pitchFamily="34" charset="0"/>
                <a:ea typeface="Arial" pitchFamily="34" charset="-122"/>
                <a:cs typeface="Arial" pitchFamily="34" charset="-120"/>
              </a:rPr>
              <a:t>Policy check</a:t>
            </a:r>
            <a:endParaRPr lang="en-US" sz="980" dirty="0"/>
          </a:p>
        </p:txBody>
      </p:sp>
      <p:sp>
        <p:nvSpPr>
          <p:cNvPr id="99" name="Shape 95"/>
          <p:cNvSpPr/>
          <p:nvPr/>
        </p:nvSpPr>
        <p:spPr>
          <a:xfrm>
            <a:off x="10552176" y="5202936"/>
            <a:ext cx="82296" cy="914"/>
          </a:xfrm>
          <a:prstGeom prst="line">
            <a:avLst/>
          </a:prstGeom>
          <a:noFill/>
          <a:ln w="12700">
            <a:solidFill>
              <a:srgbClr val="087FB8"/>
            </a:solidFill>
            <a:prstDash val="solid"/>
            <a:tailEnd type="triangle"/>
          </a:ln>
        </p:spPr>
      </p:sp>
      <p:sp>
        <p:nvSpPr>
          <p:cNvPr id="100" name="Shape 96"/>
          <p:cNvSpPr/>
          <p:nvPr/>
        </p:nvSpPr>
        <p:spPr>
          <a:xfrm>
            <a:off x="10652760" y="4919472"/>
            <a:ext cx="932688" cy="557784"/>
          </a:xfrm>
          <a:prstGeom prst="roundRect">
            <a:avLst>
              <a:gd name="adj" fmla="val 19672"/>
            </a:avLst>
          </a:prstGeom>
          <a:solidFill>
            <a:srgbClr val="FFFFFF"/>
          </a:solidFill>
          <a:ln w="10160">
            <a:solidFill>
              <a:srgbClr val="C5D9E3"/>
            </a:solidFill>
            <a:prstDash val="solid"/>
          </a:ln>
        </p:spPr>
      </p:sp>
      <p:sp>
        <p:nvSpPr>
          <p:cNvPr id="101" name="Text 97"/>
          <p:cNvSpPr/>
          <p:nvPr/>
        </p:nvSpPr>
        <p:spPr>
          <a:xfrm>
            <a:off x="10707624" y="5029200"/>
            <a:ext cx="822960" cy="310896"/>
          </a:xfrm>
          <a:prstGeom prst="rect">
            <a:avLst/>
          </a:prstGeom>
          <a:noFill/>
          <a:ln/>
        </p:spPr>
        <p:txBody>
          <a:bodyPr wrap="square" lIns="0" tIns="0" rIns="0" bIns="0" rtlCol="0" anchor="ctr"/>
          <a:lstStyle/>
          <a:p>
            <a:pPr algn="ctr" indent="0" marL="0">
              <a:buNone/>
            </a:pPr>
            <a:r>
              <a:rPr lang="en-US" sz="980" b="1" dirty="0">
                <a:solidFill>
                  <a:srgbClr val="087FB8"/>
                </a:solidFill>
                <a:latin typeface="Arial" pitchFamily="34" charset="0"/>
                <a:ea typeface="Arial" pitchFamily="34" charset="-122"/>
                <a:cs typeface="Arial" pitchFamily="34" charset="-120"/>
              </a:rPr>
              <a:t>Access / audit</a:t>
            </a:r>
            <a:endParaRPr lang="en-US" sz="980" dirty="0"/>
          </a:p>
        </p:txBody>
      </p:sp>
      <p:sp>
        <p:nvSpPr>
          <p:cNvPr id="102" name="Text 98"/>
          <p:cNvSpPr/>
          <p:nvPr/>
        </p:nvSpPr>
        <p:spPr>
          <a:xfrm>
            <a:off x="7543800" y="5650992"/>
            <a:ext cx="4133088" cy="310896"/>
          </a:xfrm>
          <a:prstGeom prst="rect">
            <a:avLst/>
          </a:prstGeom>
          <a:noFill/>
          <a:ln/>
        </p:spPr>
        <p:txBody>
          <a:bodyPr wrap="square" lIns="0" tIns="0" rIns="0" bIns="0" rtlCol="0" anchor="ctr"/>
          <a:lstStyle/>
          <a:p>
            <a:pPr indent="0" marL="0">
              <a:buNone/>
            </a:pPr>
            <a:r>
              <a:rPr lang="en-US" sz="1020" dirty="0">
                <a:solidFill>
                  <a:srgbClr val="5E7281"/>
                </a:solidFill>
                <a:latin typeface="Arial" pitchFamily="34" charset="0"/>
                <a:ea typeface="Arial" pitchFamily="34" charset="-122"/>
                <a:cs typeface="Arial" pitchFamily="34" charset="-120"/>
              </a:rPr>
              <a:t>Revoke / expire → block future shared access.</a:t>
            </a:r>
            <a:endParaRPr lang="en-US" sz="1020" dirty="0"/>
          </a:p>
          <a:p>
            <a:pPr indent="0" marL="0">
              <a:buNone/>
            </a:pPr>
            <a:r>
              <a:rPr lang="en-US" sz="1020" dirty="0">
                <a:solidFill>
                  <a:srgbClr val="5E7281"/>
                </a:solidFill>
                <a:latin typeface="Arial" pitchFamily="34" charset="0"/>
                <a:ea typeface="Arial" pitchFamily="34" charset="-122"/>
                <a:cs typeface="Arial" pitchFamily="34" charset="-120"/>
              </a:rPr>
              <a:t>Retention duties and past disclosures need separate policy.</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TIMELINE &amp; VISUALIZATION</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Every trend point should lead back to its evidence</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Illustrative fictional patient A-001 • measurements show record navigation, not product efficacy or medical advice.</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SYNTHETIC DATA</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08 / 12</a:t>
            </a:r>
            <a:endParaRPr lang="en-US" sz="950" dirty="0"/>
          </a:p>
        </p:txBody>
      </p:sp>
      <p:sp>
        <p:nvSpPr>
          <p:cNvPr id="22" name="Text 18"/>
          <p:cNvSpPr/>
          <p:nvPr/>
        </p:nvSpPr>
        <p:spPr>
          <a:xfrm>
            <a:off x="502920" y="1408176"/>
            <a:ext cx="47548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DATED MEDICAL HISTORY</a:t>
            </a:r>
            <a:endParaRPr lang="en-US" sz="1050" dirty="0"/>
          </a:p>
        </p:txBody>
      </p:sp>
      <p:sp>
        <p:nvSpPr>
          <p:cNvPr id="23" name="Shape 19"/>
          <p:cNvSpPr/>
          <p:nvPr/>
        </p:nvSpPr>
        <p:spPr>
          <a:xfrm>
            <a:off x="1508760" y="2185416"/>
            <a:ext cx="9262872" cy="914"/>
          </a:xfrm>
          <a:prstGeom prst="line">
            <a:avLst/>
          </a:prstGeom>
          <a:noFill/>
          <a:ln w="27940">
            <a:solidFill>
              <a:srgbClr val="087FB8"/>
            </a:solidFill>
            <a:prstDash val="solid"/>
          </a:ln>
        </p:spPr>
      </p:sp>
      <p:sp>
        <p:nvSpPr>
          <p:cNvPr id="24" name="Shape 20"/>
          <p:cNvSpPr/>
          <p:nvPr/>
        </p:nvSpPr>
        <p:spPr>
          <a:xfrm>
            <a:off x="1463040" y="2084832"/>
            <a:ext cx="192024" cy="192024"/>
          </a:xfrm>
          <a:prstGeom prst="ellipse">
            <a:avLst/>
          </a:prstGeom>
          <a:solidFill>
            <a:srgbClr val="087FB8"/>
          </a:solidFill>
          <a:ln w="19050">
            <a:solidFill>
              <a:srgbClr val="FFFFFF"/>
            </a:solidFill>
            <a:prstDash val="solid"/>
          </a:ln>
        </p:spPr>
      </p:sp>
      <p:sp>
        <p:nvSpPr>
          <p:cNvPr id="25" name="Text 21"/>
          <p:cNvSpPr/>
          <p:nvPr/>
        </p:nvSpPr>
        <p:spPr>
          <a:xfrm>
            <a:off x="502920" y="1792224"/>
            <a:ext cx="2606040" cy="201168"/>
          </a:xfrm>
          <a:prstGeom prst="rect">
            <a:avLst/>
          </a:prstGeom>
          <a:noFill/>
          <a:ln/>
        </p:spPr>
        <p:txBody>
          <a:bodyPr wrap="square" lIns="0" tIns="0" rIns="0" bIns="0" rtlCol="0" anchor="ctr"/>
          <a:lstStyle/>
          <a:p>
            <a:pPr algn="ctr" indent="0" marL="0">
              <a:buNone/>
            </a:pPr>
            <a:r>
              <a:rPr lang="en-US" sz="1160" b="1" dirty="0">
                <a:solidFill>
                  <a:srgbClr val="087FB8"/>
                </a:solidFill>
                <a:latin typeface="Arial" pitchFamily="34" charset="0"/>
                <a:ea typeface="Arial" pitchFamily="34" charset="-122"/>
                <a:cs typeface="Arial" pitchFamily="34" charset="-120"/>
              </a:rPr>
              <a:t>12 JAN 2026</a:t>
            </a:r>
            <a:endParaRPr lang="en-US" sz="1160" dirty="0"/>
          </a:p>
        </p:txBody>
      </p:sp>
      <p:sp>
        <p:nvSpPr>
          <p:cNvPr id="26" name="Shape 22"/>
          <p:cNvSpPr/>
          <p:nvPr/>
        </p:nvSpPr>
        <p:spPr>
          <a:xfrm>
            <a:off x="502920" y="2468880"/>
            <a:ext cx="2688336" cy="676656"/>
          </a:xfrm>
          <a:prstGeom prst="roundRect">
            <a:avLst>
              <a:gd name="adj" fmla="val 16216"/>
            </a:avLst>
          </a:prstGeom>
          <a:solidFill>
            <a:srgbClr val="EAF4FA"/>
          </a:solidFill>
          <a:ln w="10160">
            <a:solidFill>
              <a:srgbClr val="C5D9E3"/>
            </a:solidFill>
            <a:prstDash val="solid"/>
          </a:ln>
        </p:spPr>
      </p:sp>
      <p:sp>
        <p:nvSpPr>
          <p:cNvPr id="27" name="Text 23"/>
          <p:cNvSpPr/>
          <p:nvPr/>
        </p:nvSpPr>
        <p:spPr>
          <a:xfrm>
            <a:off x="612648" y="2560320"/>
            <a:ext cx="2468880" cy="210312"/>
          </a:xfrm>
          <a:prstGeom prst="rect">
            <a:avLst/>
          </a:prstGeom>
          <a:noFill/>
          <a:ln/>
        </p:spPr>
        <p:txBody>
          <a:bodyPr wrap="square" lIns="0" tIns="0" rIns="0" bIns="0" rtlCol="0" anchor="ctr"/>
          <a:lstStyle/>
          <a:p>
            <a:pPr indent="0" marL="0">
              <a:buNone/>
            </a:pPr>
            <a:r>
              <a:rPr lang="en-US" sz="1130" b="1" dirty="0">
                <a:solidFill>
                  <a:srgbClr val="103A59"/>
                </a:solidFill>
                <a:latin typeface="Arial" pitchFamily="34" charset="0"/>
                <a:ea typeface="Arial" pitchFamily="34" charset="-122"/>
                <a:cs typeface="Arial" pitchFamily="34" charset="-120"/>
              </a:rPr>
              <a:t>R01 • lab report</a:t>
            </a:r>
            <a:endParaRPr lang="en-US" sz="1130" dirty="0"/>
          </a:p>
        </p:txBody>
      </p:sp>
      <p:sp>
        <p:nvSpPr>
          <p:cNvPr id="28" name="Text 24"/>
          <p:cNvSpPr/>
          <p:nvPr/>
        </p:nvSpPr>
        <p:spPr>
          <a:xfrm>
            <a:off x="612648" y="2834640"/>
            <a:ext cx="2468880" cy="182880"/>
          </a:xfrm>
          <a:prstGeom prst="rect">
            <a:avLst/>
          </a:prstGeom>
          <a:noFill/>
          <a:ln/>
        </p:spPr>
        <p:txBody>
          <a:bodyPr wrap="square" lIns="0" tIns="0" rIns="0" bIns="0" rtlCol="0" anchor="ctr"/>
          <a:lstStyle/>
          <a:p>
            <a:pPr indent="0" marL="0">
              <a:buNone/>
            </a:pPr>
            <a:r>
              <a:rPr lang="en-US" sz="1150" dirty="0">
                <a:solidFill>
                  <a:srgbClr val="233B4C"/>
                </a:solidFill>
                <a:latin typeface="Arial" pitchFamily="34" charset="0"/>
                <a:ea typeface="Arial" pitchFamily="34" charset="-122"/>
                <a:cs typeface="Arial" pitchFamily="34" charset="-120"/>
              </a:rPr>
              <a:t>HbA1c 8.0%</a:t>
            </a:r>
            <a:endParaRPr lang="en-US" sz="1150" dirty="0"/>
          </a:p>
        </p:txBody>
      </p:sp>
      <p:sp>
        <p:nvSpPr>
          <p:cNvPr id="29" name="Shape 25"/>
          <p:cNvSpPr/>
          <p:nvPr/>
        </p:nvSpPr>
        <p:spPr>
          <a:xfrm>
            <a:off x="4343400" y="2084832"/>
            <a:ext cx="192024" cy="192024"/>
          </a:xfrm>
          <a:prstGeom prst="ellipse">
            <a:avLst/>
          </a:prstGeom>
          <a:solidFill>
            <a:srgbClr val="008F8B"/>
          </a:solidFill>
          <a:ln w="19050">
            <a:solidFill>
              <a:srgbClr val="FFFFFF"/>
            </a:solidFill>
            <a:prstDash val="solid"/>
          </a:ln>
        </p:spPr>
      </p:sp>
      <p:sp>
        <p:nvSpPr>
          <p:cNvPr id="30" name="Text 26"/>
          <p:cNvSpPr/>
          <p:nvPr/>
        </p:nvSpPr>
        <p:spPr>
          <a:xfrm>
            <a:off x="3383280" y="1792224"/>
            <a:ext cx="2606040" cy="201168"/>
          </a:xfrm>
          <a:prstGeom prst="rect">
            <a:avLst/>
          </a:prstGeom>
          <a:noFill/>
          <a:ln/>
        </p:spPr>
        <p:txBody>
          <a:bodyPr wrap="square" lIns="0" tIns="0" rIns="0" bIns="0" rtlCol="0" anchor="ctr"/>
          <a:lstStyle/>
          <a:p>
            <a:pPr algn="ctr" indent="0" marL="0">
              <a:buNone/>
            </a:pPr>
            <a:r>
              <a:rPr lang="en-US" sz="1160" b="1" dirty="0">
                <a:solidFill>
                  <a:srgbClr val="008F8B"/>
                </a:solidFill>
                <a:latin typeface="Arial" pitchFamily="34" charset="0"/>
                <a:ea typeface="Arial" pitchFamily="34" charset="-122"/>
                <a:cs typeface="Arial" pitchFamily="34" charset="-120"/>
              </a:rPr>
              <a:t>12 APR 2026</a:t>
            </a:r>
            <a:endParaRPr lang="en-US" sz="1160" dirty="0"/>
          </a:p>
        </p:txBody>
      </p:sp>
      <p:sp>
        <p:nvSpPr>
          <p:cNvPr id="31" name="Shape 27"/>
          <p:cNvSpPr/>
          <p:nvPr/>
        </p:nvSpPr>
        <p:spPr>
          <a:xfrm>
            <a:off x="3383280" y="2468880"/>
            <a:ext cx="2688336" cy="676656"/>
          </a:xfrm>
          <a:prstGeom prst="roundRect">
            <a:avLst>
              <a:gd name="adj" fmla="val 16216"/>
            </a:avLst>
          </a:prstGeom>
          <a:solidFill>
            <a:srgbClr val="DFF5F3"/>
          </a:solidFill>
          <a:ln w="10160">
            <a:solidFill>
              <a:srgbClr val="C5D9E3"/>
            </a:solidFill>
            <a:prstDash val="solid"/>
          </a:ln>
        </p:spPr>
      </p:sp>
      <p:sp>
        <p:nvSpPr>
          <p:cNvPr id="32" name="Text 28"/>
          <p:cNvSpPr/>
          <p:nvPr/>
        </p:nvSpPr>
        <p:spPr>
          <a:xfrm>
            <a:off x="3493008" y="2560320"/>
            <a:ext cx="2468880" cy="210312"/>
          </a:xfrm>
          <a:prstGeom prst="rect">
            <a:avLst/>
          </a:prstGeom>
          <a:noFill/>
          <a:ln/>
        </p:spPr>
        <p:txBody>
          <a:bodyPr wrap="square" lIns="0" tIns="0" rIns="0" bIns="0" rtlCol="0" anchor="ctr"/>
          <a:lstStyle/>
          <a:p>
            <a:pPr indent="0" marL="0">
              <a:buNone/>
            </a:pPr>
            <a:r>
              <a:rPr lang="en-US" sz="1130" b="1" dirty="0">
                <a:solidFill>
                  <a:srgbClr val="103A59"/>
                </a:solidFill>
                <a:latin typeface="Arial" pitchFamily="34" charset="0"/>
                <a:ea typeface="Arial" pitchFamily="34" charset="-122"/>
                <a:cs typeface="Arial" pitchFamily="34" charset="-120"/>
              </a:rPr>
              <a:t>R02 • lab / consult / Rx</a:t>
            </a:r>
            <a:endParaRPr lang="en-US" sz="1130" dirty="0"/>
          </a:p>
        </p:txBody>
      </p:sp>
      <p:sp>
        <p:nvSpPr>
          <p:cNvPr id="33" name="Text 29"/>
          <p:cNvSpPr/>
          <p:nvPr/>
        </p:nvSpPr>
        <p:spPr>
          <a:xfrm>
            <a:off x="3493008" y="2834640"/>
            <a:ext cx="2468880" cy="182880"/>
          </a:xfrm>
          <a:prstGeom prst="rect">
            <a:avLst/>
          </a:prstGeom>
          <a:noFill/>
          <a:ln/>
        </p:spPr>
        <p:txBody>
          <a:bodyPr wrap="square" lIns="0" tIns="0" rIns="0" bIns="0" rtlCol="0" anchor="ctr"/>
          <a:lstStyle/>
          <a:p>
            <a:pPr indent="0" marL="0">
              <a:buNone/>
            </a:pPr>
            <a:r>
              <a:rPr lang="en-US" sz="1150" dirty="0">
                <a:solidFill>
                  <a:srgbClr val="233B4C"/>
                </a:solidFill>
                <a:latin typeface="Arial" pitchFamily="34" charset="0"/>
                <a:ea typeface="Arial" pitchFamily="34" charset="-122"/>
                <a:cs typeface="Arial" pitchFamily="34" charset="-120"/>
              </a:rPr>
              <a:t>HbA1c 7.7%</a:t>
            </a:r>
            <a:endParaRPr lang="en-US" sz="1150" dirty="0"/>
          </a:p>
        </p:txBody>
      </p:sp>
      <p:sp>
        <p:nvSpPr>
          <p:cNvPr id="34" name="Shape 30"/>
          <p:cNvSpPr/>
          <p:nvPr/>
        </p:nvSpPr>
        <p:spPr>
          <a:xfrm>
            <a:off x="7223760" y="2084832"/>
            <a:ext cx="192024" cy="192024"/>
          </a:xfrm>
          <a:prstGeom prst="ellipse">
            <a:avLst/>
          </a:prstGeom>
          <a:solidFill>
            <a:srgbClr val="087FB8"/>
          </a:solidFill>
          <a:ln w="19050">
            <a:solidFill>
              <a:srgbClr val="FFFFFF"/>
            </a:solidFill>
            <a:prstDash val="solid"/>
          </a:ln>
        </p:spPr>
      </p:sp>
      <p:sp>
        <p:nvSpPr>
          <p:cNvPr id="35" name="Text 31"/>
          <p:cNvSpPr/>
          <p:nvPr/>
        </p:nvSpPr>
        <p:spPr>
          <a:xfrm>
            <a:off x="6263640" y="1792224"/>
            <a:ext cx="2606040" cy="201168"/>
          </a:xfrm>
          <a:prstGeom prst="rect">
            <a:avLst/>
          </a:prstGeom>
          <a:noFill/>
          <a:ln/>
        </p:spPr>
        <p:txBody>
          <a:bodyPr wrap="square" lIns="0" tIns="0" rIns="0" bIns="0" rtlCol="0" anchor="ctr"/>
          <a:lstStyle/>
          <a:p>
            <a:pPr algn="ctr" indent="0" marL="0">
              <a:buNone/>
            </a:pPr>
            <a:r>
              <a:rPr lang="en-US" sz="1160" b="1" dirty="0">
                <a:solidFill>
                  <a:srgbClr val="087FB8"/>
                </a:solidFill>
                <a:latin typeface="Arial" pitchFamily="34" charset="0"/>
                <a:ea typeface="Arial" pitchFamily="34" charset="-122"/>
                <a:cs typeface="Arial" pitchFamily="34" charset="-120"/>
              </a:rPr>
              <a:t>12 JUL 2026</a:t>
            </a:r>
            <a:endParaRPr lang="en-US" sz="1160" dirty="0"/>
          </a:p>
        </p:txBody>
      </p:sp>
      <p:sp>
        <p:nvSpPr>
          <p:cNvPr id="36" name="Shape 32"/>
          <p:cNvSpPr/>
          <p:nvPr/>
        </p:nvSpPr>
        <p:spPr>
          <a:xfrm>
            <a:off x="6263640" y="2468880"/>
            <a:ext cx="2688336" cy="676656"/>
          </a:xfrm>
          <a:prstGeom prst="roundRect">
            <a:avLst>
              <a:gd name="adj" fmla="val 16216"/>
            </a:avLst>
          </a:prstGeom>
          <a:solidFill>
            <a:srgbClr val="EAF4FA"/>
          </a:solidFill>
          <a:ln w="10160">
            <a:solidFill>
              <a:srgbClr val="C5D9E3"/>
            </a:solidFill>
            <a:prstDash val="solid"/>
          </a:ln>
        </p:spPr>
      </p:sp>
      <p:sp>
        <p:nvSpPr>
          <p:cNvPr id="37" name="Text 33"/>
          <p:cNvSpPr/>
          <p:nvPr/>
        </p:nvSpPr>
        <p:spPr>
          <a:xfrm>
            <a:off x="6373368" y="2560320"/>
            <a:ext cx="2468880" cy="210312"/>
          </a:xfrm>
          <a:prstGeom prst="rect">
            <a:avLst/>
          </a:prstGeom>
          <a:noFill/>
          <a:ln/>
        </p:spPr>
        <p:txBody>
          <a:bodyPr wrap="square" lIns="0" tIns="0" rIns="0" bIns="0" rtlCol="0" anchor="ctr"/>
          <a:lstStyle/>
          <a:p>
            <a:pPr indent="0" marL="0">
              <a:buNone/>
            </a:pPr>
            <a:r>
              <a:rPr lang="en-US" sz="1130" b="1" dirty="0">
                <a:solidFill>
                  <a:srgbClr val="103A59"/>
                </a:solidFill>
                <a:latin typeface="Arial" pitchFamily="34" charset="0"/>
                <a:ea typeface="Arial" pitchFamily="34" charset="-122"/>
                <a:cs typeface="Arial" pitchFamily="34" charset="-120"/>
              </a:rPr>
              <a:t>R03 • lab + prescription</a:t>
            </a:r>
            <a:endParaRPr lang="en-US" sz="1130" dirty="0"/>
          </a:p>
        </p:txBody>
      </p:sp>
      <p:sp>
        <p:nvSpPr>
          <p:cNvPr id="38" name="Text 34"/>
          <p:cNvSpPr/>
          <p:nvPr/>
        </p:nvSpPr>
        <p:spPr>
          <a:xfrm>
            <a:off x="6373368" y="2834640"/>
            <a:ext cx="2468880" cy="182880"/>
          </a:xfrm>
          <a:prstGeom prst="rect">
            <a:avLst/>
          </a:prstGeom>
          <a:noFill/>
          <a:ln/>
        </p:spPr>
        <p:txBody>
          <a:bodyPr wrap="square" lIns="0" tIns="0" rIns="0" bIns="0" rtlCol="0" anchor="ctr"/>
          <a:lstStyle/>
          <a:p>
            <a:pPr indent="0" marL="0">
              <a:buNone/>
            </a:pPr>
            <a:r>
              <a:rPr lang="en-US" sz="1150" dirty="0">
                <a:solidFill>
                  <a:srgbClr val="233B4C"/>
                </a:solidFill>
                <a:latin typeface="Arial" pitchFamily="34" charset="0"/>
                <a:ea typeface="Arial" pitchFamily="34" charset="-122"/>
                <a:cs typeface="Arial" pitchFamily="34" charset="-120"/>
              </a:rPr>
              <a:t>HbA1c 7.9%</a:t>
            </a:r>
            <a:endParaRPr lang="en-US" sz="1150" dirty="0"/>
          </a:p>
        </p:txBody>
      </p:sp>
      <p:sp>
        <p:nvSpPr>
          <p:cNvPr id="39" name="Shape 35"/>
          <p:cNvSpPr/>
          <p:nvPr/>
        </p:nvSpPr>
        <p:spPr>
          <a:xfrm>
            <a:off x="10104120" y="2084832"/>
            <a:ext cx="192024" cy="192024"/>
          </a:xfrm>
          <a:prstGeom prst="ellipse">
            <a:avLst/>
          </a:prstGeom>
          <a:solidFill>
            <a:srgbClr val="087FB8"/>
          </a:solidFill>
          <a:ln w="19050">
            <a:solidFill>
              <a:srgbClr val="FFFFFF"/>
            </a:solidFill>
            <a:prstDash val="solid"/>
          </a:ln>
        </p:spPr>
      </p:sp>
      <p:sp>
        <p:nvSpPr>
          <p:cNvPr id="40" name="Text 36"/>
          <p:cNvSpPr/>
          <p:nvPr/>
        </p:nvSpPr>
        <p:spPr>
          <a:xfrm>
            <a:off x="9144000" y="1792224"/>
            <a:ext cx="2606040" cy="201168"/>
          </a:xfrm>
          <a:prstGeom prst="rect">
            <a:avLst/>
          </a:prstGeom>
          <a:noFill/>
          <a:ln/>
        </p:spPr>
        <p:txBody>
          <a:bodyPr wrap="square" lIns="0" tIns="0" rIns="0" bIns="0" rtlCol="0" anchor="ctr"/>
          <a:lstStyle/>
          <a:p>
            <a:pPr algn="ctr" indent="0" marL="0">
              <a:buNone/>
            </a:pPr>
            <a:r>
              <a:rPr lang="en-US" sz="1160" b="1" dirty="0">
                <a:solidFill>
                  <a:srgbClr val="087FB8"/>
                </a:solidFill>
                <a:latin typeface="Arial" pitchFamily="34" charset="0"/>
                <a:ea typeface="Arial" pitchFamily="34" charset="-122"/>
                <a:cs typeface="Arial" pitchFamily="34" charset="-120"/>
              </a:rPr>
              <a:t>12 OCT 2026</a:t>
            </a:r>
            <a:endParaRPr lang="en-US" sz="1160" dirty="0"/>
          </a:p>
        </p:txBody>
      </p:sp>
      <p:sp>
        <p:nvSpPr>
          <p:cNvPr id="41" name="Shape 37"/>
          <p:cNvSpPr/>
          <p:nvPr/>
        </p:nvSpPr>
        <p:spPr>
          <a:xfrm>
            <a:off x="9144000" y="2468880"/>
            <a:ext cx="2688336" cy="676656"/>
          </a:xfrm>
          <a:prstGeom prst="roundRect">
            <a:avLst>
              <a:gd name="adj" fmla="val 16216"/>
            </a:avLst>
          </a:prstGeom>
          <a:solidFill>
            <a:srgbClr val="EAF4FA"/>
          </a:solidFill>
          <a:ln w="10160">
            <a:solidFill>
              <a:srgbClr val="C5D9E3"/>
            </a:solidFill>
            <a:prstDash val="solid"/>
          </a:ln>
        </p:spPr>
      </p:sp>
      <p:sp>
        <p:nvSpPr>
          <p:cNvPr id="42" name="Text 38"/>
          <p:cNvSpPr/>
          <p:nvPr/>
        </p:nvSpPr>
        <p:spPr>
          <a:xfrm>
            <a:off x="9253728" y="2560320"/>
            <a:ext cx="2468880" cy="210312"/>
          </a:xfrm>
          <a:prstGeom prst="rect">
            <a:avLst/>
          </a:prstGeom>
          <a:noFill/>
          <a:ln/>
        </p:spPr>
        <p:txBody>
          <a:bodyPr wrap="square" lIns="0" tIns="0" rIns="0" bIns="0" rtlCol="0" anchor="ctr"/>
          <a:lstStyle/>
          <a:p>
            <a:pPr indent="0" marL="0">
              <a:buNone/>
            </a:pPr>
            <a:r>
              <a:rPr lang="en-US" sz="1130" b="1" dirty="0">
                <a:solidFill>
                  <a:srgbClr val="103A59"/>
                </a:solidFill>
                <a:latin typeface="Arial" pitchFamily="34" charset="0"/>
                <a:ea typeface="Arial" pitchFamily="34" charset="-122"/>
                <a:cs typeface="Arial" pitchFamily="34" charset="-120"/>
              </a:rPr>
              <a:t>R04 • lab + follow-up</a:t>
            </a:r>
            <a:endParaRPr lang="en-US" sz="1130" dirty="0"/>
          </a:p>
        </p:txBody>
      </p:sp>
      <p:sp>
        <p:nvSpPr>
          <p:cNvPr id="43" name="Text 39"/>
          <p:cNvSpPr/>
          <p:nvPr/>
        </p:nvSpPr>
        <p:spPr>
          <a:xfrm>
            <a:off x="9253728" y="2834640"/>
            <a:ext cx="2468880" cy="182880"/>
          </a:xfrm>
          <a:prstGeom prst="rect">
            <a:avLst/>
          </a:prstGeom>
          <a:noFill/>
          <a:ln/>
        </p:spPr>
        <p:txBody>
          <a:bodyPr wrap="square" lIns="0" tIns="0" rIns="0" bIns="0" rtlCol="0" anchor="ctr"/>
          <a:lstStyle/>
          <a:p>
            <a:pPr indent="0" marL="0">
              <a:buNone/>
            </a:pPr>
            <a:r>
              <a:rPr lang="en-US" sz="1150" dirty="0">
                <a:solidFill>
                  <a:srgbClr val="233B4C"/>
                </a:solidFill>
                <a:latin typeface="Arial" pitchFamily="34" charset="0"/>
                <a:ea typeface="Arial" pitchFamily="34" charset="-122"/>
                <a:cs typeface="Arial" pitchFamily="34" charset="-120"/>
              </a:rPr>
              <a:t>HbA1c 7.4%</a:t>
            </a:r>
            <a:endParaRPr lang="en-US" sz="1150" dirty="0"/>
          </a:p>
        </p:txBody>
      </p:sp>
      <p:sp>
        <p:nvSpPr>
          <p:cNvPr id="44" name="Shape 40"/>
          <p:cNvSpPr/>
          <p:nvPr/>
        </p:nvSpPr>
        <p:spPr>
          <a:xfrm>
            <a:off x="502920" y="3474720"/>
            <a:ext cx="6784848" cy="2505456"/>
          </a:xfrm>
          <a:prstGeom prst="roundRect">
            <a:avLst>
              <a:gd name="adj" fmla="val 4380"/>
            </a:avLst>
          </a:prstGeom>
          <a:solidFill>
            <a:srgbClr val="FFFFFF"/>
          </a:solidFill>
          <a:ln w="10160">
            <a:solidFill>
              <a:srgbClr val="C5D9E3"/>
            </a:solidFill>
            <a:prstDash val="solid"/>
          </a:ln>
        </p:spPr>
      </p:sp>
      <p:sp>
        <p:nvSpPr>
          <p:cNvPr id="45" name="Text 41"/>
          <p:cNvSpPr/>
          <p:nvPr/>
        </p:nvSpPr>
        <p:spPr>
          <a:xfrm>
            <a:off x="685800" y="3621024"/>
            <a:ext cx="6327648"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HbA1c (%) • MATCHED UNITS / TEST</a:t>
            </a:r>
            <a:endParaRPr lang="en-US" sz="1050" dirty="0"/>
          </a:p>
        </p:txBody>
      </p:sp>
      <p:graphicFrame>
        <p:nvGraphicFramePr>
          <p:cNvPr id="46" name="Chart 0" descr=""/>
          <p:cNvGraphicFramePr/>
          <p:nvPr/>
        </p:nvGraphicFramePr>
        <p:xfrm>
          <a:off x="667512" y="3986784"/>
          <a:ext cx="6455664" cy="1719072"/>
        </p:xfrm>
        <a:graphic xmlns:a="http://schemas.openxmlformats.org/drawingml/2006/main">
          <a:graphicData uri="http://schemas.openxmlformats.org/drawingml/2006/chart">
            <c:chart xmlns:c="http://schemas.openxmlformats.org/drawingml/2006/chart" r:id="rId11"/>
          </a:graphicData>
        </a:graphic>
      </p:graphicFrame>
      <p:sp>
        <p:nvSpPr>
          <p:cNvPr id="47" name="Text 42"/>
          <p:cNvSpPr/>
          <p:nvPr/>
        </p:nvSpPr>
        <p:spPr>
          <a:xfrm>
            <a:off x="713232" y="5769864"/>
            <a:ext cx="6291072" cy="164592"/>
          </a:xfrm>
          <a:prstGeom prst="rect">
            <a:avLst/>
          </a:prstGeom>
          <a:noFill/>
          <a:ln/>
        </p:spPr>
        <p:txBody>
          <a:bodyPr wrap="square" lIns="0" tIns="0" rIns="0" bIns="0" rtlCol="0" anchor="ctr"/>
          <a:lstStyle/>
          <a:p>
            <a:pPr indent="0" marL="0">
              <a:buNone/>
            </a:pPr>
            <a:r>
              <a:rPr lang="en-US" sz="970" dirty="0">
                <a:solidFill>
                  <a:srgbClr val="5E7281"/>
                </a:solidFill>
                <a:latin typeface="Arial" pitchFamily="34" charset="0"/>
                <a:ea typeface="Arial" pitchFamily="34" charset="-122"/>
                <a:cs typeface="Arial" pitchFamily="34" charset="-120"/>
              </a:rPr>
              <a:t>Fictional values • no treatment inference • not a generalized “health score”</a:t>
            </a:r>
            <a:endParaRPr lang="en-US" sz="970" dirty="0"/>
          </a:p>
        </p:txBody>
      </p:sp>
      <p:sp>
        <p:nvSpPr>
          <p:cNvPr id="48" name="Shape 43"/>
          <p:cNvSpPr/>
          <p:nvPr/>
        </p:nvSpPr>
        <p:spPr>
          <a:xfrm>
            <a:off x="7534656" y="3474720"/>
            <a:ext cx="4343400" cy="2505456"/>
          </a:xfrm>
          <a:prstGeom prst="roundRect">
            <a:avLst>
              <a:gd name="adj" fmla="val 4380"/>
            </a:avLst>
          </a:prstGeom>
          <a:solidFill>
            <a:srgbClr val="DFF5F3"/>
          </a:solidFill>
          <a:ln w="10160">
            <a:solidFill>
              <a:srgbClr val="C5D9E3"/>
            </a:solidFill>
            <a:prstDash val="solid"/>
          </a:ln>
        </p:spPr>
      </p:sp>
      <p:sp>
        <p:nvSpPr>
          <p:cNvPr id="49" name="Text 44"/>
          <p:cNvSpPr/>
          <p:nvPr/>
        </p:nvSpPr>
        <p:spPr>
          <a:xfrm>
            <a:off x="7708392" y="3648456"/>
            <a:ext cx="3986784"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SELECTED DATE: 12 APR 2026</a:t>
            </a:r>
            <a:endParaRPr lang="en-US" sz="1050" dirty="0"/>
          </a:p>
        </p:txBody>
      </p:sp>
      <p:sp>
        <p:nvSpPr>
          <p:cNvPr id="50" name="Text 45"/>
          <p:cNvSpPr/>
          <p:nvPr/>
        </p:nvSpPr>
        <p:spPr>
          <a:xfrm>
            <a:off x="7708392" y="4014216"/>
            <a:ext cx="3950208" cy="246888"/>
          </a:xfrm>
          <a:prstGeom prst="rect">
            <a:avLst/>
          </a:prstGeom>
          <a:noFill/>
          <a:ln/>
        </p:spPr>
        <p:txBody>
          <a:bodyPr wrap="square" lIns="0" tIns="0" rIns="0" bIns="0" rtlCol="0" anchor="ctr"/>
          <a:lstStyle/>
          <a:p>
            <a:pPr indent="0" marL="0">
              <a:buNone/>
            </a:pPr>
            <a:r>
              <a:rPr lang="en-US" sz="1600" b="1" dirty="0">
                <a:solidFill>
                  <a:srgbClr val="103A59"/>
                </a:solidFill>
                <a:latin typeface="Arial" pitchFamily="34" charset="0"/>
                <a:ea typeface="Arial" pitchFamily="34" charset="-122"/>
                <a:cs typeface="Arial" pitchFamily="34" charset="-120"/>
              </a:rPr>
              <a:t>R02  •  source page 1</a:t>
            </a:r>
            <a:endParaRPr lang="en-US" sz="1600" dirty="0"/>
          </a:p>
        </p:txBody>
      </p:sp>
      <p:sp>
        <p:nvSpPr>
          <p:cNvPr id="51" name="Text 46"/>
          <p:cNvSpPr/>
          <p:nvPr/>
        </p:nvSpPr>
        <p:spPr>
          <a:xfrm>
            <a:off x="7708392" y="4489704"/>
            <a:ext cx="3931920" cy="822960"/>
          </a:xfrm>
          <a:prstGeom prst="rect">
            <a:avLst/>
          </a:prstGeom>
          <a:noFill/>
          <a:ln/>
        </p:spPr>
        <p:txBody>
          <a:bodyPr wrap="square" lIns="0" tIns="0" rIns="0" bIns="0" rtlCol="0" anchor="ctr"/>
          <a:lstStyle/>
          <a:p>
            <a:pPr indent="0" marL="0">
              <a:buNone/>
            </a:pPr>
            <a:r>
              <a:rPr lang="en-US" sz="1210" dirty="0">
                <a:solidFill>
                  <a:srgbClr val="233B4C"/>
                </a:solidFill>
                <a:latin typeface="Arial" pitchFamily="34" charset="0"/>
                <a:ea typeface="Arial" pitchFamily="34" charset="-122"/>
                <a:cs typeface="Arial" pitchFamily="34" charset="-120"/>
              </a:rPr>
              <a:t>Lab result: HbA1c 7.7%</a:t>
            </a:r>
            <a:endParaRPr lang="en-US" sz="1210" dirty="0"/>
          </a:p>
          <a:p>
            <a:pPr indent="0" marL="0">
              <a:buNone/>
            </a:pPr>
            <a:r>
              <a:rPr lang="en-US" sz="1210" dirty="0">
                <a:solidFill>
                  <a:srgbClr val="233B4C"/>
                </a:solidFill>
                <a:latin typeface="Arial" pitchFamily="34" charset="0"/>
                <a:ea typeface="Arial" pitchFamily="34" charset="-122"/>
                <a:cs typeface="Arial" pitchFamily="34" charset="-120"/>
              </a:rPr>
              <a:t>Consultation: clinician-authored note</a:t>
            </a:r>
            <a:endParaRPr lang="en-US" sz="1210" dirty="0"/>
          </a:p>
          <a:p>
            <a:pPr indent="0" marL="0">
              <a:buNone/>
            </a:pPr>
            <a:r>
              <a:rPr lang="en-US" sz="1210" dirty="0">
                <a:solidFill>
                  <a:srgbClr val="233B4C"/>
                </a:solidFill>
                <a:latin typeface="Arial" pitchFamily="34" charset="0"/>
                <a:ea typeface="Arial" pitchFamily="34" charset="-122"/>
                <a:cs typeface="Arial" pitchFamily="34" charset="-120"/>
              </a:rPr>
              <a:t>Prescription: plan kept as source record</a:t>
            </a:r>
            <a:endParaRPr lang="en-US" sz="1210" dirty="0"/>
          </a:p>
          <a:p>
            <a:pPr indent="0" marL="0">
              <a:buNone/>
            </a:pPr>
            <a:r>
              <a:rPr lang="en-US" sz="1210" dirty="0">
                <a:solidFill>
                  <a:srgbClr val="233B4C"/>
                </a:solidFill>
                <a:latin typeface="Arial" pitchFamily="34" charset="0"/>
                <a:ea typeface="Arial" pitchFamily="34" charset="-122"/>
                <a:cs typeface="Arial" pitchFamily="34" charset="-120"/>
              </a:rPr>
              <a:t>Extraction status: illustrative / unverified</a:t>
            </a:r>
            <a:endParaRPr lang="en-US" sz="1210" dirty="0"/>
          </a:p>
        </p:txBody>
      </p:sp>
      <p:sp>
        <p:nvSpPr>
          <p:cNvPr id="52" name="Shape 47"/>
          <p:cNvSpPr/>
          <p:nvPr/>
        </p:nvSpPr>
        <p:spPr>
          <a:xfrm>
            <a:off x="7717536" y="5504688"/>
            <a:ext cx="3959352" cy="320040"/>
          </a:xfrm>
          <a:prstGeom prst="roundRect">
            <a:avLst>
              <a:gd name="adj" fmla="val 34286"/>
            </a:avLst>
          </a:prstGeom>
          <a:solidFill>
            <a:srgbClr val="008F8B"/>
          </a:solidFill>
          <a:ln w="10160">
            <a:solidFill>
              <a:srgbClr val="008F8B"/>
            </a:solidFill>
            <a:prstDash val="solid"/>
          </a:ln>
        </p:spPr>
      </p:sp>
      <p:sp>
        <p:nvSpPr>
          <p:cNvPr id="53" name="Text 48">
            <a:hlinkClick r:id="rId12" tooltip="Open slide 7" action="ppaction://hlinksldjump"/>
          </p:cNvPr>
          <p:cNvSpPr/>
          <p:nvPr/>
        </p:nvSpPr>
        <p:spPr>
          <a:xfrm>
            <a:off x="7790688" y="5541264"/>
            <a:ext cx="3813048" cy="246888"/>
          </a:xfrm>
          <a:prstGeom prst="rect">
            <a:avLst/>
          </a:prstGeom>
          <a:noFill/>
          <a:ln/>
        </p:spPr>
        <p:txBody>
          <a:bodyPr wrap="square" lIns="0" tIns="0" rIns="0" bIns="0" rtlCol="0" anchor="ctr"/>
          <a:lstStyle/>
          <a:p>
            <a:pPr algn="ctr" indent="0" marL="0">
              <a:buNone/>
            </a:pPr>
            <a:r>
              <a:rPr lang="en-US" sz="1050" b="1" u="sng" dirty="0">
                <a:solidFill>
                  <a:srgbClr val="FFFFFF"/>
                </a:solidFill>
                <a:latin typeface="Arial" pitchFamily="34" charset="0"/>
                <a:ea typeface="Arial" pitchFamily="34" charset="-122"/>
                <a:cs typeface="Arial" pitchFamily="34" charset="-120"/>
                <a:hlinkClick r:id="rId12" action="ppaction://hlinksldjump" tooltip="Open slide 7">
                  <a:extLst>
                    <a:ext uri="{A12FA001-AC4F-418D-AE19-62706E023703}">
                      <ahyp:hlinkClr xmlns:ahyp="http://schemas.microsoft.com/office/drawing/2018/hyperlinkcolor" val="tx"/>
                    </a:ext>
                  </a:extLst>
                </a:hlinkClick>
              </a:rPr>
              <a:t>Open selected source in doctor view  →</a:t>
            </a:r>
            <a:endParaRPr lang="en-US" sz="1050" dirty="0"/>
          </a:p>
        </p:txBody>
      </p:sp>
      <p:sp>
        <p:nvSpPr>
          <p:cNvPr id="54" name="Text 49"/>
          <p:cNvSpPr/>
          <p:nvPr/>
        </p:nvSpPr>
        <p:spPr>
          <a:xfrm>
            <a:off x="521208" y="6144768"/>
            <a:ext cx="11064240" cy="164592"/>
          </a:xfrm>
          <a:prstGeom prst="rect">
            <a:avLst/>
          </a:prstGeom>
          <a:noFill/>
          <a:ln/>
        </p:spPr>
        <p:txBody>
          <a:bodyPr wrap="square" lIns="0" tIns="0" rIns="0" bIns="0" rtlCol="0" anchor="ctr"/>
          <a:lstStyle/>
          <a:p>
            <a:pPr indent="0" marL="0">
              <a:buNone/>
            </a:pPr>
            <a:r>
              <a:rPr lang="en-US" sz="990" dirty="0">
                <a:solidFill>
                  <a:srgbClr val="5E7281"/>
                </a:solidFill>
                <a:latin typeface="Arial" pitchFamily="34" charset="0"/>
                <a:ea typeface="Arial" pitchFamily="34" charset="-122"/>
                <a:cs typeface="Arial" pitchFamily="34" charset="-120"/>
              </a:rPr>
              <a:t>Production: date selection resolves permission-filtered source records; non-comparable tests stay separate.</a:t>
            </a:r>
            <a:endParaRPr lang="en-US" sz="99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FEASIBILITY &amp; VIABILITY</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Build the smallest safe loop—then earn the right to scale</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Qualitative feasibility and risk assessment • no validated accuracy, pilot outcomes, budgets or regulatory approvals supplied.</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09 / 12</a:t>
            </a:r>
            <a:endParaRPr lang="en-US" sz="950" dirty="0"/>
          </a:p>
        </p:txBody>
      </p:sp>
      <p:sp>
        <p:nvSpPr>
          <p:cNvPr id="22" name="Shape 18"/>
          <p:cNvSpPr/>
          <p:nvPr/>
        </p:nvSpPr>
        <p:spPr>
          <a:xfrm>
            <a:off x="502920" y="1453896"/>
            <a:ext cx="2688336" cy="1033272"/>
          </a:xfrm>
          <a:prstGeom prst="roundRect">
            <a:avLst>
              <a:gd name="adj" fmla="val 10619"/>
            </a:avLst>
          </a:prstGeom>
          <a:solidFill>
            <a:srgbClr val="EAF4FA"/>
          </a:solidFill>
          <a:ln w="10160">
            <a:solidFill>
              <a:srgbClr val="C5D9E3"/>
            </a:solidFill>
            <a:prstDash val="solid"/>
          </a:ln>
        </p:spPr>
      </p:sp>
      <p:sp>
        <p:nvSpPr>
          <p:cNvPr id="23" name="Shape 19"/>
          <p:cNvSpPr/>
          <p:nvPr/>
        </p:nvSpPr>
        <p:spPr>
          <a:xfrm>
            <a:off x="521208" y="1591056"/>
            <a:ext cx="36576" cy="758952"/>
          </a:xfrm>
          <a:prstGeom prst="rect">
            <a:avLst/>
          </a:prstGeom>
          <a:solidFill>
            <a:srgbClr val="087FB8"/>
          </a:solidFill>
          <a:ln w="12700">
            <a:solidFill>
              <a:srgbClr val="087FB8"/>
            </a:solidFill>
            <a:prstDash val="solid"/>
          </a:ln>
        </p:spPr>
      </p:sp>
      <p:sp>
        <p:nvSpPr>
          <p:cNvPr id="24" name="Text 20"/>
          <p:cNvSpPr/>
          <p:nvPr/>
        </p:nvSpPr>
        <p:spPr>
          <a:xfrm>
            <a:off x="658368" y="1572768"/>
            <a:ext cx="2395728" cy="320040"/>
          </a:xfrm>
          <a:prstGeom prst="rect">
            <a:avLst/>
          </a:prstGeom>
          <a:noFill/>
          <a:ln/>
        </p:spPr>
        <p:txBody>
          <a:bodyPr wrap="square" lIns="0" tIns="0" rIns="0" bIns="0" rtlCol="0" anchor="ctr"/>
          <a:lstStyle/>
          <a:p>
            <a:pPr indent="0" marL="0">
              <a:buNone/>
            </a:pPr>
            <a:r>
              <a:rPr lang="en-US" sz="1500" b="1" dirty="0">
                <a:solidFill>
                  <a:srgbClr val="087FB8"/>
                </a:solidFill>
                <a:latin typeface="Arial" pitchFamily="34" charset="0"/>
                <a:ea typeface="Arial" pitchFamily="34" charset="-122"/>
                <a:cs typeface="Arial" pitchFamily="34" charset="-120"/>
              </a:rPr>
              <a:t>TECHNICAL</a:t>
            </a:r>
            <a:endParaRPr lang="en-US" sz="1500" dirty="0"/>
          </a:p>
        </p:txBody>
      </p:sp>
      <p:sp>
        <p:nvSpPr>
          <p:cNvPr id="25" name="Text 21"/>
          <p:cNvSpPr/>
          <p:nvPr/>
        </p:nvSpPr>
        <p:spPr>
          <a:xfrm>
            <a:off x="658368" y="1956816"/>
            <a:ext cx="2377440" cy="420624"/>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Mature web / OCR components; validate mixed-quality reports.</a:t>
            </a:r>
            <a:endParaRPr lang="en-US" sz="1250" dirty="0"/>
          </a:p>
        </p:txBody>
      </p:sp>
      <p:sp>
        <p:nvSpPr>
          <p:cNvPr id="26" name="Shape 22"/>
          <p:cNvSpPr/>
          <p:nvPr/>
        </p:nvSpPr>
        <p:spPr>
          <a:xfrm>
            <a:off x="3383280" y="1453896"/>
            <a:ext cx="2688336" cy="1033272"/>
          </a:xfrm>
          <a:prstGeom prst="roundRect">
            <a:avLst>
              <a:gd name="adj" fmla="val 10619"/>
            </a:avLst>
          </a:prstGeom>
          <a:solidFill>
            <a:srgbClr val="EAF4FA"/>
          </a:solidFill>
          <a:ln w="10160">
            <a:solidFill>
              <a:srgbClr val="C5D9E3"/>
            </a:solidFill>
            <a:prstDash val="solid"/>
          </a:ln>
        </p:spPr>
      </p:sp>
      <p:sp>
        <p:nvSpPr>
          <p:cNvPr id="27" name="Shape 23"/>
          <p:cNvSpPr/>
          <p:nvPr/>
        </p:nvSpPr>
        <p:spPr>
          <a:xfrm>
            <a:off x="3401568" y="1591056"/>
            <a:ext cx="36576" cy="758952"/>
          </a:xfrm>
          <a:prstGeom prst="rect">
            <a:avLst/>
          </a:prstGeom>
          <a:solidFill>
            <a:srgbClr val="087FB8"/>
          </a:solidFill>
          <a:ln w="12700">
            <a:solidFill>
              <a:srgbClr val="087FB8"/>
            </a:solidFill>
            <a:prstDash val="solid"/>
          </a:ln>
        </p:spPr>
      </p:sp>
      <p:sp>
        <p:nvSpPr>
          <p:cNvPr id="28" name="Text 24"/>
          <p:cNvSpPr/>
          <p:nvPr/>
        </p:nvSpPr>
        <p:spPr>
          <a:xfrm>
            <a:off x="3538728" y="1572768"/>
            <a:ext cx="2395728" cy="320040"/>
          </a:xfrm>
          <a:prstGeom prst="rect">
            <a:avLst/>
          </a:prstGeom>
          <a:noFill/>
          <a:ln/>
        </p:spPr>
        <p:txBody>
          <a:bodyPr wrap="square" lIns="0" tIns="0" rIns="0" bIns="0" rtlCol="0" anchor="ctr"/>
          <a:lstStyle/>
          <a:p>
            <a:pPr indent="0" marL="0">
              <a:buNone/>
            </a:pPr>
            <a:r>
              <a:rPr lang="en-US" sz="1500" b="1" dirty="0">
                <a:solidFill>
                  <a:srgbClr val="087FB8"/>
                </a:solidFill>
                <a:latin typeface="Arial" pitchFamily="34" charset="0"/>
                <a:ea typeface="Arial" pitchFamily="34" charset="-122"/>
                <a:cs typeface="Arial" pitchFamily="34" charset="-120"/>
              </a:rPr>
              <a:t>OPERATIONAL</a:t>
            </a:r>
            <a:endParaRPr lang="en-US" sz="1500" dirty="0"/>
          </a:p>
        </p:txBody>
      </p:sp>
      <p:sp>
        <p:nvSpPr>
          <p:cNvPr id="29" name="Text 25"/>
          <p:cNvSpPr/>
          <p:nvPr/>
        </p:nvSpPr>
        <p:spPr>
          <a:xfrm>
            <a:off x="3538728" y="1956816"/>
            <a:ext cx="2377440" cy="420624"/>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Clinician review effort, onboarding and workflow fit need testing.</a:t>
            </a:r>
            <a:endParaRPr lang="en-US" sz="1250" dirty="0"/>
          </a:p>
        </p:txBody>
      </p:sp>
      <p:sp>
        <p:nvSpPr>
          <p:cNvPr id="30" name="Shape 26"/>
          <p:cNvSpPr/>
          <p:nvPr/>
        </p:nvSpPr>
        <p:spPr>
          <a:xfrm>
            <a:off x="6263640" y="1453896"/>
            <a:ext cx="2688336" cy="1033272"/>
          </a:xfrm>
          <a:prstGeom prst="roundRect">
            <a:avLst>
              <a:gd name="adj" fmla="val 10619"/>
            </a:avLst>
          </a:prstGeom>
          <a:solidFill>
            <a:srgbClr val="EAF4FA"/>
          </a:solidFill>
          <a:ln w="10160">
            <a:solidFill>
              <a:srgbClr val="C5D9E3"/>
            </a:solidFill>
            <a:prstDash val="solid"/>
          </a:ln>
        </p:spPr>
      </p:sp>
      <p:sp>
        <p:nvSpPr>
          <p:cNvPr id="31" name="Shape 27"/>
          <p:cNvSpPr/>
          <p:nvPr/>
        </p:nvSpPr>
        <p:spPr>
          <a:xfrm>
            <a:off x="6281928" y="1591056"/>
            <a:ext cx="36576" cy="758952"/>
          </a:xfrm>
          <a:prstGeom prst="rect">
            <a:avLst/>
          </a:prstGeom>
          <a:solidFill>
            <a:srgbClr val="087FB8"/>
          </a:solidFill>
          <a:ln w="12700">
            <a:solidFill>
              <a:srgbClr val="087FB8"/>
            </a:solidFill>
            <a:prstDash val="solid"/>
          </a:ln>
        </p:spPr>
      </p:sp>
      <p:sp>
        <p:nvSpPr>
          <p:cNvPr id="32" name="Text 28"/>
          <p:cNvSpPr/>
          <p:nvPr/>
        </p:nvSpPr>
        <p:spPr>
          <a:xfrm>
            <a:off x="6419088" y="1572768"/>
            <a:ext cx="2395728" cy="320040"/>
          </a:xfrm>
          <a:prstGeom prst="rect">
            <a:avLst/>
          </a:prstGeom>
          <a:noFill/>
          <a:ln/>
        </p:spPr>
        <p:txBody>
          <a:bodyPr wrap="square" lIns="0" tIns="0" rIns="0" bIns="0" rtlCol="0" anchor="ctr"/>
          <a:lstStyle/>
          <a:p>
            <a:pPr indent="0" marL="0">
              <a:buNone/>
            </a:pPr>
            <a:r>
              <a:rPr lang="en-US" sz="1500" b="1" dirty="0">
                <a:solidFill>
                  <a:srgbClr val="087FB8"/>
                </a:solidFill>
                <a:latin typeface="Arial" pitchFamily="34" charset="0"/>
                <a:ea typeface="Arial" pitchFamily="34" charset="-122"/>
                <a:cs typeface="Arial" pitchFamily="34" charset="-120"/>
              </a:rPr>
              <a:t>RESOURCE</a:t>
            </a:r>
            <a:endParaRPr lang="en-US" sz="1500" dirty="0"/>
          </a:p>
        </p:txBody>
      </p:sp>
      <p:sp>
        <p:nvSpPr>
          <p:cNvPr id="33" name="Text 29"/>
          <p:cNvSpPr/>
          <p:nvPr/>
        </p:nvSpPr>
        <p:spPr>
          <a:xfrm>
            <a:off x="6419088" y="1956816"/>
            <a:ext cx="2377440" cy="420624"/>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Compute, annotation, security and support costs: not yet estimated.</a:t>
            </a:r>
            <a:endParaRPr lang="en-US" sz="1250" dirty="0"/>
          </a:p>
        </p:txBody>
      </p:sp>
      <p:sp>
        <p:nvSpPr>
          <p:cNvPr id="34" name="Shape 30"/>
          <p:cNvSpPr/>
          <p:nvPr/>
        </p:nvSpPr>
        <p:spPr>
          <a:xfrm>
            <a:off x="9144000" y="1453896"/>
            <a:ext cx="2688336" cy="1033272"/>
          </a:xfrm>
          <a:prstGeom prst="roundRect">
            <a:avLst>
              <a:gd name="adj" fmla="val 10619"/>
            </a:avLst>
          </a:prstGeom>
          <a:solidFill>
            <a:srgbClr val="F0ECF8"/>
          </a:solidFill>
          <a:ln w="10160">
            <a:solidFill>
              <a:srgbClr val="C5D9E3"/>
            </a:solidFill>
            <a:prstDash val="solid"/>
          </a:ln>
        </p:spPr>
      </p:sp>
      <p:sp>
        <p:nvSpPr>
          <p:cNvPr id="35" name="Shape 31"/>
          <p:cNvSpPr/>
          <p:nvPr/>
        </p:nvSpPr>
        <p:spPr>
          <a:xfrm>
            <a:off x="9162288" y="1591056"/>
            <a:ext cx="36576" cy="758952"/>
          </a:xfrm>
          <a:prstGeom prst="rect">
            <a:avLst/>
          </a:prstGeom>
          <a:solidFill>
            <a:srgbClr val="6C5B96"/>
          </a:solidFill>
          <a:ln w="12700">
            <a:solidFill>
              <a:srgbClr val="6C5B96"/>
            </a:solidFill>
            <a:prstDash val="solid"/>
          </a:ln>
        </p:spPr>
      </p:sp>
      <p:sp>
        <p:nvSpPr>
          <p:cNvPr id="36" name="Text 32"/>
          <p:cNvSpPr/>
          <p:nvPr/>
        </p:nvSpPr>
        <p:spPr>
          <a:xfrm>
            <a:off x="9299448" y="1572768"/>
            <a:ext cx="2395728" cy="320040"/>
          </a:xfrm>
          <a:prstGeom prst="rect">
            <a:avLst/>
          </a:prstGeom>
          <a:noFill/>
          <a:ln/>
        </p:spPr>
        <p:txBody>
          <a:bodyPr wrap="square" lIns="0" tIns="0" rIns="0" bIns="0" rtlCol="0" anchor="ctr"/>
          <a:lstStyle/>
          <a:p>
            <a:pPr indent="0" marL="0">
              <a:buNone/>
            </a:pPr>
            <a:r>
              <a:rPr lang="en-US" sz="1500" b="1" dirty="0">
                <a:solidFill>
                  <a:srgbClr val="6C5B96"/>
                </a:solidFill>
                <a:latin typeface="Arial" pitchFamily="34" charset="0"/>
                <a:ea typeface="Arial" pitchFamily="34" charset="-122"/>
                <a:cs typeface="Arial" pitchFamily="34" charset="-120"/>
              </a:rPr>
              <a:t>PRIVACY / LEGAL</a:t>
            </a:r>
            <a:endParaRPr lang="en-US" sz="1500" dirty="0"/>
          </a:p>
        </p:txBody>
      </p:sp>
      <p:sp>
        <p:nvSpPr>
          <p:cNvPr id="37" name="Text 33"/>
          <p:cNvSpPr/>
          <p:nvPr/>
        </p:nvSpPr>
        <p:spPr>
          <a:xfrm>
            <a:off x="9299448" y="1956816"/>
            <a:ext cx="2377440" cy="420624"/>
          </a:xfrm>
          <a:prstGeom prst="rect">
            <a:avLst/>
          </a:prstGeom>
          <a:noFill/>
          <a:ln/>
        </p:spPr>
        <p:txBody>
          <a:bodyPr wrap="square" lIns="0" tIns="0" rIns="0" bIns="0" rtlCol="0" anchor="t"/>
          <a:lstStyle/>
          <a:p>
            <a:pPr indent="0" marL="0">
              <a:buNone/>
            </a:pPr>
            <a:r>
              <a:rPr lang="en-US" sz="1250" dirty="0">
                <a:solidFill>
                  <a:srgbClr val="233B4C"/>
                </a:solidFill>
                <a:latin typeface="Arial" pitchFamily="34" charset="0"/>
                <a:ea typeface="Arial" pitchFamily="34" charset="-122"/>
                <a:cs typeface="Arial" pitchFamily="34" charset="-120"/>
              </a:rPr>
              <a:t>Consent, retention and AI/device applicability require expert review.</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743200"/>
          <a:ext cx="11375136" cy="3182112"/>
        </p:xfrm>
        <a:graphic>
          <a:graphicData uri="http://schemas.openxmlformats.org/drawingml/2006/table">
            <a:tbl>
              <a:tblPr/>
              <a:tblGrid>
                <a:gridCol w="2880360"/>
                <a:gridCol w="1024128"/>
                <a:gridCol w="7470648"/>
              </a:tblGrid>
              <a:tr h="393192">
                <a:tc>
                  <a:txBody>
                    <a:bodyPr/>
                    <a:lstStyle/>
                    <a:p>
                      <a:pPr indent="0" marL="0">
                        <a:buNone/>
                      </a:pPr>
                      <a:r>
                        <a:rPr lang="en-US" sz="1120" b="1" dirty="0">
                          <a:solidFill>
                            <a:srgbClr val="FFFFFF"/>
                          </a:solidFill>
                          <a:latin typeface="Arial" pitchFamily="34" charset="0"/>
                          <a:ea typeface="Arial" pitchFamily="34" charset="-122"/>
                          <a:cs typeface="Arial" pitchFamily="34" charset="-120"/>
                        </a:rPr>
                        <a:t>Risk / failure mode</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c>
                  <a:txBody>
                    <a:bodyPr/>
                    <a:lstStyle/>
                    <a:p>
                      <a:pPr indent="0" marL="0">
                        <a:buNone/>
                      </a:pPr>
                      <a:r>
                        <a:rPr lang="en-US" sz="1120" b="1" dirty="0">
                          <a:solidFill>
                            <a:srgbClr val="FFFFFF"/>
                          </a:solidFill>
                          <a:latin typeface="Arial" pitchFamily="34" charset="0"/>
                          <a:ea typeface="Arial" pitchFamily="34" charset="-122"/>
                          <a:cs typeface="Arial" pitchFamily="34" charset="-120"/>
                        </a:rPr>
                        <a:t>Priority*</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c>
                  <a:txBody>
                    <a:bodyPr/>
                    <a:lstStyle/>
                    <a:p>
                      <a:pPr indent="0" marL="0">
                        <a:buNone/>
                      </a:pPr>
                      <a:r>
                        <a:rPr lang="en-US" sz="1120" b="1" dirty="0">
                          <a:solidFill>
                            <a:srgbClr val="FFFFFF"/>
                          </a:solidFill>
                          <a:latin typeface="Arial" pitchFamily="34" charset="0"/>
                          <a:ea typeface="Arial" pitchFamily="34" charset="-122"/>
                          <a:cs typeface="Arial" pitchFamily="34" charset="-120"/>
                        </a:rPr>
                        <a:t>Practical mitigation / release gate</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r>
              <a:tr h="393192">
                <a:tc>
                  <a:txBody>
                    <a:bodyPr/>
                    <a:lstStyle/>
                    <a:p>
                      <a:pPr indent="0" marL="0">
                        <a:buNone/>
                      </a:pPr>
                      <a:r>
                        <a:rPr lang="en-US" sz="1120" dirty="0">
                          <a:solidFill>
                            <a:srgbClr val="233B4C"/>
                          </a:solidFill>
                          <a:latin typeface="Arial" pitchFamily="34" charset="0"/>
                          <a:ea typeface="Arial" pitchFamily="34" charset="-122"/>
                          <a:cs typeface="Arial" pitchFamily="34" charset="-120"/>
                        </a:rPr>
                        <a:t>OCR errors / ambiguous units</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High</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Confidence gates; retain originals; verify critical fields and normalization.</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93192">
                <a:tc>
                  <a:txBody>
                    <a:bodyPr/>
                    <a:lstStyle/>
                    <a:p>
                      <a:pPr indent="0" marL="0">
                        <a:buNone/>
                      </a:pPr>
                      <a:r>
                        <a:rPr lang="en-US" sz="1120" dirty="0">
                          <a:solidFill>
                            <a:srgbClr val="233B4C"/>
                          </a:solidFill>
                          <a:latin typeface="Arial" pitchFamily="34" charset="0"/>
                          <a:ea typeface="Arial" pitchFamily="34" charset="-122"/>
                          <a:cs typeface="Arial" pitchFamily="34" charset="-120"/>
                        </a:rPr>
                        <a:t>Incomplete / conflicting records</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High</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Expose gaps; preserve conflicting entries; request clarification—not inference.</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93192">
                <a:tc>
                  <a:txBody>
                    <a:bodyPr/>
                    <a:lstStyle/>
                    <a:p>
                      <a:pPr indent="0" marL="0">
                        <a:buNone/>
                      </a:pPr>
                      <a:r>
                        <a:rPr lang="en-US" sz="1120" dirty="0">
                          <a:solidFill>
                            <a:srgbClr val="233B4C"/>
                          </a:solidFill>
                          <a:latin typeface="Arial" pitchFamily="34" charset="0"/>
                          <a:ea typeface="Arial" pitchFamily="34" charset="-122"/>
                          <a:cs typeface="Arial" pitchFamily="34" charset="-120"/>
                        </a:rPr>
                        <a:t>Unauthorized access / leakage</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High</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Strong authentication, consent checks, least privilege, encryption and audit tests.</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93192">
                <a:tc>
                  <a:txBody>
                    <a:bodyPr/>
                    <a:lstStyle/>
                    <a:p>
                      <a:pPr indent="0" marL="0">
                        <a:buNone/>
                      </a:pPr>
                      <a:r>
                        <a:rPr lang="en-US" sz="1120" dirty="0">
                          <a:solidFill>
                            <a:srgbClr val="233B4C"/>
                          </a:solidFill>
                          <a:latin typeface="Arial" pitchFamily="34" charset="0"/>
                          <a:ea typeface="Arial" pitchFamily="34" charset="-122"/>
                          <a:cs typeface="Arial" pitchFamily="34" charset="-120"/>
                        </a:rPr>
                        <a:t>AI overreliance / unsupported text</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High</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Source links; visible uncertainty; mandatory clinician verification; block unsafe release.</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93192">
                <a:tc>
                  <a:txBody>
                    <a:bodyPr/>
                    <a:lstStyle/>
                    <a:p>
                      <a:pPr indent="0" marL="0">
                        <a:buNone/>
                      </a:pPr>
                      <a:r>
                        <a:rPr lang="en-US" sz="1120" dirty="0">
                          <a:solidFill>
                            <a:srgbClr val="233B4C"/>
                          </a:solidFill>
                          <a:latin typeface="Arial" pitchFamily="34" charset="0"/>
                          <a:ea typeface="Arial" pitchFamily="34" charset="-122"/>
                          <a:cs typeface="Arial" pitchFamily="34" charset="-120"/>
                        </a:rPr>
                        <a:t>Poor connectivity / upload failure</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Medium</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Resumable uploads, processing status, retry queues; minimized safe local storage.</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93192">
                <a:tc>
                  <a:txBody>
                    <a:bodyPr/>
                    <a:lstStyle/>
                    <a:p>
                      <a:pPr indent="0" marL="0">
                        <a:buNone/>
                      </a:pPr>
                      <a:r>
                        <a:rPr lang="en-US" sz="1120" dirty="0">
                          <a:solidFill>
                            <a:srgbClr val="233B4C"/>
                          </a:solidFill>
                          <a:latin typeface="Arial" pitchFamily="34" charset="0"/>
                          <a:ea typeface="Arial" pitchFamily="34" charset="-122"/>
                          <a:cs typeface="Arial" pitchFamily="34" charset="-120"/>
                        </a:rPr>
                        <a:t>Adoption / workflow burden</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Medium</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Co-design with users; simple onboarding; compare tasks in a controlled pilot.</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93192">
                <a:tc>
                  <a:txBody>
                    <a:bodyPr/>
                    <a:lstStyle/>
                    <a:p>
                      <a:pPr indent="0" marL="0">
                        <a:buNone/>
                      </a:pPr>
                      <a:r>
                        <a:rPr lang="en-US" sz="1120" dirty="0">
                          <a:solidFill>
                            <a:srgbClr val="233B4C"/>
                          </a:solidFill>
                          <a:latin typeface="Arial" pitchFamily="34" charset="0"/>
                          <a:ea typeface="Arial" pitchFamily="34" charset="-122"/>
                          <a:cs typeface="Arial" pitchFamily="34" charset="-120"/>
                        </a:rPr>
                        <a:t>Legal / retention / integration duties</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High</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20" dirty="0">
                          <a:solidFill>
                            <a:srgbClr val="233B4C"/>
                          </a:solidFill>
                          <a:latin typeface="Arial" pitchFamily="34" charset="0"/>
                          <a:ea typeface="Arial" pitchFamily="34" charset="-122"/>
                          <a:cs typeface="Arial" pitchFamily="34" charset="-120"/>
                        </a:rPr>
                        <a:t>Expert review; data minimization; documented retention, backup and incident policies.</a:t>
                      </a:r>
                      <a:endParaRPr lang="en-US" sz="112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bl>
          </a:graphicData>
        </a:graphic>
      </p:graphicFrame>
      <p:sp>
        <p:nvSpPr>
          <p:cNvPr id="39" name="Text 34"/>
          <p:cNvSpPr/>
          <p:nvPr/>
        </p:nvSpPr>
        <p:spPr>
          <a:xfrm>
            <a:off x="557784" y="6099048"/>
            <a:ext cx="11073384" cy="164592"/>
          </a:xfrm>
          <a:prstGeom prst="rect">
            <a:avLst/>
          </a:prstGeom>
          <a:noFill/>
          <a:ln/>
        </p:spPr>
        <p:txBody>
          <a:bodyPr wrap="square" lIns="0" tIns="0" rIns="0" bIns="0" rtlCol="0" anchor="ctr"/>
          <a:lstStyle/>
          <a:p>
            <a:pPr indent="0" marL="0">
              <a:buNone/>
            </a:pPr>
            <a:r>
              <a:rPr lang="en-US" sz="950" dirty="0">
                <a:solidFill>
                  <a:srgbClr val="5E7281"/>
                </a:solidFill>
                <a:latin typeface="Arial" pitchFamily="34" charset="0"/>
                <a:ea typeface="Arial" pitchFamily="34" charset="-122"/>
                <a:cs typeface="Arial" pitchFamily="34" charset="-120"/>
              </a:rPr>
              <a:t>*Priority is a design-team qualitative assessment, not a measured probability. Clinical / security-critical failures stop release.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IMPACT &amp; BENEFITS</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Expected value must become measured evidence</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Hypotheses for a controlled pilot—not claims of time saved, clinical effectiveness or percentage improvement.</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10 / 12</a:t>
            </a:r>
            <a:endParaRPr lang="en-US" sz="950" dirty="0"/>
          </a:p>
        </p:txBody>
      </p:sp>
      <p:sp>
        <p:nvSpPr>
          <p:cNvPr id="22" name="Shape 18"/>
          <p:cNvSpPr/>
          <p:nvPr/>
        </p:nvSpPr>
        <p:spPr>
          <a:xfrm>
            <a:off x="502920" y="1481328"/>
            <a:ext cx="2688336" cy="1435608"/>
          </a:xfrm>
          <a:prstGeom prst="roundRect">
            <a:avLst>
              <a:gd name="adj" fmla="val 7643"/>
            </a:avLst>
          </a:prstGeom>
          <a:solidFill>
            <a:srgbClr val="DFF5F3"/>
          </a:solidFill>
          <a:ln w="10160">
            <a:solidFill>
              <a:srgbClr val="C5D9E3"/>
            </a:solidFill>
            <a:prstDash val="solid"/>
          </a:ln>
        </p:spPr>
      </p:sp>
      <p:sp>
        <p:nvSpPr>
          <p:cNvPr id="23" name="Shape 19"/>
          <p:cNvSpPr/>
          <p:nvPr/>
        </p:nvSpPr>
        <p:spPr>
          <a:xfrm>
            <a:off x="770839" y="1664208"/>
            <a:ext cx="123444" cy="123444"/>
          </a:xfrm>
          <a:prstGeom prst="ellipse">
            <a:avLst/>
          </a:prstGeom>
          <a:solidFill>
            <a:srgbClr val="EAF4FA"/>
          </a:solidFill>
          <a:ln w="16510">
            <a:solidFill>
              <a:srgbClr val="008F8B"/>
            </a:solidFill>
            <a:prstDash val="solid"/>
          </a:ln>
        </p:spPr>
      </p:sp>
      <p:sp>
        <p:nvSpPr>
          <p:cNvPr id="24" name="Shape 20"/>
          <p:cNvSpPr/>
          <p:nvPr/>
        </p:nvSpPr>
        <p:spPr>
          <a:xfrm>
            <a:off x="696773" y="1808226"/>
            <a:ext cx="279806" cy="246888"/>
          </a:xfrm>
          <a:prstGeom prst="roundRect">
            <a:avLst/>
          </a:prstGeom>
          <a:solidFill>
            <a:srgbClr val="DFF5F3"/>
          </a:solidFill>
          <a:ln w="16510">
            <a:solidFill>
              <a:srgbClr val="008F8B"/>
            </a:solidFill>
            <a:prstDash val="solid"/>
          </a:ln>
        </p:spPr>
      </p:sp>
      <p:sp>
        <p:nvSpPr>
          <p:cNvPr id="25" name="Text 21"/>
          <p:cNvSpPr/>
          <p:nvPr/>
        </p:nvSpPr>
        <p:spPr>
          <a:xfrm>
            <a:off x="1179576" y="1655064"/>
            <a:ext cx="1865376" cy="274320"/>
          </a:xfrm>
          <a:prstGeom prst="rect">
            <a:avLst/>
          </a:prstGeom>
          <a:noFill/>
          <a:ln/>
        </p:spPr>
        <p:txBody>
          <a:bodyPr wrap="square" lIns="0" tIns="0" rIns="0" bIns="0" rtlCol="0" anchor="ctr"/>
          <a:lstStyle/>
          <a:p>
            <a:pPr indent="0" marL="0">
              <a:buNone/>
            </a:pPr>
            <a:r>
              <a:rPr lang="en-US" sz="1500" b="1" dirty="0">
                <a:solidFill>
                  <a:srgbClr val="103A59"/>
                </a:solidFill>
                <a:latin typeface="Arial" pitchFamily="34" charset="0"/>
                <a:ea typeface="Arial" pitchFamily="34" charset="-122"/>
                <a:cs typeface="Arial" pitchFamily="34" charset="-120"/>
              </a:rPr>
              <a:t>Patients</a:t>
            </a:r>
            <a:endParaRPr lang="en-US" sz="1500" dirty="0"/>
          </a:p>
        </p:txBody>
      </p:sp>
      <p:sp>
        <p:nvSpPr>
          <p:cNvPr id="26" name="Text 22"/>
          <p:cNvSpPr/>
          <p:nvPr/>
        </p:nvSpPr>
        <p:spPr>
          <a:xfrm>
            <a:off x="640080" y="2185416"/>
            <a:ext cx="2404872" cy="548640"/>
          </a:xfrm>
          <a:prstGeom prst="rect">
            <a:avLst/>
          </a:prstGeom>
          <a:noFill/>
          <a:ln/>
        </p:spPr>
        <p:txBody>
          <a:bodyPr wrap="square" lIns="0" tIns="0" rIns="0" bIns="0" rtlCol="0" anchor="ctr"/>
          <a:lstStyle/>
          <a:p>
            <a:pPr indent="0" marL="0">
              <a:buNone/>
            </a:pPr>
            <a:r>
              <a:rPr lang="en-US" sz="1170" dirty="0">
                <a:solidFill>
                  <a:srgbClr val="233B4C"/>
                </a:solidFill>
                <a:latin typeface="Arial" pitchFamily="34" charset="0"/>
                <a:ea typeface="Arial" pitchFamily="34" charset="-122"/>
                <a:cs typeface="Arial" pitchFamily="34" charset="-120"/>
              </a:rPr>
              <a:t>Durable records; simpler explanations; visible follow-up and medication plans.</a:t>
            </a:r>
            <a:endParaRPr lang="en-US" sz="1170" dirty="0"/>
          </a:p>
        </p:txBody>
      </p:sp>
      <p:sp>
        <p:nvSpPr>
          <p:cNvPr id="27" name="Shape 23"/>
          <p:cNvSpPr/>
          <p:nvPr/>
        </p:nvSpPr>
        <p:spPr>
          <a:xfrm>
            <a:off x="3383280" y="1481328"/>
            <a:ext cx="2688336" cy="1435608"/>
          </a:xfrm>
          <a:prstGeom prst="roundRect">
            <a:avLst>
              <a:gd name="adj" fmla="val 7643"/>
            </a:avLst>
          </a:prstGeom>
          <a:solidFill>
            <a:srgbClr val="EAF4FA"/>
          </a:solidFill>
          <a:ln w="10160">
            <a:solidFill>
              <a:srgbClr val="C5D9E3"/>
            </a:solidFill>
            <a:prstDash val="solid"/>
          </a:ln>
        </p:spPr>
      </p:sp>
      <p:sp>
        <p:nvSpPr>
          <p:cNvPr id="28" name="Shape 24"/>
          <p:cNvSpPr/>
          <p:nvPr/>
        </p:nvSpPr>
        <p:spPr>
          <a:xfrm>
            <a:off x="3651199" y="1664208"/>
            <a:ext cx="123444" cy="123444"/>
          </a:xfrm>
          <a:prstGeom prst="ellipse">
            <a:avLst/>
          </a:prstGeom>
          <a:solidFill>
            <a:srgbClr val="EAF4FA"/>
          </a:solidFill>
          <a:ln w="16510">
            <a:solidFill>
              <a:srgbClr val="087FB8"/>
            </a:solidFill>
            <a:prstDash val="solid"/>
          </a:ln>
        </p:spPr>
      </p:sp>
      <p:sp>
        <p:nvSpPr>
          <p:cNvPr id="29" name="Shape 25"/>
          <p:cNvSpPr/>
          <p:nvPr/>
        </p:nvSpPr>
        <p:spPr>
          <a:xfrm>
            <a:off x="3577133" y="1808226"/>
            <a:ext cx="279806" cy="246888"/>
          </a:xfrm>
          <a:prstGeom prst="roundRect">
            <a:avLst/>
          </a:prstGeom>
          <a:solidFill>
            <a:srgbClr val="FFFFFF"/>
          </a:solidFill>
          <a:ln w="16510">
            <a:solidFill>
              <a:srgbClr val="087FB8"/>
            </a:solidFill>
            <a:prstDash val="solid"/>
          </a:ln>
        </p:spPr>
      </p:sp>
      <p:sp>
        <p:nvSpPr>
          <p:cNvPr id="30" name="Shape 26"/>
          <p:cNvSpPr/>
          <p:nvPr/>
        </p:nvSpPr>
        <p:spPr>
          <a:xfrm>
            <a:off x="3717036" y="1849374"/>
            <a:ext cx="914" cy="135788"/>
          </a:xfrm>
          <a:prstGeom prst="line">
            <a:avLst/>
          </a:prstGeom>
          <a:noFill/>
          <a:ln w="16510">
            <a:solidFill>
              <a:srgbClr val="087FB8"/>
            </a:solidFill>
            <a:prstDash val="solid"/>
          </a:ln>
        </p:spPr>
      </p:sp>
      <p:sp>
        <p:nvSpPr>
          <p:cNvPr id="31" name="Shape 27"/>
          <p:cNvSpPr/>
          <p:nvPr/>
        </p:nvSpPr>
        <p:spPr>
          <a:xfrm>
            <a:off x="3659429" y="1915211"/>
            <a:ext cx="115214" cy="914"/>
          </a:xfrm>
          <a:prstGeom prst="line">
            <a:avLst/>
          </a:prstGeom>
          <a:noFill/>
          <a:ln w="16510">
            <a:solidFill>
              <a:srgbClr val="087FB8"/>
            </a:solidFill>
            <a:prstDash val="solid"/>
          </a:ln>
        </p:spPr>
      </p:sp>
      <p:sp>
        <p:nvSpPr>
          <p:cNvPr id="32" name="Text 28"/>
          <p:cNvSpPr/>
          <p:nvPr/>
        </p:nvSpPr>
        <p:spPr>
          <a:xfrm>
            <a:off x="4059936" y="1655064"/>
            <a:ext cx="1865376" cy="274320"/>
          </a:xfrm>
          <a:prstGeom prst="rect">
            <a:avLst/>
          </a:prstGeom>
          <a:noFill/>
          <a:ln/>
        </p:spPr>
        <p:txBody>
          <a:bodyPr wrap="square" lIns="0" tIns="0" rIns="0" bIns="0" rtlCol="0" anchor="ctr"/>
          <a:lstStyle/>
          <a:p>
            <a:pPr indent="0" marL="0">
              <a:buNone/>
            </a:pPr>
            <a:r>
              <a:rPr lang="en-US" sz="1500" b="1" dirty="0">
                <a:solidFill>
                  <a:srgbClr val="103A59"/>
                </a:solidFill>
                <a:latin typeface="Arial" pitchFamily="34" charset="0"/>
                <a:ea typeface="Arial" pitchFamily="34" charset="-122"/>
                <a:cs typeface="Arial" pitchFamily="34" charset="-120"/>
              </a:rPr>
              <a:t>Doctors</a:t>
            </a:r>
            <a:endParaRPr lang="en-US" sz="1500" dirty="0"/>
          </a:p>
        </p:txBody>
      </p:sp>
      <p:sp>
        <p:nvSpPr>
          <p:cNvPr id="33" name="Text 29"/>
          <p:cNvSpPr/>
          <p:nvPr/>
        </p:nvSpPr>
        <p:spPr>
          <a:xfrm>
            <a:off x="3520440" y="2185416"/>
            <a:ext cx="2404872" cy="548640"/>
          </a:xfrm>
          <a:prstGeom prst="rect">
            <a:avLst/>
          </a:prstGeom>
          <a:noFill/>
          <a:ln/>
        </p:spPr>
        <p:txBody>
          <a:bodyPr wrap="square" lIns="0" tIns="0" rIns="0" bIns="0" rtlCol="0" anchor="ctr"/>
          <a:lstStyle/>
          <a:p>
            <a:pPr indent="0" marL="0">
              <a:buNone/>
            </a:pPr>
            <a:r>
              <a:rPr lang="en-US" sz="1170" dirty="0">
                <a:solidFill>
                  <a:srgbClr val="233B4C"/>
                </a:solidFill>
                <a:latin typeface="Arial" pitchFamily="34" charset="0"/>
                <a:ea typeface="Arial" pitchFamily="34" charset="-122"/>
                <a:cs typeface="Arial" pitchFamily="34" charset="-120"/>
              </a:rPr>
              <a:t>Review-ready context with original evidence; traceable, correctable briefs.</a:t>
            </a:r>
            <a:endParaRPr lang="en-US" sz="1170" dirty="0"/>
          </a:p>
        </p:txBody>
      </p:sp>
      <p:sp>
        <p:nvSpPr>
          <p:cNvPr id="34" name="Shape 30"/>
          <p:cNvSpPr/>
          <p:nvPr/>
        </p:nvSpPr>
        <p:spPr>
          <a:xfrm>
            <a:off x="6263640" y="1481328"/>
            <a:ext cx="2688336" cy="1435608"/>
          </a:xfrm>
          <a:prstGeom prst="roundRect">
            <a:avLst>
              <a:gd name="adj" fmla="val 7643"/>
            </a:avLst>
          </a:prstGeom>
          <a:solidFill>
            <a:srgbClr val="DFF5F3"/>
          </a:solidFill>
          <a:ln w="10160">
            <a:solidFill>
              <a:srgbClr val="C5D9E3"/>
            </a:solidFill>
            <a:prstDash val="solid"/>
          </a:ln>
        </p:spPr>
      </p:sp>
      <p:sp>
        <p:nvSpPr>
          <p:cNvPr id="35" name="Shape 31"/>
          <p:cNvSpPr/>
          <p:nvPr/>
        </p:nvSpPr>
        <p:spPr>
          <a:xfrm>
            <a:off x="6441034" y="1734160"/>
            <a:ext cx="312725" cy="329184"/>
          </a:xfrm>
          <a:prstGeom prst="rect">
            <a:avLst>
              <a:gd name="adj" fmla="val 35088"/>
            </a:avLst>
          </a:prstGeom>
          <a:solidFill>
            <a:srgbClr val="FFFFFF"/>
          </a:solidFill>
          <a:ln w="10160">
            <a:solidFill>
              <a:srgbClr val="008F8B"/>
            </a:solidFill>
            <a:prstDash val="solid"/>
          </a:ln>
        </p:spPr>
      </p:sp>
      <p:sp>
        <p:nvSpPr>
          <p:cNvPr id="36" name="Shape 32"/>
          <p:cNvSpPr/>
          <p:nvPr/>
        </p:nvSpPr>
        <p:spPr>
          <a:xfrm>
            <a:off x="6548018" y="1771193"/>
            <a:ext cx="98755" cy="98755"/>
          </a:xfrm>
          <a:prstGeom prst="mathPlus">
            <a:avLst/>
          </a:prstGeom>
          <a:solidFill>
            <a:srgbClr val="008F8B"/>
          </a:solidFill>
          <a:ln w="12700">
            <a:solidFill>
              <a:srgbClr val="008F8B"/>
            </a:solidFill>
            <a:prstDash val="solid"/>
          </a:ln>
        </p:spPr>
      </p:sp>
      <p:sp>
        <p:nvSpPr>
          <p:cNvPr id="37" name="Shape 33"/>
          <p:cNvSpPr/>
          <p:nvPr/>
        </p:nvSpPr>
        <p:spPr>
          <a:xfrm>
            <a:off x="6490411" y="1915211"/>
            <a:ext cx="37033" cy="45263"/>
          </a:xfrm>
          <a:prstGeom prst="rect">
            <a:avLst>
              <a:gd name="adj" fmla="val 296298"/>
            </a:avLst>
          </a:prstGeom>
          <a:solidFill>
            <a:srgbClr val="EAF4FA"/>
          </a:solidFill>
          <a:ln w="10160">
            <a:solidFill>
              <a:srgbClr val="008F8B"/>
            </a:solidFill>
            <a:prstDash val="solid"/>
          </a:ln>
        </p:spPr>
      </p:sp>
      <p:sp>
        <p:nvSpPr>
          <p:cNvPr id="38" name="Shape 34"/>
          <p:cNvSpPr/>
          <p:nvPr/>
        </p:nvSpPr>
        <p:spPr>
          <a:xfrm>
            <a:off x="6568592" y="1915211"/>
            <a:ext cx="37033" cy="45263"/>
          </a:xfrm>
          <a:prstGeom prst="rect">
            <a:avLst>
              <a:gd name="adj" fmla="val 296298"/>
            </a:avLst>
          </a:prstGeom>
          <a:solidFill>
            <a:srgbClr val="EAF4FA"/>
          </a:solidFill>
          <a:ln w="10160">
            <a:solidFill>
              <a:srgbClr val="008F8B"/>
            </a:solidFill>
            <a:prstDash val="solid"/>
          </a:ln>
        </p:spPr>
      </p:sp>
      <p:sp>
        <p:nvSpPr>
          <p:cNvPr id="39" name="Shape 35"/>
          <p:cNvSpPr/>
          <p:nvPr/>
        </p:nvSpPr>
        <p:spPr>
          <a:xfrm>
            <a:off x="6646774" y="1915211"/>
            <a:ext cx="37033" cy="45263"/>
          </a:xfrm>
          <a:prstGeom prst="rect">
            <a:avLst>
              <a:gd name="adj" fmla="val 296298"/>
            </a:avLst>
          </a:prstGeom>
          <a:solidFill>
            <a:srgbClr val="EAF4FA"/>
          </a:solidFill>
          <a:ln w="10160">
            <a:solidFill>
              <a:srgbClr val="008F8B"/>
            </a:solidFill>
            <a:prstDash val="solid"/>
          </a:ln>
        </p:spPr>
      </p:sp>
      <p:sp>
        <p:nvSpPr>
          <p:cNvPr id="40" name="Text 36"/>
          <p:cNvSpPr/>
          <p:nvPr/>
        </p:nvSpPr>
        <p:spPr>
          <a:xfrm>
            <a:off x="6940296" y="1655064"/>
            <a:ext cx="1865376" cy="274320"/>
          </a:xfrm>
          <a:prstGeom prst="rect">
            <a:avLst/>
          </a:prstGeom>
          <a:noFill/>
          <a:ln/>
        </p:spPr>
        <p:txBody>
          <a:bodyPr wrap="square" lIns="0" tIns="0" rIns="0" bIns="0" rtlCol="0" anchor="ctr"/>
          <a:lstStyle/>
          <a:p>
            <a:pPr indent="0" marL="0">
              <a:buNone/>
            </a:pPr>
            <a:r>
              <a:rPr lang="en-US" sz="1500" b="1" dirty="0">
                <a:solidFill>
                  <a:srgbClr val="103A59"/>
                </a:solidFill>
                <a:latin typeface="Arial" pitchFamily="34" charset="0"/>
                <a:ea typeface="Arial" pitchFamily="34" charset="-122"/>
                <a:cs typeface="Arial" pitchFamily="34" charset="-120"/>
              </a:rPr>
              <a:t>Hospitals</a:t>
            </a:r>
            <a:endParaRPr lang="en-US" sz="1500" dirty="0"/>
          </a:p>
        </p:txBody>
      </p:sp>
      <p:sp>
        <p:nvSpPr>
          <p:cNvPr id="41" name="Text 37"/>
          <p:cNvSpPr/>
          <p:nvPr/>
        </p:nvSpPr>
        <p:spPr>
          <a:xfrm>
            <a:off x="6400800" y="2185416"/>
            <a:ext cx="2404872" cy="548640"/>
          </a:xfrm>
          <a:prstGeom prst="rect">
            <a:avLst/>
          </a:prstGeom>
          <a:noFill/>
          <a:ln/>
        </p:spPr>
        <p:txBody>
          <a:bodyPr wrap="square" lIns="0" tIns="0" rIns="0" bIns="0" rtlCol="0" anchor="ctr"/>
          <a:lstStyle/>
          <a:p>
            <a:pPr indent="0" marL="0">
              <a:buNone/>
            </a:pPr>
            <a:r>
              <a:rPr lang="en-US" sz="1170" dirty="0">
                <a:solidFill>
                  <a:srgbClr val="233B4C"/>
                </a:solidFill>
                <a:latin typeface="Arial" pitchFamily="34" charset="0"/>
                <a:ea typeface="Arial" pitchFamily="34" charset="-122"/>
                <a:cs typeface="Arial" pitchFamily="34" charset="-120"/>
              </a:rPr>
              <a:t>Task-scoped scheduling, report handling and coordination across handoffs.</a:t>
            </a:r>
            <a:endParaRPr lang="en-US" sz="1170" dirty="0"/>
          </a:p>
        </p:txBody>
      </p:sp>
      <p:sp>
        <p:nvSpPr>
          <p:cNvPr id="42" name="Shape 38"/>
          <p:cNvSpPr/>
          <p:nvPr/>
        </p:nvSpPr>
        <p:spPr>
          <a:xfrm>
            <a:off x="9144000" y="1481328"/>
            <a:ext cx="2688336" cy="1435608"/>
          </a:xfrm>
          <a:prstGeom prst="roundRect">
            <a:avLst>
              <a:gd name="adj" fmla="val 7643"/>
            </a:avLst>
          </a:prstGeom>
          <a:solidFill>
            <a:srgbClr val="EAF4FA"/>
          </a:solidFill>
          <a:ln w="10160">
            <a:solidFill>
              <a:srgbClr val="C5D9E3"/>
            </a:solidFill>
            <a:prstDash val="solid"/>
          </a:ln>
        </p:spPr>
      </p:sp>
      <p:sp>
        <p:nvSpPr>
          <p:cNvPr id="43" name="Shape 39"/>
          <p:cNvSpPr/>
          <p:nvPr/>
        </p:nvSpPr>
        <p:spPr>
          <a:xfrm rot="10800000">
            <a:off x="9272016" y="1664208"/>
            <a:ext cx="411480" cy="411480"/>
          </a:xfrm>
          <a:prstGeom prst="pentagon">
            <a:avLst/>
          </a:prstGeom>
          <a:solidFill>
            <a:srgbClr val="DFF5F3"/>
          </a:solidFill>
          <a:ln w="16510">
            <a:solidFill>
              <a:srgbClr val="087FB8"/>
            </a:solidFill>
            <a:prstDash val="solid"/>
          </a:ln>
        </p:spPr>
      </p:sp>
      <p:sp>
        <p:nvSpPr>
          <p:cNvPr id="44" name="Text 40"/>
          <p:cNvSpPr/>
          <p:nvPr/>
        </p:nvSpPr>
        <p:spPr>
          <a:xfrm>
            <a:off x="9346082" y="1725930"/>
            <a:ext cx="263347" cy="197510"/>
          </a:xfrm>
          <a:prstGeom prst="rect">
            <a:avLst/>
          </a:prstGeom>
          <a:noFill/>
          <a:ln/>
        </p:spPr>
        <p:txBody>
          <a:bodyPr wrap="square" lIns="0" tIns="0" rIns="0" bIns="0" rtlCol="0" anchor="ctr"/>
          <a:lstStyle/>
          <a:p>
            <a:pPr algn="ctr" indent="0" marL="0">
              <a:buNone/>
            </a:pPr>
            <a:r>
              <a:rPr lang="en-US" sz="1395" b="1" dirty="0">
                <a:solidFill>
                  <a:srgbClr val="087FB8"/>
                </a:solidFill>
                <a:latin typeface="Arial" pitchFamily="34" charset="0"/>
                <a:ea typeface="Arial" pitchFamily="34" charset="-122"/>
                <a:cs typeface="Arial" pitchFamily="34" charset="-120"/>
              </a:rPr>
              <a:t>✓</a:t>
            </a:r>
            <a:endParaRPr lang="en-US" sz="1395" dirty="0"/>
          </a:p>
        </p:txBody>
      </p:sp>
      <p:sp>
        <p:nvSpPr>
          <p:cNvPr id="45" name="Text 41"/>
          <p:cNvSpPr/>
          <p:nvPr/>
        </p:nvSpPr>
        <p:spPr>
          <a:xfrm>
            <a:off x="9820656" y="1655064"/>
            <a:ext cx="1865376" cy="274320"/>
          </a:xfrm>
          <a:prstGeom prst="rect">
            <a:avLst/>
          </a:prstGeom>
          <a:noFill/>
          <a:ln/>
        </p:spPr>
        <p:txBody>
          <a:bodyPr wrap="square" lIns="0" tIns="0" rIns="0" bIns="0" rtlCol="0" anchor="ctr"/>
          <a:lstStyle/>
          <a:p>
            <a:pPr indent="0" marL="0">
              <a:buNone/>
            </a:pPr>
            <a:r>
              <a:rPr lang="en-US" sz="1500" b="1" dirty="0">
                <a:solidFill>
                  <a:srgbClr val="103A59"/>
                </a:solidFill>
                <a:latin typeface="Arial" pitchFamily="34" charset="0"/>
                <a:ea typeface="Arial" pitchFamily="34" charset="-122"/>
                <a:cs typeface="Arial" pitchFamily="34" charset="-120"/>
              </a:rPr>
              <a:t>Administrators</a:t>
            </a:r>
            <a:endParaRPr lang="en-US" sz="1500" dirty="0"/>
          </a:p>
        </p:txBody>
      </p:sp>
      <p:sp>
        <p:nvSpPr>
          <p:cNvPr id="46" name="Text 42"/>
          <p:cNvSpPr/>
          <p:nvPr/>
        </p:nvSpPr>
        <p:spPr>
          <a:xfrm>
            <a:off x="9281160" y="2185416"/>
            <a:ext cx="2404872" cy="548640"/>
          </a:xfrm>
          <a:prstGeom prst="rect">
            <a:avLst/>
          </a:prstGeom>
          <a:noFill/>
          <a:ln/>
        </p:spPr>
        <p:txBody>
          <a:bodyPr wrap="square" lIns="0" tIns="0" rIns="0" bIns="0" rtlCol="0" anchor="ctr"/>
          <a:lstStyle/>
          <a:p>
            <a:pPr indent="0" marL="0">
              <a:buNone/>
            </a:pPr>
            <a:r>
              <a:rPr lang="en-US" sz="1170" dirty="0">
                <a:solidFill>
                  <a:srgbClr val="233B4C"/>
                </a:solidFill>
                <a:latin typeface="Arial" pitchFamily="34" charset="0"/>
                <a:ea typeface="Arial" pitchFamily="34" charset="-122"/>
                <a:cs typeface="Arial" pitchFamily="34" charset="-120"/>
              </a:rPr>
              <a:t>Aggregate workflow trends without routine access to patient medical files.</a:t>
            </a:r>
            <a:endParaRPr lang="en-US" sz="1170" dirty="0"/>
          </a:p>
        </p:txBody>
      </p:sp>
      <p:sp>
        <p:nvSpPr>
          <p:cNvPr id="47" name="Text 43"/>
          <p:cNvSpPr/>
          <p:nvPr/>
        </p:nvSpPr>
        <p:spPr>
          <a:xfrm>
            <a:off x="502920" y="3182112"/>
            <a:ext cx="777240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PROPOSED EVALUATION FRAMEWORK</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3502152"/>
          <a:ext cx="11375136" cy="2606040"/>
        </p:xfrm>
        <a:graphic>
          <a:graphicData uri="http://schemas.openxmlformats.org/drawingml/2006/table">
            <a:tbl>
              <a:tblPr/>
              <a:tblGrid>
                <a:gridCol w="2889504"/>
                <a:gridCol w="2834640"/>
                <a:gridCol w="5650992"/>
              </a:tblGrid>
              <a:tr h="374904">
                <a:tc>
                  <a:txBody>
                    <a:bodyPr/>
                    <a:lstStyle/>
                    <a:p>
                      <a:pPr indent="0" marL="0">
                        <a:buNone/>
                      </a:pPr>
                      <a:r>
                        <a:rPr lang="en-US" sz="1130" b="1" dirty="0">
                          <a:solidFill>
                            <a:srgbClr val="FFFFFF"/>
                          </a:solidFill>
                          <a:latin typeface="Arial" pitchFamily="34" charset="0"/>
                          <a:ea typeface="Arial" pitchFamily="34" charset="-122"/>
                          <a:cs typeface="Arial" pitchFamily="34" charset="-120"/>
                        </a:rPr>
                        <a:t>Question</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c>
                  <a:txBody>
                    <a:bodyPr/>
                    <a:lstStyle/>
                    <a:p>
                      <a:pPr indent="0" marL="0">
                        <a:buNone/>
                      </a:pPr>
                      <a:r>
                        <a:rPr lang="en-US" sz="1130" b="1" dirty="0">
                          <a:solidFill>
                            <a:srgbClr val="FFFFFF"/>
                          </a:solidFill>
                          <a:latin typeface="Arial" pitchFamily="34" charset="0"/>
                          <a:ea typeface="Arial" pitchFamily="34" charset="-122"/>
                          <a:cs typeface="Arial" pitchFamily="34" charset="-120"/>
                        </a:rPr>
                        <a:t>Metric</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c>
                  <a:txBody>
                    <a:bodyPr/>
                    <a:lstStyle/>
                    <a:p>
                      <a:pPr indent="0" marL="0">
                        <a:buNone/>
                      </a:pPr>
                      <a:r>
                        <a:rPr lang="en-US" sz="1130" b="1" dirty="0">
                          <a:solidFill>
                            <a:srgbClr val="FFFFFF"/>
                          </a:solidFill>
                          <a:latin typeface="Arial" pitchFamily="34" charset="0"/>
                          <a:ea typeface="Arial" pitchFamily="34" charset="-122"/>
                          <a:cs typeface="Arial" pitchFamily="34" charset="-120"/>
                        </a:rPr>
                        <a:t>How to evaluate—not a result</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r>
              <a:tr h="374904">
                <a:tc>
                  <a:txBody>
                    <a:bodyPr/>
                    <a:lstStyle/>
                    <a:p>
                      <a:pPr indent="0" marL="0">
                        <a:buNone/>
                      </a:pPr>
                      <a:r>
                        <a:rPr lang="en-US" sz="1130" dirty="0">
                          <a:solidFill>
                            <a:srgbClr val="233B4C"/>
                          </a:solidFill>
                          <a:latin typeface="Arial" pitchFamily="34" charset="0"/>
                          <a:ea typeface="Arial" pitchFamily="34" charset="-122"/>
                          <a:cs typeface="Arial" pitchFamily="34" charset="-120"/>
                        </a:rPr>
                        <a:t>Can users find relevant evidence?</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Locate / review time</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Within-user baseline comparison; matched record packs; medians + spread.</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74904">
                <a:tc>
                  <a:txBody>
                    <a:bodyPr/>
                    <a:lstStyle/>
                    <a:p>
                      <a:pPr indent="0" marL="0">
                        <a:buNone/>
                      </a:pPr>
                      <a:r>
                        <a:rPr lang="en-US" sz="1130" dirty="0">
                          <a:solidFill>
                            <a:srgbClr val="233B4C"/>
                          </a:solidFill>
                          <a:latin typeface="Arial" pitchFamily="34" charset="0"/>
                          <a:ea typeface="Arial" pitchFamily="34" charset="-122"/>
                          <a:cs typeface="Arial" pitchFamily="34" charset="-120"/>
                        </a:rPr>
                        <a:t>Is extraction dependable?</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Field-level extraction accuracy</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Held-out annotated reports; date / value / unit correctness; critical-error review.</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74904">
                <a:tc>
                  <a:txBody>
                    <a:bodyPr/>
                    <a:lstStyle/>
                    <a:p>
                      <a:pPr indent="0" marL="0">
                        <a:buNone/>
                      </a:pPr>
                      <a:r>
                        <a:rPr lang="en-US" sz="1130" dirty="0">
                          <a:solidFill>
                            <a:srgbClr val="233B4C"/>
                          </a:solidFill>
                          <a:latin typeface="Arial" pitchFamily="34" charset="0"/>
                          <a:ea typeface="Arial" pitchFamily="34" charset="-122"/>
                          <a:cs typeface="Arial" pitchFamily="34" charset="-120"/>
                        </a:rPr>
                        <a:t>Are briefs grounded?</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Unsupported claims + correction rate</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Blinded clinician assessment; source support; corrections per reviewed brief.</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74904">
                <a:tc>
                  <a:txBody>
                    <a:bodyPr/>
                    <a:lstStyle/>
                    <a:p>
                      <a:pPr indent="0" marL="0">
                        <a:buNone/>
                      </a:pPr>
                      <a:r>
                        <a:rPr lang="en-US" sz="1130" dirty="0">
                          <a:solidFill>
                            <a:srgbClr val="233B4C"/>
                          </a:solidFill>
                          <a:latin typeface="Arial" pitchFamily="34" charset="0"/>
                          <a:ea typeface="Arial" pitchFamily="34" charset="-122"/>
                          <a:cs typeface="Arial" pitchFamily="34" charset="-120"/>
                        </a:rPr>
                        <a:t>Does coordination help?</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Follow-up completion</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Defined observation window; track missing data and comparison conditions.</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74904">
                <a:tc>
                  <a:txBody>
                    <a:bodyPr/>
                    <a:lstStyle/>
                    <a:p>
                      <a:pPr indent="0" marL="0">
                        <a:buNone/>
                      </a:pPr>
                      <a:r>
                        <a:rPr lang="en-US" sz="1130" dirty="0">
                          <a:solidFill>
                            <a:srgbClr val="233B4C"/>
                          </a:solidFill>
                          <a:latin typeface="Arial" pitchFamily="34" charset="0"/>
                          <a:ea typeface="Arial" pitchFamily="34" charset="-122"/>
                          <a:cs typeface="Arial" pitchFamily="34" charset="-120"/>
                        </a:rPr>
                        <a:t>Will users adopt it?</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Task success + satisfaction</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Patient / clinician usability sessions; accessible-language comprehension.</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374904">
                <a:tc>
                  <a:txBody>
                    <a:bodyPr/>
                    <a:lstStyle/>
                    <a:p>
                      <a:pPr indent="0" marL="0">
                        <a:buNone/>
                      </a:pPr>
                      <a:r>
                        <a:rPr lang="en-US" sz="1130" dirty="0">
                          <a:solidFill>
                            <a:srgbClr val="233B4C"/>
                          </a:solidFill>
                          <a:latin typeface="Arial" pitchFamily="34" charset="0"/>
                          <a:ea typeface="Arial" pitchFamily="34" charset="-122"/>
                          <a:cs typeface="Arial" pitchFamily="34" charset="-120"/>
                        </a:rPr>
                        <a:t>Are records protected?</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Access-test failures + incidents</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130" dirty="0">
                          <a:solidFill>
                            <a:srgbClr val="233B4C"/>
                          </a:solidFill>
                          <a:latin typeface="Arial" pitchFamily="34" charset="0"/>
                          <a:ea typeface="Arial" pitchFamily="34" charset="-122"/>
                          <a:cs typeface="Arial" pitchFamily="34" charset="-120"/>
                        </a:rPr>
                        <a:t>Role / consent negative tests; severity, near misses and response time.</a:t>
                      </a:r>
                      <a:endParaRPr lang="en-US" sz="113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RESEARCH &amp; REFERENCES</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Learn from existing ecosystems; validate our own claims</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Official sources support design choices—not endorsement, integration, novelty or clinical efficacy. Links are clickable.</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11 / 12</a:t>
            </a:r>
            <a:endParaRPr lang="en-US" sz="950" dirty="0"/>
          </a:p>
        </p:txBody>
      </p:sp>
      <p:sp>
        <p:nvSpPr>
          <p:cNvPr id="22" name="Text 18"/>
          <p:cNvSpPr/>
          <p:nvPr/>
        </p:nvSpPr>
        <p:spPr>
          <a:xfrm>
            <a:off x="502920" y="1389888"/>
            <a:ext cx="534924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INDIA &amp; GLOBAL CONTEXT</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746504"/>
          <a:ext cx="6126480" cy="3392424"/>
        </p:xfrm>
        <a:graphic>
          <a:graphicData uri="http://schemas.openxmlformats.org/drawingml/2006/table">
            <a:tbl>
              <a:tblPr/>
              <a:tblGrid>
                <a:gridCol w="2313432"/>
                <a:gridCol w="3813048"/>
              </a:tblGrid>
              <a:tr h="484632">
                <a:tc>
                  <a:txBody>
                    <a:bodyPr/>
                    <a:lstStyle/>
                    <a:p>
                      <a:pPr indent="0" marL="0">
                        <a:buNone/>
                      </a:pPr>
                      <a:r>
                        <a:rPr lang="en-US" sz="1090" b="1" dirty="0">
                          <a:solidFill>
                            <a:srgbClr val="FFFFFF"/>
                          </a:solidFill>
                          <a:latin typeface="Arial" pitchFamily="34" charset="0"/>
                          <a:ea typeface="Arial" pitchFamily="34" charset="-122"/>
                          <a:cs typeface="Arial" pitchFamily="34" charset="-120"/>
                        </a:rPr>
                        <a:t>Official source</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c>
                  <a:txBody>
                    <a:bodyPr/>
                    <a:lstStyle/>
                    <a:p>
                      <a:pPr indent="0" marL="0">
                        <a:buNone/>
                      </a:pPr>
                      <a:r>
                        <a:rPr lang="en-US" sz="1090" b="1" dirty="0">
                          <a:solidFill>
                            <a:srgbClr val="FFFFFF"/>
                          </a:solidFill>
                          <a:latin typeface="Arial" pitchFamily="34" charset="0"/>
                          <a:ea typeface="Arial" pitchFamily="34" charset="-122"/>
                          <a:cs typeface="Arial" pitchFamily="34" charset="-120"/>
                        </a:rPr>
                        <a:t>Design relevance</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r>
              <a:tr h="484632">
                <a:tc>
                  <a:txBody>
                    <a:bodyPr/>
                    <a:lstStyle/>
                    <a:p>
                      <a:pPr indent="0" marL="0">
                        <a:buNone/>
                      </a:pPr>
                      <a:r>
                        <a:rPr lang="en-US" sz="1090" u="sng" dirty="0">
                          <a:solidFill>
                            <a:srgbClr val="087FB8"/>
                          </a:solidFill>
                          <a:latin typeface="Arial" pitchFamily="34" charset="0"/>
                          <a:ea typeface="Arial" pitchFamily="34" charset="-122"/>
                          <a:cs typeface="Arial" pitchFamily="34" charset="-120"/>
                          <a:hlinkClick r:id="rId11" invalidUrl="" action="" tgtFrame="" tooltip="https://www.who.int/publications/i/item/9789240029200" history="1" highlightClick="0" endSnd="0">
                            <a:extLst>
                              <a:ext uri="{A12FA001-AC4F-418D-AE19-62706E023703}">
                                <ahyp:hlinkClr xmlns:ahyp="http://schemas.microsoft.com/office/drawing/2018/hyperlinkcolor" val="tx"/>
                              </a:ext>
                            </a:extLst>
                          </a:hlinkClick>
                        </a:rPr>
                        <a:t>WHO • AI ethics (2021)</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Oversight, transparency and accountable governance.</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u="sng" dirty="0">
                          <a:solidFill>
                            <a:srgbClr val="087FB8"/>
                          </a:solidFill>
                          <a:latin typeface="Arial" pitchFamily="34" charset="0"/>
                          <a:ea typeface="Arial" pitchFamily="34" charset="-122"/>
                          <a:cs typeface="Arial" pitchFamily="34" charset="-120"/>
                          <a:hlinkClick r:id="rId12" invalidUrl="" action="" tgtFrame="" tooltip="https://hl7.org/fhir/overview.html" history="1" highlightClick="0" endSnd="0">
                            <a:extLst>
                              <a:ext uri="{A12FA001-AC4F-418D-AE19-62706E023703}">
                                <ahyp:hlinkClr xmlns:ahyp="http://schemas.microsoft.com/office/drawing/2018/hyperlinkcolor" val="tx"/>
                              </a:ext>
                            </a:extLst>
                          </a:hlinkClick>
                        </a:rPr>
                        <a:t>HL7 • FHIR</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Electronic health-information exchange standard.</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u="sng" dirty="0">
                          <a:solidFill>
                            <a:srgbClr val="087FB8"/>
                          </a:solidFill>
                          <a:latin typeface="Arial" pitchFamily="34" charset="0"/>
                          <a:ea typeface="Arial" pitchFamily="34" charset="-122"/>
                          <a:cs typeface="Arial" pitchFamily="34" charset="-120"/>
                          <a:hlinkClick r:id="rId13" invalidUrl="" action="" tgtFrame="" tooltip="https://abdm.gov.in/FAQ" history="1" highlightClick="0" endSnd="0">
                            <a:extLst>
                              <a:ext uri="{A12FA001-AC4F-418D-AE19-62706E023703}">
                                <ahyp:hlinkClr xmlns:ahyp="http://schemas.microsoft.com/office/drawing/2018/hyperlinkcolor" val="tx"/>
                              </a:ext>
                            </a:extLst>
                          </a:hlinkClick>
                        </a:rPr>
                        <a:t>ABDM / ABHA • India</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PHR, health-record access and consent context.</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u="sng" dirty="0">
                          <a:solidFill>
                            <a:srgbClr val="087FB8"/>
                          </a:solidFill>
                          <a:latin typeface="Arial" pitchFamily="34" charset="0"/>
                          <a:ea typeface="Arial" pitchFamily="34" charset="-122"/>
                          <a:cs typeface="Arial" pitchFamily="34" charset="-120"/>
                          <a:hlinkClick r:id="rId14" invalidUrl="" action="" tgtFrame="" tooltip="https://www.nhs.uk/nhs-app/account/" history="1" highlightClick="0" endSnd="0">
                            <a:extLst>
                              <a:ext uri="{A12FA001-AC4F-418D-AE19-62706E023703}">
                                <ahyp:hlinkClr xmlns:ahyp="http://schemas.microsoft.com/office/drawing/2018/hyperlinkcolor" val="tx"/>
                              </a:ext>
                            </a:extLst>
                          </a:hlinkClick>
                        </a:rPr>
                        <a:t>NHS App • England</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Records, prescriptions and appointment services.</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u="sng" dirty="0">
                          <a:solidFill>
                            <a:srgbClr val="087FB8"/>
                          </a:solidFill>
                          <a:latin typeface="Arial" pitchFamily="34" charset="0"/>
                          <a:ea typeface="Arial" pitchFamily="34" charset="-122"/>
                          <a:cs typeface="Arial" pitchFamily="34" charset="-120"/>
                          <a:hlinkClick r:id="rId15" invalidUrl="" action="" tgtFrame="" tooltip="https://www.mychart.org/" history="1" highlightClick="0" endSnd="0">
                            <a:extLst>
                              <a:ext uri="{A12FA001-AC4F-418D-AE19-62706E023703}">
                                <ahyp:hlinkClr xmlns:ahyp="http://schemas.microsoft.com/office/drawing/2018/hyperlinkcolor" val="tx"/>
                              </a:ext>
                            </a:extLst>
                          </a:hlinkClick>
                        </a:rPr>
                        <a:t>MyChart • Epic</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Patient portal: records and care coordination.</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u="sng" dirty="0">
                          <a:solidFill>
                            <a:srgbClr val="087FB8"/>
                          </a:solidFill>
                          <a:latin typeface="Arial" pitchFamily="34" charset="0"/>
                          <a:ea typeface="Arial" pitchFamily="34" charset="-122"/>
                          <a:cs typeface="Arial" pitchFamily="34" charset="-120"/>
                          <a:hlinkClick r:id="rId16" invalidUrl="" action="" tgtFrame="" tooltip="https://www.meity.gov.in/static/uploads/2025/11/c56ceae6c383460ca69577428d36828b.pdf" history="1" highlightClick="0" endSnd="0">
                            <a:extLst>
                              <a:ext uri="{A12FA001-AC4F-418D-AE19-62706E023703}">
                                <ahyp:hlinkClr xmlns:ahyp="http://schemas.microsoft.com/office/drawing/2018/hyperlinkcolor" val="tx"/>
                              </a:ext>
                            </a:extLst>
                          </a:hlinkClick>
                        </a:rPr>
                        <a:t>MeitY • DPDP notification</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Phased commencement; legal review needed.</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bl>
          </a:graphicData>
        </a:graphic>
      </p:graphicFrame>
      <p:sp>
        <p:nvSpPr>
          <p:cNvPr id="24" name="Text 19"/>
          <p:cNvSpPr/>
          <p:nvPr/>
        </p:nvSpPr>
        <p:spPr>
          <a:xfrm>
            <a:off x="548640" y="5285232"/>
            <a:ext cx="6035040" cy="347472"/>
          </a:xfrm>
          <a:prstGeom prst="rect">
            <a:avLst/>
          </a:prstGeom>
          <a:noFill/>
          <a:ln/>
        </p:spPr>
        <p:txBody>
          <a:bodyPr wrap="square" lIns="0" tIns="0" rIns="0" bIns="0" rtlCol="0" anchor="ctr"/>
          <a:lstStyle/>
          <a:p>
            <a:pPr indent="0" marL="0">
              <a:buNone/>
            </a:pPr>
            <a:r>
              <a:rPr lang="en-US" sz="1040" dirty="0">
                <a:solidFill>
                  <a:srgbClr val="5E7281"/>
                </a:solidFill>
                <a:latin typeface="Arial" pitchFamily="34" charset="0"/>
                <a:ea typeface="Arial" pitchFamily="34" charset="-122"/>
                <a:cs typeface="Arial" pitchFamily="34" charset="-120"/>
              </a:rPr>
              <a:t>Full source URLs, verification notes and comparison limitations are in presenter notes and the evidence companion.</a:t>
            </a:r>
            <a:endParaRPr lang="en-US" sz="1040" dirty="0"/>
          </a:p>
        </p:txBody>
      </p:sp>
      <p:sp>
        <p:nvSpPr>
          <p:cNvPr id="25" name="Text 20"/>
          <p:cNvSpPr/>
          <p:nvPr/>
        </p:nvSpPr>
        <p:spPr>
          <a:xfrm>
            <a:off x="6876288" y="1389888"/>
            <a:ext cx="4956048"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DOCUMENTED SCOPE ≠ PROOF OF DIFFERENTIATION</a:t>
            </a:r>
            <a:endParaRPr lang="en-US" sz="10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876288" y="1746504"/>
          <a:ext cx="5001768" cy="2450592"/>
        </p:xfrm>
        <a:graphic>
          <a:graphicData uri="http://schemas.openxmlformats.org/drawingml/2006/table">
            <a:tbl>
              <a:tblPr/>
              <a:tblGrid>
                <a:gridCol w="1600200"/>
                <a:gridCol w="3401568"/>
              </a:tblGrid>
              <a:tr h="484632">
                <a:tc>
                  <a:txBody>
                    <a:bodyPr/>
                    <a:lstStyle/>
                    <a:p>
                      <a:pPr indent="0" marL="0">
                        <a:buNone/>
                      </a:pPr>
                      <a:r>
                        <a:rPr lang="en-US" sz="1090" b="1" dirty="0">
                          <a:solidFill>
                            <a:srgbClr val="FFFFFF"/>
                          </a:solidFill>
                          <a:latin typeface="Arial" pitchFamily="34" charset="0"/>
                          <a:ea typeface="Arial" pitchFamily="34" charset="-122"/>
                          <a:cs typeface="Arial" pitchFamily="34" charset="-120"/>
                        </a:rPr>
                        <a:t>Example</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c>
                  <a:txBody>
                    <a:bodyPr/>
                    <a:lstStyle/>
                    <a:p>
                      <a:pPr indent="0" marL="0">
                        <a:buNone/>
                      </a:pPr>
                      <a:r>
                        <a:rPr lang="en-US" sz="1090" b="1" dirty="0">
                          <a:solidFill>
                            <a:srgbClr val="FFFFFF"/>
                          </a:solidFill>
                          <a:latin typeface="Arial" pitchFamily="34" charset="0"/>
                          <a:ea typeface="Arial" pitchFamily="34" charset="-122"/>
                          <a:cs typeface="Arial" pitchFamily="34" charset="-120"/>
                        </a:rPr>
                        <a:t>Documented emphasis</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103A59"/>
                    </a:solidFill>
                  </a:tcPr>
                </a:tc>
              </a:tr>
              <a:tr h="484632">
                <a:tc>
                  <a:txBody>
                    <a:bodyPr/>
                    <a:lstStyle/>
                    <a:p>
                      <a:pPr indent="0" marL="0">
                        <a:buNone/>
                      </a:pPr>
                      <a:r>
                        <a:rPr lang="en-US" sz="1090" dirty="0">
                          <a:solidFill>
                            <a:srgbClr val="233B4C"/>
                          </a:solidFill>
                          <a:latin typeface="Arial" pitchFamily="34" charset="0"/>
                          <a:ea typeface="Arial" pitchFamily="34" charset="-122"/>
                          <a:cs typeface="Arial" pitchFamily="34" charset="-120"/>
                        </a:rPr>
                        <a:t>ABDM / ABHA • India</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Identity and consent-enabled digital health exchange.</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dirty="0">
                          <a:solidFill>
                            <a:srgbClr val="233B4C"/>
                          </a:solidFill>
                          <a:latin typeface="Arial" pitchFamily="34" charset="0"/>
                          <a:ea typeface="Arial" pitchFamily="34" charset="-122"/>
                          <a:cs typeface="Arial" pitchFamily="34" charset="-120"/>
                        </a:rPr>
                        <a:t>NHS App • UK</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Patient access to records and care services.</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dirty="0">
                          <a:solidFill>
                            <a:srgbClr val="233B4C"/>
                          </a:solidFill>
                          <a:latin typeface="Arial" pitchFamily="34" charset="0"/>
                          <a:ea typeface="Arial" pitchFamily="34" charset="-122"/>
                          <a:cs typeface="Arial" pitchFamily="34" charset="-120"/>
                        </a:rPr>
                        <a:t>MyChart • international</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Patient portal with records and care coordination.</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r h="484632">
                <a:tc>
                  <a:txBody>
                    <a:bodyPr/>
                    <a:lstStyle/>
                    <a:p>
                      <a:pPr indent="0" marL="0">
                        <a:buNone/>
                      </a:pPr>
                      <a:r>
                        <a:rPr lang="en-US" sz="1090" dirty="0">
                          <a:solidFill>
                            <a:srgbClr val="233B4C"/>
                          </a:solidFill>
                          <a:latin typeface="Arial" pitchFamily="34" charset="0"/>
                          <a:ea typeface="Arial" pitchFamily="34" charset="-122"/>
                          <a:cs typeface="Arial" pitchFamily="34" charset="-120"/>
                        </a:rPr>
                        <a:t>MediConnect AI • proposed</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c>
                  <a:txBody>
                    <a:bodyPr/>
                    <a:lstStyle/>
                    <a:p>
                      <a:pPr indent="0" marL="0">
                        <a:buNone/>
                      </a:pPr>
                      <a:r>
                        <a:rPr lang="en-US" sz="1090" dirty="0">
                          <a:solidFill>
                            <a:srgbClr val="233B4C"/>
                          </a:solidFill>
                          <a:latin typeface="Arial" pitchFamily="34" charset="0"/>
                          <a:ea typeface="Arial" pitchFamily="34" charset="-122"/>
                          <a:cs typeface="Arial" pitchFamily="34" charset="-120"/>
                        </a:rPr>
                        <a:t>Source-linked report brief + longitudinal history + clinician review.</a:t>
                      </a:r>
                      <a:endParaRPr lang="en-US" sz="1090" dirty="0">
                        <a:latin typeface="Arial" charset="0"/>
                        <a:ea typeface="Arial" charset="0"/>
                        <a:cs typeface="Arial" charset="0"/>
                      </a:endParaRPr>
                    </a:p>
                  </a:txBody>
                  <a:tcPr marL="82296" marR="82296" marT="82296" marB="82296">
                    <a:lnL w="8890" cap="flat" cmpd="sng" algn="ctr">
                      <a:solidFill>
                        <a:srgbClr val="C5D9E3"/>
                      </a:solidFill>
                      <a:prstDash val="solid"/>
                      <a:round/>
                      <a:headEnd type="none" w="med" len="med"/>
                      <a:tailEnd type="none" w="med" len="med"/>
                    </a:lnL>
                    <a:lnR w="8890" cap="flat" cmpd="sng" algn="ctr">
                      <a:solidFill>
                        <a:srgbClr val="C5D9E3"/>
                      </a:solidFill>
                      <a:prstDash val="solid"/>
                      <a:round/>
                      <a:headEnd type="none" w="med" len="med"/>
                      <a:tailEnd type="none" w="med" len="med"/>
                    </a:lnR>
                    <a:lnT w="8890" cap="flat" cmpd="sng" algn="ctr">
                      <a:solidFill>
                        <a:srgbClr val="C5D9E3"/>
                      </a:solidFill>
                      <a:prstDash val="solid"/>
                      <a:round/>
                      <a:headEnd type="none" w="med" len="med"/>
                      <a:tailEnd type="none" w="med" len="med"/>
                    </a:lnT>
                    <a:lnB w="8890" cap="flat" cmpd="sng" algn="ctr">
                      <a:solidFill>
                        <a:srgbClr val="C5D9E3"/>
                      </a:solidFill>
                      <a:prstDash val="solid"/>
                      <a:round/>
                      <a:headEnd type="none" w="med" len="med"/>
                      <a:tailEnd type="none" w="med" len="med"/>
                    </a:lnB>
                    <a:solidFill>
                      <a:srgbClr val="FFFFFF"/>
                    </a:solidFill>
                  </a:tcPr>
                </a:tc>
              </a:tr>
            </a:tbl>
          </a:graphicData>
        </a:graphic>
      </p:graphicFrame>
      <p:sp>
        <p:nvSpPr>
          <p:cNvPr id="27" name="Shape 21"/>
          <p:cNvSpPr/>
          <p:nvPr/>
        </p:nvSpPr>
        <p:spPr>
          <a:xfrm>
            <a:off x="6876288" y="4434840"/>
            <a:ext cx="5001768" cy="987552"/>
          </a:xfrm>
          <a:prstGeom prst="roundRect">
            <a:avLst>
              <a:gd name="adj" fmla="val 11111"/>
            </a:avLst>
          </a:prstGeom>
          <a:solidFill>
            <a:srgbClr val="FFF3DE"/>
          </a:solidFill>
          <a:ln w="10160">
            <a:solidFill>
              <a:srgbClr val="C5D9E3"/>
            </a:solidFill>
            <a:prstDash val="solid"/>
          </a:ln>
        </p:spPr>
      </p:sp>
      <p:sp>
        <p:nvSpPr>
          <p:cNvPr id="28" name="Text 22"/>
          <p:cNvSpPr/>
          <p:nvPr/>
        </p:nvSpPr>
        <p:spPr>
          <a:xfrm>
            <a:off x="7022592" y="4553712"/>
            <a:ext cx="4681728" cy="237744"/>
          </a:xfrm>
          <a:prstGeom prst="rect">
            <a:avLst/>
          </a:prstGeom>
          <a:noFill/>
          <a:ln/>
        </p:spPr>
        <p:txBody>
          <a:bodyPr wrap="square" lIns="0" tIns="0" rIns="0" bIns="0" rtlCol="0" anchor="ctr"/>
          <a:lstStyle/>
          <a:p>
            <a:pPr indent="0" marL="0">
              <a:buNone/>
            </a:pPr>
            <a:r>
              <a:rPr lang="en-US" sz="1200" b="1" dirty="0">
                <a:solidFill>
                  <a:srgbClr val="B46B12"/>
                </a:solidFill>
                <a:latin typeface="Arial" pitchFamily="34" charset="0"/>
                <a:ea typeface="Arial" pitchFamily="34" charset="-122"/>
                <a:cs typeface="Arial" pitchFamily="34" charset="-120"/>
              </a:rPr>
              <a:t>Scope comparison, not an exhaustive feature audit</a:t>
            </a:r>
            <a:endParaRPr lang="en-US" sz="1200" dirty="0"/>
          </a:p>
        </p:txBody>
      </p:sp>
      <p:sp>
        <p:nvSpPr>
          <p:cNvPr id="29" name="Text 23"/>
          <p:cNvSpPr/>
          <p:nvPr/>
        </p:nvSpPr>
        <p:spPr>
          <a:xfrm>
            <a:off x="7022592" y="4910328"/>
            <a:ext cx="4681728" cy="347472"/>
          </a:xfrm>
          <a:prstGeom prst="rect">
            <a:avLst/>
          </a:prstGeom>
          <a:noFill/>
          <a:ln/>
        </p:spPr>
        <p:txBody>
          <a:bodyPr wrap="square" lIns="0" tIns="0" rIns="0" bIns="0" rtlCol="0" anchor="ctr"/>
          <a:lstStyle/>
          <a:p>
            <a:pPr indent="0" marL="0">
              <a:buNone/>
            </a:pPr>
            <a:r>
              <a:rPr lang="en-US" sz="1080" dirty="0">
                <a:solidFill>
                  <a:srgbClr val="233B4C"/>
                </a:solidFill>
                <a:latin typeface="Arial" pitchFamily="34" charset="0"/>
                <a:ea typeface="Arial" pitchFamily="34" charset="-122"/>
                <a:cs typeface="Arial" pitchFamily="34" charset="-120"/>
              </a:rPr>
              <a:t>We do not claim these systems lack AI, that this concept is unique, or that interoperability already works.</a:t>
            </a:r>
            <a:endParaRPr lang="en-US" sz="1080" dirty="0"/>
          </a:p>
        </p:txBody>
      </p:sp>
      <p:sp>
        <p:nvSpPr>
          <p:cNvPr id="30" name="Text 24"/>
          <p:cNvSpPr/>
          <p:nvPr/>
        </p:nvSpPr>
        <p:spPr>
          <a:xfrm>
            <a:off x="502920" y="5742432"/>
            <a:ext cx="7955280" cy="210312"/>
          </a:xfrm>
          <a:prstGeom prst="rect">
            <a:avLst/>
          </a:prstGeom>
          <a:noFill/>
          <a:ln/>
        </p:spPr>
        <p:txBody>
          <a:bodyPr wrap="square" lIns="0" tIns="0" rIns="0" bIns="0" rtlCol="0" anchor="ctr"/>
          <a:lstStyle/>
          <a:p>
            <a:pPr indent="0" marL="0">
              <a:buNone/>
            </a:pPr>
            <a:r>
              <a:rPr lang="en-US" sz="1050" b="1" spc="70" kern="0" dirty="0">
                <a:solidFill>
                  <a:srgbClr val="6C5B96"/>
                </a:solidFill>
                <a:latin typeface="Arial" pitchFamily="34" charset="0"/>
                <a:ea typeface="Arial" pitchFamily="34" charset="-122"/>
                <a:cs typeface="Arial" pitchFamily="34" charset="-120"/>
              </a:rPr>
              <a:t>FUTURE ROADMAP • STAGED BY EVIDENCE, NOT DATES</a:t>
            </a:r>
            <a:endParaRPr lang="en-US" sz="1050" dirty="0"/>
          </a:p>
        </p:txBody>
      </p:sp>
      <p:sp>
        <p:nvSpPr>
          <p:cNvPr id="31" name="Shape 25"/>
          <p:cNvSpPr/>
          <p:nvPr/>
        </p:nvSpPr>
        <p:spPr>
          <a:xfrm>
            <a:off x="502920" y="6044184"/>
            <a:ext cx="2148840" cy="246888"/>
          </a:xfrm>
          <a:prstGeom prst="roundRect">
            <a:avLst>
              <a:gd name="adj" fmla="val 44444"/>
            </a:avLst>
          </a:prstGeom>
          <a:solidFill>
            <a:srgbClr val="F0ECF8"/>
          </a:solidFill>
          <a:ln w="10160">
            <a:solidFill>
              <a:srgbClr val="F0ECF8"/>
            </a:solidFill>
            <a:prstDash val="solid"/>
          </a:ln>
        </p:spPr>
      </p:sp>
      <p:sp>
        <p:nvSpPr>
          <p:cNvPr id="32" name="Text 26"/>
          <p:cNvSpPr/>
          <p:nvPr/>
        </p:nvSpPr>
        <p:spPr>
          <a:xfrm>
            <a:off x="557784" y="6080760"/>
            <a:ext cx="2039112" cy="173736"/>
          </a:xfrm>
          <a:prstGeom prst="rect">
            <a:avLst/>
          </a:prstGeom>
          <a:noFill/>
          <a:ln/>
        </p:spPr>
        <p:txBody>
          <a:bodyPr wrap="square" lIns="0" tIns="0" rIns="0" bIns="0" rtlCol="0" anchor="ctr"/>
          <a:lstStyle/>
          <a:p>
            <a:pPr algn="ctr" indent="0" marL="0">
              <a:buNone/>
            </a:pPr>
            <a:r>
              <a:rPr lang="en-US" sz="1070" b="1" dirty="0">
                <a:solidFill>
                  <a:srgbClr val="6C5B96"/>
                </a:solidFill>
                <a:latin typeface="Arial" pitchFamily="34" charset="0"/>
                <a:ea typeface="Arial" pitchFamily="34" charset="-122"/>
                <a:cs typeface="Arial" pitchFamily="34" charset="-120"/>
              </a:rPr>
              <a:t>1 Prototype</a:t>
            </a:r>
            <a:endParaRPr lang="en-US" sz="1070" dirty="0"/>
          </a:p>
        </p:txBody>
      </p:sp>
      <p:sp>
        <p:nvSpPr>
          <p:cNvPr id="33" name="Shape 27"/>
          <p:cNvSpPr/>
          <p:nvPr/>
        </p:nvSpPr>
        <p:spPr>
          <a:xfrm>
            <a:off x="2660904" y="6172200"/>
            <a:ext cx="118872" cy="914"/>
          </a:xfrm>
          <a:prstGeom prst="line">
            <a:avLst/>
          </a:prstGeom>
          <a:noFill/>
          <a:ln w="12700">
            <a:solidFill>
              <a:srgbClr val="6C5B96"/>
            </a:solidFill>
            <a:prstDash val="solid"/>
            <a:tailEnd type="triangle"/>
          </a:ln>
        </p:spPr>
      </p:sp>
      <p:sp>
        <p:nvSpPr>
          <p:cNvPr id="34" name="Shape 28"/>
          <p:cNvSpPr/>
          <p:nvPr/>
        </p:nvSpPr>
        <p:spPr>
          <a:xfrm>
            <a:off x="2807208" y="6044184"/>
            <a:ext cx="2148840" cy="246888"/>
          </a:xfrm>
          <a:prstGeom prst="roundRect">
            <a:avLst>
              <a:gd name="adj" fmla="val 44444"/>
            </a:avLst>
          </a:prstGeom>
          <a:solidFill>
            <a:srgbClr val="F0ECF8"/>
          </a:solidFill>
          <a:ln w="10160">
            <a:solidFill>
              <a:srgbClr val="F0ECF8"/>
            </a:solidFill>
            <a:prstDash val="solid"/>
          </a:ln>
        </p:spPr>
      </p:sp>
      <p:sp>
        <p:nvSpPr>
          <p:cNvPr id="35" name="Text 29"/>
          <p:cNvSpPr/>
          <p:nvPr/>
        </p:nvSpPr>
        <p:spPr>
          <a:xfrm>
            <a:off x="2862072" y="6080760"/>
            <a:ext cx="2039112" cy="173736"/>
          </a:xfrm>
          <a:prstGeom prst="rect">
            <a:avLst/>
          </a:prstGeom>
          <a:noFill/>
          <a:ln/>
        </p:spPr>
        <p:txBody>
          <a:bodyPr wrap="square" lIns="0" tIns="0" rIns="0" bIns="0" rtlCol="0" anchor="ctr"/>
          <a:lstStyle/>
          <a:p>
            <a:pPr algn="ctr" indent="0" marL="0">
              <a:buNone/>
            </a:pPr>
            <a:r>
              <a:rPr lang="en-US" sz="1070" b="1" dirty="0">
                <a:solidFill>
                  <a:srgbClr val="6C5B96"/>
                </a:solidFill>
                <a:latin typeface="Arial" pitchFamily="34" charset="0"/>
                <a:ea typeface="Arial" pitchFamily="34" charset="-122"/>
                <a:cs typeface="Arial" pitchFamily="34" charset="-120"/>
              </a:rPr>
              <a:t>2 Controlled pilot</a:t>
            </a:r>
            <a:endParaRPr lang="en-US" sz="1070" dirty="0"/>
          </a:p>
        </p:txBody>
      </p:sp>
      <p:sp>
        <p:nvSpPr>
          <p:cNvPr id="36" name="Shape 30"/>
          <p:cNvSpPr/>
          <p:nvPr/>
        </p:nvSpPr>
        <p:spPr>
          <a:xfrm>
            <a:off x="4965192" y="6172200"/>
            <a:ext cx="118872" cy="914"/>
          </a:xfrm>
          <a:prstGeom prst="line">
            <a:avLst/>
          </a:prstGeom>
          <a:noFill/>
          <a:ln w="12700">
            <a:solidFill>
              <a:srgbClr val="6C5B96"/>
            </a:solidFill>
            <a:prstDash val="solid"/>
            <a:tailEnd type="triangle"/>
          </a:ln>
        </p:spPr>
      </p:sp>
      <p:sp>
        <p:nvSpPr>
          <p:cNvPr id="37" name="Shape 31"/>
          <p:cNvSpPr/>
          <p:nvPr/>
        </p:nvSpPr>
        <p:spPr>
          <a:xfrm>
            <a:off x="5111496" y="6044184"/>
            <a:ext cx="2148840" cy="246888"/>
          </a:xfrm>
          <a:prstGeom prst="roundRect">
            <a:avLst>
              <a:gd name="adj" fmla="val 44444"/>
            </a:avLst>
          </a:prstGeom>
          <a:solidFill>
            <a:srgbClr val="F0ECF8"/>
          </a:solidFill>
          <a:ln w="10160">
            <a:solidFill>
              <a:srgbClr val="F0ECF8"/>
            </a:solidFill>
            <a:prstDash val="solid"/>
          </a:ln>
        </p:spPr>
      </p:sp>
      <p:sp>
        <p:nvSpPr>
          <p:cNvPr id="38" name="Text 32"/>
          <p:cNvSpPr/>
          <p:nvPr/>
        </p:nvSpPr>
        <p:spPr>
          <a:xfrm>
            <a:off x="5166360" y="6080760"/>
            <a:ext cx="2039112" cy="173736"/>
          </a:xfrm>
          <a:prstGeom prst="rect">
            <a:avLst/>
          </a:prstGeom>
          <a:noFill/>
          <a:ln/>
        </p:spPr>
        <p:txBody>
          <a:bodyPr wrap="square" lIns="0" tIns="0" rIns="0" bIns="0" rtlCol="0" anchor="ctr"/>
          <a:lstStyle/>
          <a:p>
            <a:pPr algn="ctr" indent="0" marL="0">
              <a:buNone/>
            </a:pPr>
            <a:r>
              <a:rPr lang="en-US" sz="1070" b="1" dirty="0">
                <a:solidFill>
                  <a:srgbClr val="6C5B96"/>
                </a:solidFill>
                <a:latin typeface="Arial" pitchFamily="34" charset="0"/>
                <a:ea typeface="Arial" pitchFamily="34" charset="-122"/>
                <a:cs typeface="Arial" pitchFamily="34" charset="-120"/>
              </a:rPr>
              <a:t>3 Evaluate</a:t>
            </a:r>
            <a:endParaRPr lang="en-US" sz="1070" dirty="0"/>
          </a:p>
        </p:txBody>
      </p:sp>
      <p:sp>
        <p:nvSpPr>
          <p:cNvPr id="39" name="Shape 33"/>
          <p:cNvSpPr/>
          <p:nvPr/>
        </p:nvSpPr>
        <p:spPr>
          <a:xfrm>
            <a:off x="7269480" y="6172200"/>
            <a:ext cx="118872" cy="914"/>
          </a:xfrm>
          <a:prstGeom prst="line">
            <a:avLst/>
          </a:prstGeom>
          <a:noFill/>
          <a:ln w="12700">
            <a:solidFill>
              <a:srgbClr val="6C5B96"/>
            </a:solidFill>
            <a:prstDash val="solid"/>
            <a:tailEnd type="triangle"/>
          </a:ln>
        </p:spPr>
      </p:sp>
      <p:sp>
        <p:nvSpPr>
          <p:cNvPr id="40" name="Shape 34"/>
          <p:cNvSpPr/>
          <p:nvPr/>
        </p:nvSpPr>
        <p:spPr>
          <a:xfrm>
            <a:off x="7415784" y="6044184"/>
            <a:ext cx="2148840" cy="246888"/>
          </a:xfrm>
          <a:prstGeom prst="roundRect">
            <a:avLst>
              <a:gd name="adj" fmla="val 44444"/>
            </a:avLst>
          </a:prstGeom>
          <a:solidFill>
            <a:srgbClr val="F0ECF8"/>
          </a:solidFill>
          <a:ln w="10160">
            <a:solidFill>
              <a:srgbClr val="F0ECF8"/>
            </a:solidFill>
            <a:prstDash val="solid"/>
          </a:ln>
        </p:spPr>
      </p:sp>
      <p:sp>
        <p:nvSpPr>
          <p:cNvPr id="41" name="Text 35"/>
          <p:cNvSpPr/>
          <p:nvPr/>
        </p:nvSpPr>
        <p:spPr>
          <a:xfrm>
            <a:off x="7470648" y="6080760"/>
            <a:ext cx="2039112" cy="173736"/>
          </a:xfrm>
          <a:prstGeom prst="rect">
            <a:avLst/>
          </a:prstGeom>
          <a:noFill/>
          <a:ln/>
        </p:spPr>
        <p:txBody>
          <a:bodyPr wrap="square" lIns="0" tIns="0" rIns="0" bIns="0" rtlCol="0" anchor="ctr"/>
          <a:lstStyle/>
          <a:p>
            <a:pPr algn="ctr" indent="0" marL="0">
              <a:buNone/>
            </a:pPr>
            <a:r>
              <a:rPr lang="en-US" sz="1070" b="1" dirty="0">
                <a:solidFill>
                  <a:srgbClr val="6C5B96"/>
                </a:solidFill>
                <a:latin typeface="Arial" pitchFamily="34" charset="0"/>
                <a:ea typeface="Arial" pitchFamily="34" charset="-122"/>
                <a:cs typeface="Arial" pitchFamily="34" charset="-120"/>
              </a:rPr>
              <a:t>4 Improve</a:t>
            </a:r>
            <a:endParaRPr lang="en-US" sz="1070" dirty="0"/>
          </a:p>
        </p:txBody>
      </p:sp>
      <p:sp>
        <p:nvSpPr>
          <p:cNvPr id="42" name="Shape 36"/>
          <p:cNvSpPr/>
          <p:nvPr/>
        </p:nvSpPr>
        <p:spPr>
          <a:xfrm>
            <a:off x="9573768" y="6172200"/>
            <a:ext cx="118872" cy="914"/>
          </a:xfrm>
          <a:prstGeom prst="line">
            <a:avLst/>
          </a:prstGeom>
          <a:noFill/>
          <a:ln w="12700">
            <a:solidFill>
              <a:srgbClr val="6C5B96"/>
            </a:solidFill>
            <a:prstDash val="solid"/>
            <a:tailEnd type="triangle"/>
          </a:ln>
        </p:spPr>
      </p:sp>
      <p:sp>
        <p:nvSpPr>
          <p:cNvPr id="43" name="Shape 37"/>
          <p:cNvSpPr/>
          <p:nvPr/>
        </p:nvSpPr>
        <p:spPr>
          <a:xfrm>
            <a:off x="9720072" y="6044184"/>
            <a:ext cx="2148840" cy="246888"/>
          </a:xfrm>
          <a:prstGeom prst="roundRect">
            <a:avLst>
              <a:gd name="adj" fmla="val 44444"/>
            </a:avLst>
          </a:prstGeom>
          <a:solidFill>
            <a:srgbClr val="F0ECF8"/>
          </a:solidFill>
          <a:ln w="10160">
            <a:solidFill>
              <a:srgbClr val="F0ECF8"/>
            </a:solidFill>
            <a:prstDash val="solid"/>
          </a:ln>
        </p:spPr>
      </p:sp>
      <p:sp>
        <p:nvSpPr>
          <p:cNvPr id="44" name="Text 38"/>
          <p:cNvSpPr/>
          <p:nvPr/>
        </p:nvSpPr>
        <p:spPr>
          <a:xfrm>
            <a:off x="9774936" y="6080760"/>
            <a:ext cx="2039112" cy="173736"/>
          </a:xfrm>
          <a:prstGeom prst="rect">
            <a:avLst/>
          </a:prstGeom>
          <a:noFill/>
          <a:ln/>
        </p:spPr>
        <p:txBody>
          <a:bodyPr wrap="square" lIns="0" tIns="0" rIns="0" bIns="0" rtlCol="0" anchor="ctr"/>
          <a:lstStyle/>
          <a:p>
            <a:pPr algn="ctr" indent="0" marL="0">
              <a:buNone/>
            </a:pPr>
            <a:r>
              <a:rPr lang="en-US" sz="1070" b="1" dirty="0">
                <a:solidFill>
                  <a:srgbClr val="6C5B96"/>
                </a:solidFill>
                <a:latin typeface="Arial" pitchFamily="34" charset="0"/>
                <a:ea typeface="Arial" pitchFamily="34" charset="-122"/>
                <a:cs typeface="Arial" pitchFamily="34" charset="-120"/>
              </a:rPr>
              <a:t>5 Possible exchange</a:t>
            </a:r>
            <a:endParaRPr lang="en-US" sz="10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asklet/threads/a_gyv316mzegmmgd2fzd0e/work/assets/aayu-templat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219456" y="137160"/>
            <a:ext cx="10241280" cy="960120"/>
          </a:xfrm>
          <a:prstGeom prst="rect">
            <a:avLst>
              <a:gd name="adj" fmla="val 11429"/>
            </a:avLst>
          </a:prstGeom>
          <a:solidFill>
            <a:srgbClr val="FFFFFF"/>
          </a:solidFill>
          <a:ln w="10160">
            <a:solidFill>
              <a:srgbClr val="FFFFFF"/>
            </a:solidFill>
            <a:prstDash val="solid"/>
          </a:ln>
        </p:spPr>
      </p:sp>
      <p:sp>
        <p:nvSpPr>
          <p:cNvPr id="4" name="Shape 1"/>
          <p:cNvSpPr/>
          <p:nvPr/>
        </p:nvSpPr>
        <p:spPr>
          <a:xfrm>
            <a:off x="10460736" y="137160"/>
            <a:ext cx="1517904" cy="960120"/>
          </a:xfrm>
          <a:prstGeom prst="rect">
            <a:avLst>
              <a:gd name="adj" fmla="val 11429"/>
            </a:avLst>
          </a:prstGeom>
          <a:solidFill>
            <a:srgbClr val="FFFFFF"/>
          </a:solidFill>
          <a:ln w="10160">
            <a:solidFill>
              <a:srgbClr val="FFFFFF"/>
            </a:solidFill>
            <a:prstDash val="solid"/>
          </a:ln>
        </p:spPr>
      </p:sp>
      <p:pic>
        <p:nvPicPr>
          <p:cNvPr id="5" name="Image 1" descr="/tasklet/threads/a_gyv316mzegmmgd2fzd0e/work/assets/aayu-logo-transparent.png">    </p:cNvPr>
          <p:cNvPicPr>
            <a:picLocks noChangeAspect="1"/>
          </p:cNvPicPr>
          <p:nvPr/>
        </p:nvPicPr>
        <p:blipFill>
          <a:blip r:embed="rId2"/>
          <a:stretch>
            <a:fillRect/>
          </a:stretch>
        </p:blipFill>
        <p:spPr>
          <a:xfrm>
            <a:off x="10643616" y="265176"/>
            <a:ext cx="1234440" cy="495605"/>
          </a:xfrm>
          <a:prstGeom prst="rect">
            <a:avLst/>
          </a:prstGeom>
        </p:spPr>
      </p:pic>
      <p:sp>
        <p:nvSpPr>
          <p:cNvPr id="6" name="Shape 2"/>
          <p:cNvSpPr/>
          <p:nvPr/>
        </p:nvSpPr>
        <p:spPr>
          <a:xfrm>
            <a:off x="219456" y="1161288"/>
            <a:ext cx="11750040" cy="5175504"/>
          </a:xfrm>
          <a:prstGeom prst="rect">
            <a:avLst>
              <a:gd name="adj" fmla="val 2120"/>
            </a:avLst>
          </a:prstGeom>
          <a:solidFill>
            <a:srgbClr val="FFFFFF"/>
          </a:solidFill>
          <a:ln w="10160">
            <a:solidFill>
              <a:srgbClr val="FFFFFF"/>
            </a:solidFill>
            <a:prstDash val="solid"/>
          </a:ln>
        </p:spPr>
      </p:sp>
      <p:sp>
        <p:nvSpPr>
          <p:cNvPr id="7" name="Text 3"/>
          <p:cNvSpPr/>
          <p:nvPr/>
        </p:nvSpPr>
        <p:spPr>
          <a:xfrm>
            <a:off x="411480" y="219456"/>
            <a:ext cx="7955280"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AAYU 2026  /  FINAL SUMMARY</a:t>
            </a:r>
            <a:endParaRPr lang="en-US" sz="1050" dirty="0"/>
          </a:p>
        </p:txBody>
      </p:sp>
      <p:sp>
        <p:nvSpPr>
          <p:cNvPr id="8" name="Text 4"/>
          <p:cNvSpPr/>
          <p:nvPr/>
        </p:nvSpPr>
        <p:spPr>
          <a:xfrm>
            <a:off x="411480" y="502920"/>
            <a:ext cx="9875520" cy="356616"/>
          </a:xfrm>
          <a:prstGeom prst="rect">
            <a:avLst/>
          </a:prstGeom>
          <a:noFill/>
          <a:ln/>
        </p:spPr>
        <p:txBody>
          <a:bodyPr wrap="square" lIns="0" tIns="0" rIns="0" bIns="0" rtlCol="0" anchor="ctr"/>
          <a:lstStyle/>
          <a:p>
            <a:pPr indent="0" marL="0">
              <a:buNone/>
            </a:pPr>
            <a:r>
              <a:rPr lang="en-US" sz="2550" b="1" dirty="0">
                <a:solidFill>
                  <a:srgbClr val="103A59"/>
                </a:solidFill>
                <a:latin typeface="Arial" pitchFamily="34" charset="0"/>
                <a:ea typeface="Arial" pitchFamily="34" charset="-122"/>
                <a:cs typeface="Arial" pitchFamily="34" charset="-120"/>
              </a:rPr>
              <a:t>Clearer context. Connected care. Human judgment.</a:t>
            </a:r>
            <a:endParaRPr lang="en-US" sz="2550" dirty="0"/>
          </a:p>
        </p:txBody>
      </p:sp>
      <p:sp>
        <p:nvSpPr>
          <p:cNvPr id="9" name="Text 5"/>
          <p:cNvSpPr/>
          <p:nvPr/>
        </p:nvSpPr>
        <p:spPr>
          <a:xfrm>
            <a:off x="411480" y="932688"/>
            <a:ext cx="10927080" cy="219456"/>
          </a:xfrm>
          <a:prstGeom prst="rect">
            <a:avLst/>
          </a:prstGeom>
          <a:noFill/>
          <a:ln/>
        </p:spPr>
        <p:txBody>
          <a:bodyPr wrap="square" lIns="0" tIns="0" rIns="0" bIns="0" rtlCol="0" anchor="ctr"/>
          <a:lstStyle/>
          <a:p>
            <a:pPr indent="0" marL="0">
              <a:buNone/>
            </a:pPr>
            <a:r>
              <a:rPr lang="en-US" sz="1120" dirty="0">
                <a:solidFill>
                  <a:srgbClr val="5E7281"/>
                </a:solidFill>
                <a:latin typeface="Arial" pitchFamily="34" charset="0"/>
                <a:ea typeface="Arial" pitchFamily="34" charset="-122"/>
                <a:cs typeface="Arial" pitchFamily="34" charset="-120"/>
              </a:rPr>
              <a:t>Thank you • MediConnect AI / MediAI Exchange • editable official team details remain subject to confirmation.</a:t>
            </a:r>
            <a:endParaRPr lang="en-US" sz="1120" dirty="0"/>
          </a:p>
        </p:txBody>
      </p:sp>
      <p:sp>
        <p:nvSpPr>
          <p:cNvPr id="10" name="Shape 6"/>
          <p:cNvSpPr/>
          <p:nvPr/>
        </p:nvSpPr>
        <p:spPr>
          <a:xfrm>
            <a:off x="411480" y="1225296"/>
            <a:ext cx="11347704" cy="914"/>
          </a:xfrm>
          <a:prstGeom prst="line">
            <a:avLst/>
          </a:prstGeom>
          <a:noFill/>
          <a:ln w="10160">
            <a:solidFill>
              <a:srgbClr val="C5D9E3"/>
            </a:solidFill>
            <a:prstDash val="solid"/>
          </a:ln>
        </p:spPr>
      </p:sp>
      <p:sp>
        <p:nvSpPr>
          <p:cNvPr id="11" name="Shape 7"/>
          <p:cNvSpPr/>
          <p:nvPr/>
        </p:nvSpPr>
        <p:spPr>
          <a:xfrm>
            <a:off x="8247888" y="201168"/>
            <a:ext cx="2057400" cy="246888"/>
          </a:xfrm>
          <a:prstGeom prst="roundRect">
            <a:avLst>
              <a:gd name="adj" fmla="val 44444"/>
            </a:avLst>
          </a:prstGeom>
          <a:solidFill>
            <a:srgbClr val="DFF5F3"/>
          </a:solidFill>
          <a:ln w="10160">
            <a:solidFill>
              <a:srgbClr val="DFF5F3"/>
            </a:solidFill>
            <a:prstDash val="solid"/>
          </a:ln>
        </p:spPr>
      </p:sp>
      <p:sp>
        <p:nvSpPr>
          <p:cNvPr id="12" name="Text 8"/>
          <p:cNvSpPr/>
          <p:nvPr/>
        </p:nvSpPr>
        <p:spPr>
          <a:xfrm>
            <a:off x="8311896" y="224028"/>
            <a:ext cx="1929384" cy="201168"/>
          </a:xfrm>
          <a:prstGeom prst="rect">
            <a:avLst/>
          </a:prstGeom>
          <a:noFill/>
          <a:ln/>
        </p:spPr>
        <p:txBody>
          <a:bodyPr wrap="square" lIns="0" tIns="0" rIns="0" bIns="0" rtlCol="0" anchor="ctr"/>
          <a:lstStyle/>
          <a:p>
            <a:pPr indent="0" marL="0">
              <a:buNone/>
            </a:pPr>
            <a:r>
              <a:rPr lang="en-US" sz="900" b="1" dirty="0">
                <a:solidFill>
                  <a:srgbClr val="008F8B"/>
                </a:solidFill>
                <a:latin typeface="Arial" pitchFamily="34" charset="0"/>
                <a:ea typeface="Arial" pitchFamily="34" charset="-122"/>
                <a:cs typeface="Arial" pitchFamily="34" charset="-120"/>
              </a:rPr>
              <a:t>PROPOSED DESIGN</a:t>
            </a:r>
            <a:endParaRPr lang="en-US" sz="900" dirty="0"/>
          </a:p>
        </p:txBody>
      </p:sp>
      <p:sp>
        <p:nvSpPr>
          <p:cNvPr id="13" name="Text 9">
            <a:hlinkClick r:id="rId3" tooltip="Go to HOME" action="ppaction://hlinksldjump"/>
          </p:cNvPr>
          <p:cNvSpPr/>
          <p:nvPr/>
        </p:nvSpPr>
        <p:spPr>
          <a:xfrm>
            <a:off x="41148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3" action="ppaction://hlinksldjump" tooltip="Go to HOME">
                  <a:extLst>
                    <a:ext uri="{A12FA001-AC4F-418D-AE19-62706E023703}">
                      <ahyp:hlinkClr xmlns:ahyp="http://schemas.microsoft.com/office/drawing/2018/hyperlinkcolor" val="tx"/>
                    </a:ext>
                  </a:extLst>
                </a:hlinkClick>
              </a:rPr>
              <a:t>HOME</a:t>
            </a:r>
            <a:endParaRPr lang="en-US" sz="870" dirty="0"/>
          </a:p>
        </p:txBody>
      </p:sp>
      <p:sp>
        <p:nvSpPr>
          <p:cNvPr id="14" name="Text 10">
            <a:hlinkClick r:id="rId4" tooltip="Go to IDEA" action="ppaction://hlinksldjump"/>
          </p:cNvPr>
          <p:cNvSpPr/>
          <p:nvPr/>
        </p:nvSpPr>
        <p:spPr>
          <a:xfrm>
            <a:off x="149961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4" action="ppaction://hlinksldjump" tooltip="Go to IDEA">
                  <a:extLst>
                    <a:ext uri="{A12FA001-AC4F-418D-AE19-62706E023703}">
                      <ahyp:hlinkClr xmlns:ahyp="http://schemas.microsoft.com/office/drawing/2018/hyperlinkcolor" val="tx"/>
                    </a:ext>
                  </a:extLst>
                </a:hlinkClick>
              </a:rPr>
              <a:t>IDEA</a:t>
            </a:r>
            <a:endParaRPr lang="en-US" sz="870" dirty="0"/>
          </a:p>
        </p:txBody>
      </p:sp>
      <p:sp>
        <p:nvSpPr>
          <p:cNvPr id="15" name="Text 11">
            <a:hlinkClick r:id="rId5" tooltip="Go to WORKFLOW" action="ppaction://hlinksldjump"/>
          </p:cNvPr>
          <p:cNvSpPr/>
          <p:nvPr/>
        </p:nvSpPr>
        <p:spPr>
          <a:xfrm>
            <a:off x="258775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5" action="ppaction://hlinksldjump" tooltip="Go to WORKFLOW">
                  <a:extLst>
                    <a:ext uri="{A12FA001-AC4F-418D-AE19-62706E023703}">
                      <ahyp:hlinkClr xmlns:ahyp="http://schemas.microsoft.com/office/drawing/2018/hyperlinkcolor" val="tx"/>
                    </a:ext>
                  </a:extLst>
                </a:hlinkClick>
              </a:rPr>
              <a:t>WORKFLOW</a:t>
            </a:r>
            <a:endParaRPr lang="en-US" sz="870" dirty="0"/>
          </a:p>
        </p:txBody>
      </p:sp>
      <p:sp>
        <p:nvSpPr>
          <p:cNvPr id="16" name="Text 12">
            <a:hlinkClick r:id="rId6" tooltip="Go to ARCHITECTURE" action="ppaction://hlinksldjump"/>
          </p:cNvPr>
          <p:cNvSpPr/>
          <p:nvPr/>
        </p:nvSpPr>
        <p:spPr>
          <a:xfrm>
            <a:off x="3675888"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6" action="ppaction://hlinksldjump" tooltip="Go to ARCHITECTURE">
                  <a:extLst>
                    <a:ext uri="{A12FA001-AC4F-418D-AE19-62706E023703}">
                      <ahyp:hlinkClr xmlns:ahyp="http://schemas.microsoft.com/office/drawing/2018/hyperlinkcolor" val="tx"/>
                    </a:ext>
                  </a:extLst>
                </a:hlinkClick>
              </a:rPr>
              <a:t>ARCHITECTURE</a:t>
            </a:r>
            <a:endParaRPr lang="en-US" sz="870" dirty="0"/>
          </a:p>
        </p:txBody>
      </p:sp>
      <p:sp>
        <p:nvSpPr>
          <p:cNvPr id="17" name="Text 13">
            <a:hlinkClick r:id="rId7" tooltip="Go to RISKS" action="ppaction://hlinksldjump"/>
          </p:cNvPr>
          <p:cNvSpPr/>
          <p:nvPr/>
        </p:nvSpPr>
        <p:spPr>
          <a:xfrm>
            <a:off x="4764024"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7" action="ppaction://hlinksldjump" tooltip="Go to RISKS">
                  <a:extLst>
                    <a:ext uri="{A12FA001-AC4F-418D-AE19-62706E023703}">
                      <ahyp:hlinkClr xmlns:ahyp="http://schemas.microsoft.com/office/drawing/2018/hyperlinkcolor" val="tx"/>
                    </a:ext>
                  </a:extLst>
                </a:hlinkClick>
              </a:rPr>
              <a:t>RISKS</a:t>
            </a:r>
            <a:endParaRPr lang="en-US" sz="870" dirty="0"/>
          </a:p>
        </p:txBody>
      </p:sp>
      <p:sp>
        <p:nvSpPr>
          <p:cNvPr id="18" name="Text 14">
            <a:hlinkClick r:id="rId8" tooltip="Go to IMPACT" action="ppaction://hlinksldjump"/>
          </p:cNvPr>
          <p:cNvSpPr/>
          <p:nvPr/>
        </p:nvSpPr>
        <p:spPr>
          <a:xfrm>
            <a:off x="5852160"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8" action="ppaction://hlinksldjump" tooltip="Go to IMPACT">
                  <a:extLst>
                    <a:ext uri="{A12FA001-AC4F-418D-AE19-62706E023703}">
                      <ahyp:hlinkClr xmlns:ahyp="http://schemas.microsoft.com/office/drawing/2018/hyperlinkcolor" val="tx"/>
                    </a:ext>
                  </a:extLst>
                </a:hlinkClick>
              </a:rPr>
              <a:t>IMPACT</a:t>
            </a:r>
            <a:endParaRPr lang="en-US" sz="870" dirty="0"/>
          </a:p>
        </p:txBody>
      </p:sp>
      <p:sp>
        <p:nvSpPr>
          <p:cNvPr id="19" name="Text 15">
            <a:hlinkClick r:id="rId9" tooltip="Go to EVIDENCE" action="ppaction://hlinksldjump"/>
          </p:cNvPr>
          <p:cNvSpPr/>
          <p:nvPr/>
        </p:nvSpPr>
        <p:spPr>
          <a:xfrm>
            <a:off x="6940296"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9" action="ppaction://hlinksldjump" tooltip="Go to EVIDENCE">
                  <a:extLst>
                    <a:ext uri="{A12FA001-AC4F-418D-AE19-62706E023703}">
                      <ahyp:hlinkClr xmlns:ahyp="http://schemas.microsoft.com/office/drawing/2018/hyperlinkcolor" val="tx"/>
                    </a:ext>
                  </a:extLst>
                </a:hlinkClick>
              </a:rPr>
              <a:t>EVIDENCE</a:t>
            </a:r>
            <a:endParaRPr lang="en-US" sz="870" dirty="0"/>
          </a:p>
        </p:txBody>
      </p:sp>
      <p:sp>
        <p:nvSpPr>
          <p:cNvPr id="20" name="Text 16">
            <a:hlinkClick r:id="rId10" tooltip="Go to CLOSE" action="ppaction://hlinksldjump"/>
          </p:cNvPr>
          <p:cNvSpPr/>
          <p:nvPr/>
        </p:nvSpPr>
        <p:spPr>
          <a:xfrm>
            <a:off x="8028432" y="6519672"/>
            <a:ext cx="1042416" cy="164592"/>
          </a:xfrm>
          <a:prstGeom prst="rect">
            <a:avLst/>
          </a:prstGeom>
          <a:noFill/>
          <a:ln/>
        </p:spPr>
        <p:txBody>
          <a:bodyPr wrap="square" lIns="0" tIns="0" rIns="0" bIns="0" rtlCol="0" anchor="ctr"/>
          <a:lstStyle/>
          <a:p>
            <a:pPr indent="0" marL="0">
              <a:buNone/>
            </a:pPr>
            <a:r>
              <a:rPr lang="en-US" sz="870" b="1" u="sng" dirty="0">
                <a:solidFill>
                  <a:srgbClr val="087FB8"/>
                </a:solidFill>
                <a:latin typeface="Arial" pitchFamily="34" charset="0"/>
                <a:ea typeface="Arial" pitchFamily="34" charset="-122"/>
                <a:cs typeface="Arial" pitchFamily="34" charset="-120"/>
                <a:hlinkClick r:id="rId10" action="ppaction://hlinksldjump" tooltip="Go to CLOSE">
                  <a:extLst>
                    <a:ext uri="{A12FA001-AC4F-418D-AE19-62706E023703}">
                      <ahyp:hlinkClr xmlns:ahyp="http://schemas.microsoft.com/office/drawing/2018/hyperlinkcolor" val="tx"/>
                    </a:ext>
                  </a:extLst>
                </a:hlinkClick>
              </a:rPr>
              <a:t>CLOSE</a:t>
            </a:r>
            <a:endParaRPr lang="en-US" sz="870" dirty="0"/>
          </a:p>
        </p:txBody>
      </p:sp>
      <p:sp>
        <p:nvSpPr>
          <p:cNvPr id="21" name="Text 17"/>
          <p:cNvSpPr/>
          <p:nvPr/>
        </p:nvSpPr>
        <p:spPr>
          <a:xfrm>
            <a:off x="9153144" y="6510528"/>
            <a:ext cx="576072" cy="192024"/>
          </a:xfrm>
          <a:prstGeom prst="rect">
            <a:avLst/>
          </a:prstGeom>
          <a:noFill/>
          <a:ln/>
        </p:spPr>
        <p:txBody>
          <a:bodyPr wrap="square" lIns="0" tIns="0" rIns="0" bIns="0" rtlCol="0" anchor="ctr"/>
          <a:lstStyle/>
          <a:p>
            <a:pPr algn="r" indent="0" marL="0">
              <a:buNone/>
            </a:pPr>
            <a:r>
              <a:rPr lang="en-US" sz="950" b="1" dirty="0">
                <a:solidFill>
                  <a:srgbClr val="103A59"/>
                </a:solidFill>
                <a:latin typeface="Arial" pitchFamily="34" charset="0"/>
                <a:ea typeface="Arial" pitchFamily="34" charset="-122"/>
                <a:cs typeface="Arial" pitchFamily="34" charset="-120"/>
              </a:rPr>
              <a:t>12 / 12</a:t>
            </a:r>
            <a:endParaRPr lang="en-US" sz="950" dirty="0"/>
          </a:p>
        </p:txBody>
      </p:sp>
      <p:sp>
        <p:nvSpPr>
          <p:cNvPr id="22" name="Text 18"/>
          <p:cNvSpPr/>
          <p:nvPr/>
        </p:nvSpPr>
        <p:spPr>
          <a:xfrm>
            <a:off x="512064" y="1490472"/>
            <a:ext cx="6803136" cy="914400"/>
          </a:xfrm>
          <a:prstGeom prst="rect">
            <a:avLst/>
          </a:prstGeom>
          <a:noFill/>
          <a:ln/>
        </p:spPr>
        <p:txBody>
          <a:bodyPr wrap="square" lIns="0" tIns="0" rIns="0" bIns="0" rtlCol="0" anchor="ctr"/>
          <a:lstStyle/>
          <a:p>
            <a:pPr indent="0" marL="0">
              <a:buNone/>
            </a:pPr>
            <a:r>
              <a:rPr lang="en-US" sz="3000" b="1" dirty="0">
                <a:solidFill>
                  <a:srgbClr val="103A59"/>
                </a:solidFill>
                <a:latin typeface="Arial" pitchFamily="34" charset="0"/>
                <a:ea typeface="Arial" pitchFamily="34" charset="-122"/>
                <a:cs typeface="Arial" pitchFamily="34" charset="-120"/>
              </a:rPr>
              <a:t>Make the history usable.</a:t>
            </a:r>
            <a:endParaRPr lang="en-US" sz="3000" dirty="0"/>
          </a:p>
          <a:p>
            <a:pPr indent="0" marL="0">
              <a:buNone/>
            </a:pPr>
            <a:r>
              <a:rPr lang="en-US" sz="3000" b="1" dirty="0">
                <a:solidFill>
                  <a:srgbClr val="103A59"/>
                </a:solidFill>
                <a:latin typeface="Arial" pitchFamily="34" charset="0"/>
                <a:ea typeface="Arial" pitchFamily="34" charset="-122"/>
                <a:cs typeface="Arial" pitchFamily="34" charset="-120"/>
              </a:rPr>
              <a:t>Keep the clinician in charge.</a:t>
            </a:r>
            <a:endParaRPr lang="en-US" sz="3000" dirty="0"/>
          </a:p>
        </p:txBody>
      </p:sp>
      <p:sp>
        <p:nvSpPr>
          <p:cNvPr id="23" name="Text 19"/>
          <p:cNvSpPr/>
          <p:nvPr/>
        </p:nvSpPr>
        <p:spPr>
          <a:xfrm>
            <a:off x="530352" y="2779776"/>
            <a:ext cx="2176272"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THE PROBLEM</a:t>
            </a:r>
            <a:endParaRPr lang="en-US" sz="1050" dirty="0"/>
          </a:p>
        </p:txBody>
      </p:sp>
      <p:sp>
        <p:nvSpPr>
          <p:cNvPr id="24" name="Text 20"/>
          <p:cNvSpPr/>
          <p:nvPr/>
        </p:nvSpPr>
        <p:spPr>
          <a:xfrm>
            <a:off x="2752344" y="2761488"/>
            <a:ext cx="4882896" cy="384048"/>
          </a:xfrm>
          <a:prstGeom prst="rect">
            <a:avLst/>
          </a:prstGeom>
          <a:noFill/>
          <a:ln/>
        </p:spPr>
        <p:txBody>
          <a:bodyPr wrap="square" lIns="0" tIns="0" rIns="0" bIns="0" rtlCol="0" anchor="ctr"/>
          <a:lstStyle/>
          <a:p>
            <a:pPr indent="0" marL="0">
              <a:buNone/>
            </a:pPr>
            <a:r>
              <a:rPr lang="en-US" sz="1340" dirty="0">
                <a:solidFill>
                  <a:srgbClr val="233B4C"/>
                </a:solidFill>
                <a:latin typeface="Arial" pitchFamily="34" charset="0"/>
                <a:ea typeface="Arial" pitchFamily="34" charset="-122"/>
                <a:cs typeface="Arial" pitchFamily="34" charset="-120"/>
              </a:rPr>
              <a:t>Scattered documents obscure relevant patient history.</a:t>
            </a:r>
            <a:endParaRPr lang="en-US" sz="1340" dirty="0"/>
          </a:p>
        </p:txBody>
      </p:sp>
      <p:sp>
        <p:nvSpPr>
          <p:cNvPr id="25" name="Text 21"/>
          <p:cNvSpPr/>
          <p:nvPr/>
        </p:nvSpPr>
        <p:spPr>
          <a:xfrm>
            <a:off x="530352" y="3364992"/>
            <a:ext cx="2176272"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OUR PROPOSED ANSWER</a:t>
            </a:r>
            <a:endParaRPr lang="en-US" sz="1050" dirty="0"/>
          </a:p>
        </p:txBody>
      </p:sp>
      <p:sp>
        <p:nvSpPr>
          <p:cNvPr id="26" name="Text 22"/>
          <p:cNvSpPr/>
          <p:nvPr/>
        </p:nvSpPr>
        <p:spPr>
          <a:xfrm>
            <a:off x="2752344" y="3346704"/>
            <a:ext cx="4882896" cy="384048"/>
          </a:xfrm>
          <a:prstGeom prst="rect">
            <a:avLst/>
          </a:prstGeom>
          <a:noFill/>
          <a:ln/>
        </p:spPr>
        <p:txBody>
          <a:bodyPr wrap="square" lIns="0" tIns="0" rIns="0" bIns="0" rtlCol="0" anchor="ctr"/>
          <a:lstStyle/>
          <a:p>
            <a:pPr indent="0" marL="0">
              <a:buNone/>
            </a:pPr>
            <a:r>
              <a:rPr lang="en-US" sz="1340" dirty="0">
                <a:solidFill>
                  <a:srgbClr val="233B4C"/>
                </a:solidFill>
                <a:latin typeface="Arial" pitchFamily="34" charset="0"/>
                <a:ea typeface="Arial" pitchFamily="34" charset="-122"/>
                <a:cs typeface="Arial" pitchFamily="34" charset="-120"/>
              </a:rPr>
              <a:t>Upload → extract → dated history → source-linked brief.</a:t>
            </a:r>
            <a:endParaRPr lang="en-US" sz="1340" dirty="0"/>
          </a:p>
        </p:txBody>
      </p:sp>
      <p:sp>
        <p:nvSpPr>
          <p:cNvPr id="27" name="Text 23"/>
          <p:cNvSpPr/>
          <p:nvPr/>
        </p:nvSpPr>
        <p:spPr>
          <a:xfrm>
            <a:off x="530352" y="3950208"/>
            <a:ext cx="2176272" cy="210312"/>
          </a:xfrm>
          <a:prstGeom prst="rect">
            <a:avLst/>
          </a:prstGeom>
          <a:noFill/>
          <a:ln/>
        </p:spPr>
        <p:txBody>
          <a:bodyPr wrap="square" lIns="0" tIns="0" rIns="0" bIns="0" rtlCol="0" anchor="ctr"/>
          <a:lstStyle/>
          <a:p>
            <a:pPr indent="0" marL="0">
              <a:buNone/>
            </a:pPr>
            <a:r>
              <a:rPr lang="en-US" sz="1050" b="1" spc="70" kern="0" dirty="0">
                <a:solidFill>
                  <a:srgbClr val="008F8B"/>
                </a:solidFill>
                <a:latin typeface="Arial" pitchFamily="34" charset="0"/>
                <a:ea typeface="Arial" pitchFamily="34" charset="-122"/>
                <a:cs typeface="Arial" pitchFamily="34" charset="-120"/>
              </a:rPr>
              <a:t>THE DIFFERENTIATOR</a:t>
            </a:r>
            <a:endParaRPr lang="en-US" sz="1050" dirty="0"/>
          </a:p>
        </p:txBody>
      </p:sp>
      <p:sp>
        <p:nvSpPr>
          <p:cNvPr id="28" name="Text 24"/>
          <p:cNvSpPr/>
          <p:nvPr/>
        </p:nvSpPr>
        <p:spPr>
          <a:xfrm>
            <a:off x="2752344" y="3931920"/>
            <a:ext cx="4882896" cy="384048"/>
          </a:xfrm>
          <a:prstGeom prst="rect">
            <a:avLst/>
          </a:prstGeom>
          <a:noFill/>
          <a:ln/>
        </p:spPr>
        <p:txBody>
          <a:bodyPr wrap="square" lIns="0" tIns="0" rIns="0" bIns="0" rtlCol="0" anchor="ctr"/>
          <a:lstStyle/>
          <a:p>
            <a:pPr indent="0" marL="0">
              <a:buNone/>
            </a:pPr>
            <a:r>
              <a:rPr lang="en-US" sz="1340" b="1" dirty="0">
                <a:solidFill>
                  <a:srgbClr val="233B4C"/>
                </a:solidFill>
                <a:latin typeface="Arial" pitchFamily="34" charset="0"/>
                <a:ea typeface="Arial" pitchFamily="34" charset="-122"/>
                <a:cs typeface="Arial" pitchFamily="34" charset="-120"/>
              </a:rPr>
              <a:t>Evidence beside the AI; consent and clinician verification.</a:t>
            </a:r>
            <a:endParaRPr lang="en-US" sz="1340" dirty="0"/>
          </a:p>
        </p:txBody>
      </p:sp>
      <p:sp>
        <p:nvSpPr>
          <p:cNvPr id="29" name="Text 25"/>
          <p:cNvSpPr/>
          <p:nvPr/>
        </p:nvSpPr>
        <p:spPr>
          <a:xfrm>
            <a:off x="530352" y="4535424"/>
            <a:ext cx="2176272" cy="210312"/>
          </a:xfrm>
          <a:prstGeom prst="rect">
            <a:avLst/>
          </a:prstGeom>
          <a:noFill/>
          <a:ln/>
        </p:spPr>
        <p:txBody>
          <a:bodyPr wrap="square" lIns="0" tIns="0" rIns="0" bIns="0" rtlCol="0" anchor="ctr"/>
          <a:lstStyle/>
          <a:p>
            <a:pPr indent="0" marL="0">
              <a:buNone/>
            </a:pPr>
            <a:r>
              <a:rPr lang="en-US" sz="1050" b="1" spc="70" kern="0" dirty="0">
                <a:solidFill>
                  <a:srgbClr val="087FB8"/>
                </a:solidFill>
                <a:latin typeface="Arial" pitchFamily="34" charset="0"/>
                <a:ea typeface="Arial" pitchFamily="34" charset="-122"/>
                <a:cs typeface="Arial" pitchFamily="34" charset="-120"/>
              </a:rPr>
              <a:t>EXPECTED VALUE</a:t>
            </a:r>
            <a:endParaRPr lang="en-US" sz="1050" dirty="0"/>
          </a:p>
        </p:txBody>
      </p:sp>
      <p:sp>
        <p:nvSpPr>
          <p:cNvPr id="30" name="Text 26"/>
          <p:cNvSpPr/>
          <p:nvPr/>
        </p:nvSpPr>
        <p:spPr>
          <a:xfrm>
            <a:off x="2752344" y="4517136"/>
            <a:ext cx="4882896" cy="384048"/>
          </a:xfrm>
          <a:prstGeom prst="rect">
            <a:avLst/>
          </a:prstGeom>
          <a:noFill/>
          <a:ln/>
        </p:spPr>
        <p:txBody>
          <a:bodyPr wrap="square" lIns="0" tIns="0" rIns="0" bIns="0" rtlCol="0" anchor="ctr"/>
          <a:lstStyle/>
          <a:p>
            <a:pPr indent="0" marL="0">
              <a:buNone/>
            </a:pPr>
            <a:r>
              <a:rPr lang="en-US" sz="1340" dirty="0">
                <a:solidFill>
                  <a:srgbClr val="233B4C"/>
                </a:solidFill>
                <a:latin typeface="Arial" pitchFamily="34" charset="0"/>
                <a:ea typeface="Arial" pitchFamily="34" charset="-122"/>
                <a:cs typeface="Arial" pitchFamily="34" charset="-120"/>
              </a:rPr>
              <a:t>Less record-search friction, better understanding and continuity—subject to evaluation.</a:t>
            </a:r>
            <a:endParaRPr lang="en-US" sz="1340" dirty="0"/>
          </a:p>
        </p:txBody>
      </p:sp>
      <p:sp>
        <p:nvSpPr>
          <p:cNvPr id="31" name="Shape 27"/>
          <p:cNvSpPr/>
          <p:nvPr/>
        </p:nvSpPr>
        <p:spPr>
          <a:xfrm>
            <a:off x="512064" y="5495544"/>
            <a:ext cx="7196328" cy="246888"/>
          </a:xfrm>
          <a:prstGeom prst="roundRect">
            <a:avLst>
              <a:gd name="adj" fmla="val 44444"/>
            </a:avLst>
          </a:prstGeom>
          <a:solidFill>
            <a:srgbClr val="EAF4FA"/>
          </a:solidFill>
          <a:ln w="10160">
            <a:solidFill>
              <a:srgbClr val="EAF4FA"/>
            </a:solidFill>
            <a:prstDash val="solid"/>
          </a:ln>
        </p:spPr>
      </p:sp>
      <p:sp>
        <p:nvSpPr>
          <p:cNvPr id="32" name="Text 28"/>
          <p:cNvSpPr/>
          <p:nvPr/>
        </p:nvSpPr>
        <p:spPr>
          <a:xfrm>
            <a:off x="576072" y="5518404"/>
            <a:ext cx="7068312" cy="201168"/>
          </a:xfrm>
          <a:prstGeom prst="rect">
            <a:avLst/>
          </a:prstGeom>
          <a:noFill/>
          <a:ln/>
        </p:spPr>
        <p:txBody>
          <a:bodyPr wrap="square" lIns="0" tIns="0" rIns="0" bIns="0" rtlCol="0" anchor="ctr"/>
          <a:lstStyle/>
          <a:p>
            <a:pPr indent="0" marL="0">
              <a:buNone/>
            </a:pPr>
            <a:r>
              <a:rPr lang="en-US" sz="1050" b="1" dirty="0">
                <a:solidFill>
                  <a:srgbClr val="103A59"/>
                </a:solidFill>
                <a:latin typeface="Arial" pitchFamily="34" charset="0"/>
                <a:ea typeface="Arial" pitchFamily="34" charset="-122"/>
                <a:cs typeface="Arial" pitchFamily="34" charset="-120"/>
              </a:rPr>
              <a:t>[Confirm registered team: S Square]  •  [Confirm team ID: AAYU-WF9D]</a:t>
            </a:r>
            <a:endParaRPr lang="en-US" sz="1050" dirty="0"/>
          </a:p>
        </p:txBody>
      </p:sp>
      <p:sp>
        <p:nvSpPr>
          <p:cNvPr id="33" name="Shape 29"/>
          <p:cNvSpPr/>
          <p:nvPr/>
        </p:nvSpPr>
        <p:spPr>
          <a:xfrm>
            <a:off x="7955280" y="1517904"/>
            <a:ext cx="3913632" cy="4507992"/>
          </a:xfrm>
          <a:prstGeom prst="roundRect">
            <a:avLst>
              <a:gd name="adj" fmla="val 2804"/>
            </a:avLst>
          </a:prstGeom>
          <a:solidFill>
            <a:srgbClr val="EAF4FA"/>
          </a:solidFill>
          <a:ln w="10160">
            <a:solidFill>
              <a:srgbClr val="C5D9E3"/>
            </a:solidFill>
            <a:prstDash val="solid"/>
          </a:ln>
        </p:spPr>
      </p:sp>
      <p:sp>
        <p:nvSpPr>
          <p:cNvPr id="34" name="Shape 30"/>
          <p:cNvSpPr/>
          <p:nvPr/>
        </p:nvSpPr>
        <p:spPr>
          <a:xfrm>
            <a:off x="8723376" y="3408883"/>
            <a:ext cx="2688336" cy="396850"/>
          </a:xfrm>
          <a:prstGeom prst="parallelogram">
            <a:avLst/>
          </a:prstGeom>
          <a:solidFill>
            <a:srgbClr val="A9CDD8"/>
          </a:solidFill>
          <a:ln w="7620">
            <a:solidFill>
              <a:srgbClr val="A8CCD7"/>
            </a:solidFill>
            <a:prstDash val="solid"/>
          </a:ln>
        </p:spPr>
      </p:sp>
      <p:sp>
        <p:nvSpPr>
          <p:cNvPr id="35" name="Shape 31"/>
          <p:cNvSpPr/>
          <p:nvPr/>
        </p:nvSpPr>
        <p:spPr>
          <a:xfrm>
            <a:off x="8613648" y="3290011"/>
            <a:ext cx="2688336" cy="396850"/>
          </a:xfrm>
          <a:prstGeom prst="parallelogram">
            <a:avLst/>
          </a:prstGeom>
          <a:solidFill>
            <a:srgbClr val="C3E2E8"/>
          </a:solidFill>
          <a:ln w="7620">
            <a:solidFill>
              <a:srgbClr val="A8CCD7"/>
            </a:solidFill>
            <a:prstDash val="solid"/>
          </a:ln>
        </p:spPr>
      </p:sp>
      <p:sp>
        <p:nvSpPr>
          <p:cNvPr id="36" name="Shape 32"/>
          <p:cNvSpPr/>
          <p:nvPr/>
        </p:nvSpPr>
        <p:spPr>
          <a:xfrm>
            <a:off x="8503920" y="3171139"/>
            <a:ext cx="2688336" cy="396850"/>
          </a:xfrm>
          <a:prstGeom prst="parallelogram">
            <a:avLst/>
          </a:prstGeom>
          <a:solidFill>
            <a:srgbClr val="DDF2F3"/>
          </a:solidFill>
          <a:ln w="7620">
            <a:solidFill>
              <a:srgbClr val="A8CCD7"/>
            </a:solidFill>
            <a:prstDash val="solid"/>
          </a:ln>
        </p:spPr>
      </p:sp>
      <p:sp>
        <p:nvSpPr>
          <p:cNvPr id="37" name="Shape 33"/>
          <p:cNvSpPr/>
          <p:nvPr/>
        </p:nvSpPr>
        <p:spPr>
          <a:xfrm>
            <a:off x="9291218" y="1986991"/>
            <a:ext cx="1401775" cy="1344168"/>
          </a:xfrm>
          <a:prstGeom prst="cube">
            <a:avLst/>
          </a:prstGeom>
          <a:solidFill>
            <a:srgbClr val="ECF5FA"/>
          </a:solidFill>
          <a:ln w="12700">
            <a:solidFill>
              <a:srgbClr val="C5D9E3"/>
            </a:solidFill>
            <a:prstDash val="solid"/>
          </a:ln>
        </p:spPr>
      </p:sp>
      <p:sp>
        <p:nvSpPr>
          <p:cNvPr id="38" name="Shape 34"/>
          <p:cNvSpPr/>
          <p:nvPr/>
        </p:nvSpPr>
        <p:spPr>
          <a:xfrm>
            <a:off x="9483242" y="2249424"/>
            <a:ext cx="729691" cy="243230"/>
          </a:xfrm>
          <a:prstGeom prst="rect">
            <a:avLst>
              <a:gd name="adj" fmla="val 45113"/>
            </a:avLst>
          </a:prstGeom>
          <a:solidFill>
            <a:srgbClr val="103A59"/>
          </a:solidFill>
          <a:ln w="10160">
            <a:solidFill>
              <a:srgbClr val="103A59"/>
            </a:solidFill>
            <a:prstDash val="solid"/>
          </a:ln>
        </p:spPr>
      </p:sp>
      <p:sp>
        <p:nvSpPr>
          <p:cNvPr id="39" name="Text 35"/>
          <p:cNvSpPr/>
          <p:nvPr/>
        </p:nvSpPr>
        <p:spPr>
          <a:xfrm>
            <a:off x="9496044" y="2281428"/>
            <a:ext cx="704088" cy="121615"/>
          </a:xfrm>
          <a:prstGeom prst="rect">
            <a:avLst/>
          </a:prstGeom>
          <a:noFill/>
          <a:ln/>
        </p:spPr>
        <p:txBody>
          <a:bodyPr wrap="square" lIns="0" tIns="0" rIns="0" bIns="0" rtlCol="0" anchor="ctr"/>
          <a:lstStyle/>
          <a:p>
            <a:pPr algn="ctr" indent="0" marL="0">
              <a:buNone/>
            </a:pPr>
            <a:r>
              <a:rPr lang="en-US" sz="637" b="1" dirty="0">
                <a:solidFill>
                  <a:srgbClr val="FFFFFF"/>
                </a:solidFill>
                <a:latin typeface="Arial" pitchFamily="34" charset="0"/>
                <a:ea typeface="Arial" pitchFamily="34" charset="-122"/>
                <a:cs typeface="Arial" pitchFamily="34" charset="-120"/>
              </a:rPr>
              <a:t>CONNECTED CARE</a:t>
            </a:r>
            <a:endParaRPr lang="en-US" sz="637" dirty="0"/>
          </a:p>
        </p:txBody>
      </p:sp>
      <p:sp>
        <p:nvSpPr>
          <p:cNvPr id="40" name="Shape 36"/>
          <p:cNvSpPr/>
          <p:nvPr/>
        </p:nvSpPr>
        <p:spPr>
          <a:xfrm>
            <a:off x="9771278" y="2044598"/>
            <a:ext cx="204826" cy="204826"/>
          </a:xfrm>
          <a:prstGeom prst="mathPlus">
            <a:avLst/>
          </a:prstGeom>
          <a:solidFill>
            <a:srgbClr val="008F8B"/>
          </a:solidFill>
          <a:ln w="12700">
            <a:solidFill>
              <a:srgbClr val="008F8B"/>
            </a:solidFill>
            <a:prstDash val="solid"/>
          </a:ln>
        </p:spPr>
      </p:sp>
      <p:sp>
        <p:nvSpPr>
          <p:cNvPr id="41" name="Shape 37"/>
          <p:cNvSpPr/>
          <p:nvPr/>
        </p:nvSpPr>
        <p:spPr>
          <a:xfrm>
            <a:off x="9476842" y="2633472"/>
            <a:ext cx="134417" cy="134417"/>
          </a:xfrm>
          <a:prstGeom prst="rect">
            <a:avLst>
              <a:gd name="adj" fmla="val 81633"/>
            </a:avLst>
          </a:prstGeom>
          <a:solidFill>
            <a:srgbClr val="BEE3ED"/>
          </a:solidFill>
          <a:ln w="10160">
            <a:solidFill>
              <a:srgbClr val="087FB8"/>
            </a:solidFill>
            <a:prstDash val="solid"/>
          </a:ln>
        </p:spPr>
      </p:sp>
      <p:sp>
        <p:nvSpPr>
          <p:cNvPr id="42" name="Shape 38"/>
          <p:cNvSpPr/>
          <p:nvPr/>
        </p:nvSpPr>
        <p:spPr>
          <a:xfrm>
            <a:off x="9732874" y="2633472"/>
            <a:ext cx="134417" cy="134417"/>
          </a:xfrm>
          <a:prstGeom prst="rect">
            <a:avLst>
              <a:gd name="adj" fmla="val 81633"/>
            </a:avLst>
          </a:prstGeom>
          <a:solidFill>
            <a:srgbClr val="BEE3ED"/>
          </a:solidFill>
          <a:ln w="10160">
            <a:solidFill>
              <a:srgbClr val="087FB8"/>
            </a:solidFill>
            <a:prstDash val="solid"/>
          </a:ln>
        </p:spPr>
      </p:sp>
      <p:sp>
        <p:nvSpPr>
          <p:cNvPr id="43" name="Shape 39"/>
          <p:cNvSpPr/>
          <p:nvPr/>
        </p:nvSpPr>
        <p:spPr>
          <a:xfrm>
            <a:off x="9988906" y="2633472"/>
            <a:ext cx="134417" cy="134417"/>
          </a:xfrm>
          <a:prstGeom prst="rect">
            <a:avLst>
              <a:gd name="adj" fmla="val 81633"/>
            </a:avLst>
          </a:prstGeom>
          <a:solidFill>
            <a:srgbClr val="BEE3ED"/>
          </a:solidFill>
          <a:ln w="10160">
            <a:solidFill>
              <a:srgbClr val="087FB8"/>
            </a:solidFill>
            <a:prstDash val="solid"/>
          </a:ln>
        </p:spPr>
      </p:sp>
      <p:sp>
        <p:nvSpPr>
          <p:cNvPr id="44" name="Shape 40"/>
          <p:cNvSpPr/>
          <p:nvPr/>
        </p:nvSpPr>
        <p:spPr>
          <a:xfrm>
            <a:off x="9476842" y="2876702"/>
            <a:ext cx="134417" cy="134417"/>
          </a:xfrm>
          <a:prstGeom prst="rect">
            <a:avLst>
              <a:gd name="adj" fmla="val 81633"/>
            </a:avLst>
          </a:prstGeom>
          <a:solidFill>
            <a:srgbClr val="BEE3ED"/>
          </a:solidFill>
          <a:ln w="10160">
            <a:solidFill>
              <a:srgbClr val="087FB8"/>
            </a:solidFill>
            <a:prstDash val="solid"/>
          </a:ln>
        </p:spPr>
      </p:sp>
      <p:sp>
        <p:nvSpPr>
          <p:cNvPr id="45" name="Shape 41"/>
          <p:cNvSpPr/>
          <p:nvPr/>
        </p:nvSpPr>
        <p:spPr>
          <a:xfrm>
            <a:off x="9732874" y="2876702"/>
            <a:ext cx="134417" cy="134417"/>
          </a:xfrm>
          <a:prstGeom prst="rect">
            <a:avLst>
              <a:gd name="adj" fmla="val 81633"/>
            </a:avLst>
          </a:prstGeom>
          <a:solidFill>
            <a:srgbClr val="BEE3ED"/>
          </a:solidFill>
          <a:ln w="10160">
            <a:solidFill>
              <a:srgbClr val="087FB8"/>
            </a:solidFill>
            <a:prstDash val="solid"/>
          </a:ln>
        </p:spPr>
      </p:sp>
      <p:sp>
        <p:nvSpPr>
          <p:cNvPr id="46" name="Shape 42"/>
          <p:cNvSpPr/>
          <p:nvPr/>
        </p:nvSpPr>
        <p:spPr>
          <a:xfrm>
            <a:off x="9988906" y="2876702"/>
            <a:ext cx="134417" cy="134417"/>
          </a:xfrm>
          <a:prstGeom prst="rect">
            <a:avLst>
              <a:gd name="adj" fmla="val 81633"/>
            </a:avLst>
          </a:prstGeom>
          <a:solidFill>
            <a:srgbClr val="BEE3ED"/>
          </a:solidFill>
          <a:ln w="10160">
            <a:solidFill>
              <a:srgbClr val="087FB8"/>
            </a:solidFill>
            <a:prstDash val="solid"/>
          </a:ln>
        </p:spPr>
      </p:sp>
      <p:sp>
        <p:nvSpPr>
          <p:cNvPr id="47" name="Shape 43"/>
          <p:cNvSpPr/>
          <p:nvPr/>
        </p:nvSpPr>
        <p:spPr>
          <a:xfrm>
            <a:off x="9771278" y="3075127"/>
            <a:ext cx="224028" cy="249631"/>
          </a:xfrm>
          <a:prstGeom prst="rect">
            <a:avLst>
              <a:gd name="adj" fmla="val 48980"/>
            </a:avLst>
          </a:prstGeom>
          <a:solidFill>
            <a:srgbClr val="008F8B"/>
          </a:solidFill>
          <a:ln w="10160">
            <a:solidFill>
              <a:srgbClr val="008F8B"/>
            </a:solidFill>
            <a:prstDash val="solid"/>
          </a:ln>
        </p:spPr>
      </p:sp>
      <p:sp>
        <p:nvSpPr>
          <p:cNvPr id="48" name="Shape 44"/>
          <p:cNvSpPr/>
          <p:nvPr/>
        </p:nvSpPr>
        <p:spPr>
          <a:xfrm>
            <a:off x="8412663" y="1892808"/>
            <a:ext cx="145390" cy="145390"/>
          </a:xfrm>
          <a:prstGeom prst="ellipse">
            <a:avLst/>
          </a:prstGeom>
          <a:solidFill>
            <a:srgbClr val="EAF4FA"/>
          </a:solidFill>
          <a:ln w="16510">
            <a:solidFill>
              <a:srgbClr val="008F8B"/>
            </a:solidFill>
            <a:prstDash val="solid"/>
          </a:ln>
        </p:spPr>
      </p:sp>
      <p:sp>
        <p:nvSpPr>
          <p:cNvPr id="49" name="Shape 45"/>
          <p:cNvSpPr/>
          <p:nvPr/>
        </p:nvSpPr>
        <p:spPr>
          <a:xfrm>
            <a:off x="8325429" y="2062429"/>
            <a:ext cx="329550" cy="290779"/>
          </a:xfrm>
          <a:prstGeom prst="roundRect">
            <a:avLst/>
          </a:prstGeom>
          <a:solidFill>
            <a:srgbClr val="DFF5F3"/>
          </a:solidFill>
          <a:ln w="16510">
            <a:solidFill>
              <a:srgbClr val="008F8B"/>
            </a:solidFill>
            <a:prstDash val="solid"/>
          </a:ln>
        </p:spPr>
      </p:sp>
      <p:sp>
        <p:nvSpPr>
          <p:cNvPr id="50" name="Shape 46"/>
          <p:cNvSpPr/>
          <p:nvPr/>
        </p:nvSpPr>
        <p:spPr>
          <a:xfrm>
            <a:off x="11192439" y="1892808"/>
            <a:ext cx="145390" cy="145390"/>
          </a:xfrm>
          <a:prstGeom prst="ellipse">
            <a:avLst/>
          </a:prstGeom>
          <a:solidFill>
            <a:srgbClr val="EAF4FA"/>
          </a:solidFill>
          <a:ln w="16510">
            <a:solidFill>
              <a:srgbClr val="008F8B"/>
            </a:solidFill>
            <a:prstDash val="solid"/>
          </a:ln>
        </p:spPr>
      </p:sp>
      <p:sp>
        <p:nvSpPr>
          <p:cNvPr id="51" name="Shape 47"/>
          <p:cNvSpPr/>
          <p:nvPr/>
        </p:nvSpPr>
        <p:spPr>
          <a:xfrm>
            <a:off x="11105205" y="2062429"/>
            <a:ext cx="329550" cy="290779"/>
          </a:xfrm>
          <a:prstGeom prst="roundRect">
            <a:avLst/>
          </a:prstGeom>
          <a:solidFill>
            <a:srgbClr val="FFFFFF"/>
          </a:solidFill>
          <a:ln w="16510">
            <a:solidFill>
              <a:srgbClr val="008F8B"/>
            </a:solidFill>
            <a:prstDash val="solid"/>
          </a:ln>
        </p:spPr>
      </p:sp>
      <p:sp>
        <p:nvSpPr>
          <p:cNvPr id="52" name="Shape 48"/>
          <p:cNvSpPr/>
          <p:nvPr/>
        </p:nvSpPr>
        <p:spPr>
          <a:xfrm>
            <a:off x="11269980" y="2110892"/>
            <a:ext cx="914" cy="159929"/>
          </a:xfrm>
          <a:prstGeom prst="line">
            <a:avLst/>
          </a:prstGeom>
          <a:noFill/>
          <a:ln w="16510">
            <a:solidFill>
              <a:srgbClr val="008F8B"/>
            </a:solidFill>
            <a:prstDash val="solid"/>
          </a:ln>
        </p:spPr>
      </p:sp>
      <p:sp>
        <p:nvSpPr>
          <p:cNvPr id="53" name="Shape 49"/>
          <p:cNvSpPr/>
          <p:nvPr/>
        </p:nvSpPr>
        <p:spPr>
          <a:xfrm>
            <a:off x="11202132" y="2188434"/>
            <a:ext cx="135697" cy="914"/>
          </a:xfrm>
          <a:prstGeom prst="line">
            <a:avLst/>
          </a:prstGeom>
          <a:noFill/>
          <a:ln w="16510">
            <a:solidFill>
              <a:srgbClr val="008F8B"/>
            </a:solidFill>
            <a:prstDash val="solid"/>
          </a:ln>
        </p:spPr>
      </p:sp>
      <p:sp>
        <p:nvSpPr>
          <p:cNvPr id="54" name="Shape 50"/>
          <p:cNvSpPr/>
          <p:nvPr/>
        </p:nvSpPr>
        <p:spPr>
          <a:xfrm>
            <a:off x="8787384" y="2368296"/>
            <a:ext cx="493776" cy="310896"/>
          </a:xfrm>
          <a:prstGeom prst="line">
            <a:avLst/>
          </a:prstGeom>
          <a:noFill/>
          <a:ln w="15240">
            <a:solidFill>
              <a:srgbClr val="008F8B"/>
            </a:solidFill>
            <a:prstDash val="solid"/>
            <a:tailEnd type="triangle"/>
          </a:ln>
        </p:spPr>
      </p:sp>
      <p:sp>
        <p:nvSpPr>
          <p:cNvPr id="55" name="Shape 51"/>
          <p:cNvSpPr/>
          <p:nvPr/>
        </p:nvSpPr>
        <p:spPr>
          <a:xfrm flipH="1">
            <a:off x="10469880" y="2368296"/>
            <a:ext cx="539496" cy="310896"/>
          </a:xfrm>
          <a:prstGeom prst="line">
            <a:avLst/>
          </a:prstGeom>
          <a:noFill/>
          <a:ln w="15240">
            <a:solidFill>
              <a:srgbClr val="087FB8"/>
            </a:solidFill>
            <a:prstDash val="solid"/>
            <a:tailEnd type="triangle"/>
          </a:ln>
        </p:spPr>
      </p:sp>
      <p:sp>
        <p:nvSpPr>
          <p:cNvPr id="56" name="Text 52"/>
          <p:cNvSpPr/>
          <p:nvPr/>
        </p:nvSpPr>
        <p:spPr>
          <a:xfrm>
            <a:off x="8119872" y="3776472"/>
            <a:ext cx="3584448" cy="210312"/>
          </a:xfrm>
          <a:prstGeom prst="rect">
            <a:avLst/>
          </a:prstGeom>
          <a:noFill/>
          <a:ln/>
        </p:spPr>
        <p:txBody>
          <a:bodyPr wrap="square" lIns="0" tIns="0" rIns="0" bIns="0" rtlCol="0" anchor="ctr"/>
          <a:lstStyle/>
          <a:p>
            <a:pPr algn="ctr" indent="0" marL="0">
              <a:buNone/>
            </a:pPr>
            <a:r>
              <a:rPr lang="en-US" sz="1060" b="1" dirty="0">
                <a:solidFill>
                  <a:srgbClr val="087FB8"/>
                </a:solidFill>
                <a:latin typeface="Arial" pitchFamily="34" charset="0"/>
                <a:ea typeface="Arial" pitchFamily="34" charset="-122"/>
                <a:cs typeface="Arial" pitchFamily="34" charset="-120"/>
              </a:rPr>
              <a:t>SUPPLIED PROJECT REPOSITORY</a:t>
            </a:r>
            <a:endParaRPr lang="en-US" sz="1060" dirty="0"/>
          </a:p>
        </p:txBody>
      </p:sp>
      <p:pic>
        <p:nvPicPr>
          <p:cNvPr id="57" name="Image 2" descr="/tasklet/threads/a_gyv316mzegmmgd2fzd0e/work/assets/project-qr.png">
            <a:hlinkClick r:id="rId12" tooltip="https://github.com/sunil-kumawat-54/Medi-Connect-AI-----AAYU-hackathon-2026"/>
          </p:cNvPr>
          <p:cNvPicPr>
            <a:picLocks noChangeAspect="1"/>
          </p:cNvPicPr>
          <p:nvPr/>
        </p:nvPicPr>
        <p:blipFill>
          <a:blip r:embed="rId11"/>
          <a:stretch>
            <a:fillRect/>
          </a:stretch>
        </p:blipFill>
        <p:spPr>
          <a:xfrm>
            <a:off x="9070848" y="4133088"/>
            <a:ext cx="1627632" cy="1627632"/>
          </a:xfrm>
          <a:prstGeom prst="rect">
            <a:avLst/>
          </a:prstGeom>
        </p:spPr>
      </p:pic>
      <p:sp>
        <p:nvSpPr>
          <p:cNvPr id="58" name="Text 53"/>
          <p:cNvSpPr/>
          <p:nvPr/>
        </p:nvSpPr>
        <p:spPr>
          <a:xfrm>
            <a:off x="8147304" y="5779008"/>
            <a:ext cx="3538728" cy="310896"/>
          </a:xfrm>
          <a:prstGeom prst="rect">
            <a:avLst/>
          </a:prstGeom>
          <a:noFill/>
          <a:ln/>
        </p:spPr>
        <p:txBody>
          <a:bodyPr wrap="square" lIns="0" tIns="0" rIns="0" bIns="0" rtlCol="0" anchor="ctr"/>
          <a:lstStyle/>
          <a:p>
            <a:pPr algn="ctr" indent="0" marL="0">
              <a:buNone/>
            </a:pPr>
            <a:r>
              <a:rPr lang="en-US" sz="930" dirty="0">
                <a:solidFill>
                  <a:srgbClr val="5E7281"/>
                </a:solidFill>
                <a:latin typeface="Arial" pitchFamily="34" charset="0"/>
                <a:ea typeface="Arial" pitchFamily="34" charset="-122"/>
                <a:cs typeface="Arial" pitchFamily="34" charset="-120"/>
              </a:rPr>
              <a:t>Scan / click to open the supplied GitHub URL.</a:t>
            </a:r>
            <a:endParaRPr lang="en-US" sz="930" dirty="0"/>
          </a:p>
          <a:p>
            <a:pPr algn="ctr" indent="0" marL="0">
              <a:buNone/>
            </a:pPr>
            <a:r>
              <a:rPr lang="en-US" sz="930" dirty="0">
                <a:solidFill>
                  <a:srgbClr val="5E7281"/>
                </a:solidFill>
                <a:latin typeface="Arial" pitchFamily="34" charset="0"/>
                <a:ea typeface="Arial" pitchFamily="34" charset="-122"/>
                <a:cs typeface="Arial" pitchFamily="34" charset="-120"/>
              </a:rPr>
              <a:t>Repository link ≠ verified working deployment.</a:t>
            </a:r>
            <a:endParaRPr lang="en-US" sz="930" dirty="0"/>
          </a:p>
        </p:txBody>
      </p:sp>
      <p:sp>
        <p:nvSpPr>
          <p:cNvPr id="59" name="Text 54"/>
          <p:cNvSpPr/>
          <p:nvPr/>
        </p:nvSpPr>
        <p:spPr>
          <a:xfrm>
            <a:off x="530352" y="5998464"/>
            <a:ext cx="7141464" cy="219456"/>
          </a:xfrm>
          <a:prstGeom prst="rect">
            <a:avLst/>
          </a:prstGeom>
          <a:noFill/>
          <a:ln/>
        </p:spPr>
        <p:txBody>
          <a:bodyPr wrap="square" lIns="0" tIns="0" rIns="0" bIns="0" rtlCol="0" anchor="ctr"/>
          <a:lstStyle/>
          <a:p>
            <a:pPr indent="0" marL="0">
              <a:buNone/>
            </a:pPr>
            <a:r>
              <a:rPr lang="en-US" sz="1140" b="1" dirty="0">
                <a:solidFill>
                  <a:srgbClr val="008F8B"/>
                </a:solidFill>
                <a:latin typeface="Arial" pitchFamily="34" charset="0"/>
                <a:ea typeface="Arial" pitchFamily="34" charset="-122"/>
                <a:cs typeface="Arial" pitchFamily="34" charset="-120"/>
              </a:rPr>
              <a:t>AI assists clinicians. It does not independently diagnose, prescribe or decide treatment.</a:t>
            </a:r>
            <a:endParaRPr lang="en-US" sz="11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MediConnect AI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MediConnect AI — Evidence-linked records. Clinician-led care.</dc:title>
  <dc:subject>AAYU 2026 | Proposed AI-assisted medical record coordination</dc:subject>
  <dc:creator>S Square — supplied team name, confirmation required</dc:creator>
  <cp:lastModifiedBy>S Square — supplied team name, confirmation required</cp:lastModifiedBy>
  <cp:revision>1</cp:revision>
  <dcterms:created xsi:type="dcterms:W3CDTF">2026-10-12T19:05:29Z</dcterms:created>
  <dcterms:modified xsi:type="dcterms:W3CDTF">2026-10-12T19:05:29Z</dcterms:modified>
</cp:coreProperties>
</file>